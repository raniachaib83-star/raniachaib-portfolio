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17.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52.svg" ContentType="image/svg+xml"/>
  <Override PartName="/ppt/media/image55.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8288000" cy="10287000"/>
  <p:notesSz cx="6858000" cy="9144000"/>
  <p:embeddedFontLst>
    <p:embeddedFont>
      <p:font typeface="Barlow SemiCondensed Bold" panose="00000806000000000000"/>
      <p:bold r:id="rId29"/>
    </p:embeddedFont>
    <p:embeddedFont>
      <p:font typeface="Open Sans Bold" panose="020B0806030504020204"/>
      <p:bold r:id="rId30"/>
    </p:embeddedFont>
    <p:embeddedFont>
      <p:font typeface="Canva Sans Bold" panose="020B0803030501040103"/>
      <p:bold r:id="rId31"/>
    </p:embeddedFont>
    <p:embeddedFont>
      <p:font typeface="Oswald Bold" panose="00000800000000000000"/>
      <p:bold r:id="rId32"/>
    </p:embeddedFont>
    <p:embeddedFont>
      <p:font typeface="DM Sans"/>
      <p:regular r:id="rId33"/>
    </p:embeddedFont>
    <p:embeddedFont>
      <p:font typeface="Barlow Condensed" panose="00000506000000000000"/>
      <p:regular r:id="rId34"/>
    </p:embeddedFont>
    <p:embeddedFont>
      <p:font typeface="Barlow Condensed Bold" panose="00000806000000000000"/>
      <p:bold r:id="rId35"/>
    </p:embeddedFont>
    <p:embeddedFont>
      <p:font typeface="Nunito Bold"/>
      <p:bold r:id="rId36"/>
    </p:embeddedFont>
    <p:embeddedFont>
      <p:font typeface="Public Sans Bold"/>
      <p:bold r:id="rId37"/>
    </p:embeddedFont>
    <p:embeddedFont>
      <p:font typeface="Public Sans"/>
      <p:regular r:id="rId38"/>
    </p:embeddedFont>
    <p:embeddedFont>
      <p:font typeface="Calibri" panose="020F0502020204030204" charset="0"/>
      <p:regular r:id="rId39"/>
      <p:bold r:id="rId40"/>
      <p:italic r:id="rId41"/>
      <p:boldItalic r:id="rId42"/>
    </p:embeddedFont>
    <p:embeddedFont>
      <p:font typeface="Montserrat Classic Bold" panose="00000800000000000000"/>
      <p:bold r:id="rId43"/>
    </p:embeddedFont>
    <p:embeddedFont>
      <p:font typeface="Barlow SemiCondensed Semi-Bold" panose="00000706000000000000"/>
      <p:bold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font" Target="fonts/font16.fntdata"/><Relationship Id="rId43" Type="http://schemas.openxmlformats.org/officeDocument/2006/relationships/font" Target="fonts/font15.fntdata"/><Relationship Id="rId42" Type="http://schemas.openxmlformats.org/officeDocument/2006/relationships/font" Target="fonts/font14.fntdata"/><Relationship Id="rId41" Type="http://schemas.openxmlformats.org/officeDocument/2006/relationships/font" Target="fonts/font13.fntdata"/><Relationship Id="rId40" Type="http://schemas.openxmlformats.org/officeDocument/2006/relationships/font" Target="fonts/font12.fntdata"/><Relationship Id="rId4" Type="http://schemas.openxmlformats.org/officeDocument/2006/relationships/slide" Target="slides/slide2.xml"/><Relationship Id="rId39" Type="http://schemas.openxmlformats.org/officeDocument/2006/relationships/font" Target="fonts/font11.fntdata"/><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jpeg"/><Relationship Id="rId16" Type="http://schemas.openxmlformats.org/officeDocument/2006/relationships/slideLayout" Target="../slideLayouts/slideLayout7.xml"/><Relationship Id="rId15" Type="http://schemas.openxmlformats.org/officeDocument/2006/relationships/image" Target="../media/image15.jpeg"/><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12.svg"/><Relationship Id="rId11" Type="http://schemas.openxmlformats.org/officeDocument/2006/relationships/slideLayout" Target="../slideLayouts/slideLayout7.xml"/><Relationship Id="rId10" Type="http://schemas.openxmlformats.org/officeDocument/2006/relationships/image" Target="../media/image14.svg"/><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0.png"/><Relationship Id="rId3" Type="http://schemas.openxmlformats.org/officeDocument/2006/relationships/image" Target="../media/image1.png"/><Relationship Id="rId2" Type="http://schemas.openxmlformats.org/officeDocument/2006/relationships/image" Target="../media/image19.jpeg"/><Relationship Id="rId11" Type="http://schemas.openxmlformats.org/officeDocument/2006/relationships/slideLayout" Target="../slideLayouts/slideLayout7.xml"/><Relationship Id="rId10" Type="http://schemas.openxmlformats.org/officeDocument/2006/relationships/image" Target="../media/image12.svg"/><Relationship Id="rId1" Type="http://schemas.openxmlformats.org/officeDocument/2006/relationships/image" Target="../media/image18.jpeg"/></Relationships>
</file>

<file path=ppt/slides/_rels/slide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1.png"/><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4.svg"/><Relationship Id="rId2" Type="http://schemas.openxmlformats.org/officeDocument/2006/relationships/image" Target="../media/image3.png"/><Relationship Id="rId13" Type="http://schemas.openxmlformats.org/officeDocument/2006/relationships/slideLayout" Target="../slideLayouts/slideLayout7.xml"/><Relationship Id="rId12" Type="http://schemas.openxmlformats.org/officeDocument/2006/relationships/image" Target="../media/image17.svg"/><Relationship Id="rId11" Type="http://schemas.openxmlformats.org/officeDocument/2006/relationships/image" Target="../media/image16.png"/><Relationship Id="rId10" Type="http://schemas.openxmlformats.org/officeDocument/2006/relationships/image" Target="../media/image22.svg"/><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0.png"/><Relationship Id="rId3" Type="http://schemas.openxmlformats.org/officeDocument/2006/relationships/image" Target="../media/image1.png"/><Relationship Id="rId2" Type="http://schemas.openxmlformats.org/officeDocument/2006/relationships/image" Target="../media/image19.jpeg"/><Relationship Id="rId11" Type="http://schemas.openxmlformats.org/officeDocument/2006/relationships/slideLayout" Target="../slideLayouts/slideLayout7.xml"/><Relationship Id="rId10" Type="http://schemas.openxmlformats.org/officeDocument/2006/relationships/image" Target="../media/image12.svg"/><Relationship Id="rId1" Type="http://schemas.openxmlformats.org/officeDocument/2006/relationships/image" Target="../media/image18.jpeg"/></Relationships>
</file>

<file path=ppt/slides/_rels/slide6.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6" Type="http://schemas.openxmlformats.org/officeDocument/2006/relationships/slideLayout" Target="../slideLayouts/slideLayout7.xml"/><Relationship Id="rId25" Type="http://schemas.openxmlformats.org/officeDocument/2006/relationships/image" Target="../media/image37.png"/><Relationship Id="rId24" Type="http://schemas.openxmlformats.org/officeDocument/2006/relationships/image" Target="../media/image36.png"/><Relationship Id="rId23" Type="http://schemas.openxmlformats.org/officeDocument/2006/relationships/image" Target="../media/image35.png"/><Relationship Id="rId22" Type="http://schemas.openxmlformats.org/officeDocument/2006/relationships/image" Target="../media/image34.png"/><Relationship Id="rId21" Type="http://schemas.openxmlformats.org/officeDocument/2006/relationships/image" Target="../media/image33.png"/><Relationship Id="rId20" Type="http://schemas.openxmlformats.org/officeDocument/2006/relationships/image" Target="../media/image32.png"/><Relationship Id="rId2" Type="http://schemas.openxmlformats.org/officeDocument/2006/relationships/image" Target="../media/image4.svg"/><Relationship Id="rId19" Type="http://schemas.openxmlformats.org/officeDocument/2006/relationships/image" Target="../media/image31.png"/><Relationship Id="rId18" Type="http://schemas.openxmlformats.org/officeDocument/2006/relationships/image" Target="../media/image10.svg"/><Relationship Id="rId17" Type="http://schemas.openxmlformats.org/officeDocument/2006/relationships/image" Target="../media/image9.png"/><Relationship Id="rId16" Type="http://schemas.openxmlformats.org/officeDocument/2006/relationships/image" Target="../media/image14.svg"/><Relationship Id="rId15" Type="http://schemas.openxmlformats.org/officeDocument/2006/relationships/image" Target="../media/image13.png"/><Relationship Id="rId14" Type="http://schemas.openxmlformats.org/officeDocument/2006/relationships/image" Target="../media/image30.svg"/><Relationship Id="rId13" Type="http://schemas.openxmlformats.org/officeDocument/2006/relationships/image" Target="../media/image29.png"/><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image" Target="../media/image17.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png"/><Relationship Id="rId3" Type="http://schemas.openxmlformats.org/officeDocument/2006/relationships/image" Target="../media/image20.png"/><Relationship Id="rId2" Type="http://schemas.openxmlformats.org/officeDocument/2006/relationships/image" Target="../media/image30.svg"/><Relationship Id="rId14" Type="http://schemas.openxmlformats.org/officeDocument/2006/relationships/slideLayout" Target="../slideLayouts/slideLayout7.xml"/><Relationship Id="rId13" Type="http://schemas.openxmlformats.org/officeDocument/2006/relationships/image" Target="../media/image2.jpeg"/><Relationship Id="rId12" Type="http://schemas.openxmlformats.org/officeDocument/2006/relationships/image" Target="../media/image17.svg"/><Relationship Id="rId11" Type="http://schemas.openxmlformats.org/officeDocument/2006/relationships/image" Target="../media/image16.png"/><Relationship Id="rId10" Type="http://schemas.openxmlformats.org/officeDocument/2006/relationships/image" Target="../media/image10.svg"/><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38.png"/></Relationships>
</file>

<file path=ppt/slides/_rels/slide9.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20.png"/><Relationship Id="rId2" Type="http://schemas.openxmlformats.org/officeDocument/2006/relationships/image" Target="../media/image2.jpeg"/><Relationship Id="rId12" Type="http://schemas.openxmlformats.org/officeDocument/2006/relationships/slideLayout" Target="../slideLayouts/slideLayout7.xml"/><Relationship Id="rId11" Type="http://schemas.openxmlformats.org/officeDocument/2006/relationships/image" Target="../media/image17.svg"/><Relationship Id="rId10" Type="http://schemas.openxmlformats.org/officeDocument/2006/relationships/image" Target="../media/image16.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7" Type="http://schemas.openxmlformats.org/officeDocument/2006/relationships/slideLayout" Target="../slideLayouts/slideLayout7.xml"/><Relationship Id="rId16" Type="http://schemas.openxmlformats.org/officeDocument/2006/relationships/image" Target="../media/image12.svg"/><Relationship Id="rId15" Type="http://schemas.openxmlformats.org/officeDocument/2006/relationships/image" Target="../media/image11.png"/><Relationship Id="rId14" Type="http://schemas.openxmlformats.org/officeDocument/2006/relationships/image" Target="../media/image17.svg"/><Relationship Id="rId13" Type="http://schemas.openxmlformats.org/officeDocument/2006/relationships/image" Target="../media/image16.png"/><Relationship Id="rId12" Type="http://schemas.openxmlformats.org/officeDocument/2006/relationships/image" Target="../media/image14.svg"/><Relationship Id="rId11" Type="http://schemas.openxmlformats.org/officeDocument/2006/relationships/image" Target="../media/image13.png"/><Relationship Id="rId10" Type="http://schemas.openxmlformats.org/officeDocument/2006/relationships/image" Target="../media/image10.svg"/><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0.jpeg"/><Relationship Id="rId6" Type="http://schemas.openxmlformats.org/officeDocument/2006/relationships/image" Target="../media/image17.svg"/><Relationship Id="rId5" Type="http://schemas.openxmlformats.org/officeDocument/2006/relationships/image" Target="../media/image49.png"/><Relationship Id="rId4" Type="http://schemas.openxmlformats.org/officeDocument/2006/relationships/image" Target="../media/image10.svg"/><Relationship Id="rId3"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7.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3.png"/><Relationship Id="rId6" Type="http://schemas.openxmlformats.org/officeDocument/2006/relationships/image" Target="../media/image17.svg"/><Relationship Id="rId5" Type="http://schemas.openxmlformats.org/officeDocument/2006/relationships/image" Target="../media/image49.png"/><Relationship Id="rId4" Type="http://schemas.openxmlformats.org/officeDocument/2006/relationships/image" Target="../media/image10.svg"/><Relationship Id="rId3" Type="http://schemas.openxmlformats.org/officeDocument/2006/relationships/image" Target="../media/image48.png"/><Relationship Id="rId2" Type="http://schemas.openxmlformats.org/officeDocument/2006/relationships/image" Target="../media/image52.svg"/><Relationship Id="rId1" Type="http://schemas.openxmlformats.org/officeDocument/2006/relationships/image" Target="../media/image51.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6.jpeg"/><Relationship Id="rId6" Type="http://schemas.openxmlformats.org/officeDocument/2006/relationships/image" Target="../media/image17.svg"/><Relationship Id="rId5" Type="http://schemas.openxmlformats.org/officeDocument/2006/relationships/image" Target="../media/image49.png"/><Relationship Id="rId4" Type="http://schemas.openxmlformats.org/officeDocument/2006/relationships/image" Target="../media/image10.svg"/><Relationship Id="rId3" Type="http://schemas.openxmlformats.org/officeDocument/2006/relationships/image" Target="../media/image48.png"/><Relationship Id="rId2" Type="http://schemas.openxmlformats.org/officeDocument/2006/relationships/image" Target="../media/image55.svg"/><Relationship Id="rId1" Type="http://schemas.openxmlformats.org/officeDocument/2006/relationships/image" Target="../media/image54.png"/></Relationships>
</file>

<file path=ppt/slides/_rels/slide14.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59.png"/><Relationship Id="rId7" Type="http://schemas.openxmlformats.org/officeDocument/2006/relationships/image" Target="../media/image12.svg"/><Relationship Id="rId6" Type="http://schemas.openxmlformats.org/officeDocument/2006/relationships/image" Target="../media/image58.png"/><Relationship Id="rId5" Type="http://schemas.openxmlformats.org/officeDocument/2006/relationships/image" Target="../media/image6.svg"/><Relationship Id="rId4" Type="http://schemas.openxmlformats.org/officeDocument/2006/relationships/image" Target="../media/image57.png"/><Relationship Id="rId3" Type="http://schemas.openxmlformats.org/officeDocument/2006/relationships/image" Target="../media/image20.png"/><Relationship Id="rId2" Type="http://schemas.openxmlformats.org/officeDocument/2006/relationships/image" Target="../media/image2.jpeg"/><Relationship Id="rId12" Type="http://schemas.openxmlformats.org/officeDocument/2006/relationships/slideLayout" Target="../slideLayouts/slideLayout7.xml"/><Relationship Id="rId11" Type="http://schemas.openxmlformats.org/officeDocument/2006/relationships/image" Target="../media/image17.svg"/><Relationship Id="rId10" Type="http://schemas.openxmlformats.org/officeDocument/2006/relationships/image" Target="../media/image49.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image" Target="../media/image67.svg"/><Relationship Id="rId7" Type="http://schemas.openxmlformats.org/officeDocument/2006/relationships/image" Target="../media/image66.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61.svg"/><Relationship Id="rId19" Type="http://schemas.openxmlformats.org/officeDocument/2006/relationships/slideLayout" Target="../slideLayouts/slideLayout7.xml"/><Relationship Id="rId18" Type="http://schemas.openxmlformats.org/officeDocument/2006/relationships/image" Target="../media/image17.svg"/><Relationship Id="rId17" Type="http://schemas.openxmlformats.org/officeDocument/2006/relationships/image" Target="../media/image49.png"/><Relationship Id="rId16" Type="http://schemas.openxmlformats.org/officeDocument/2006/relationships/image" Target="../media/image10.svg"/><Relationship Id="rId15" Type="http://schemas.openxmlformats.org/officeDocument/2006/relationships/image" Target="../media/image48.png"/><Relationship Id="rId14" Type="http://schemas.openxmlformats.org/officeDocument/2006/relationships/image" Target="../media/image12.svg"/><Relationship Id="rId13" Type="http://schemas.openxmlformats.org/officeDocument/2006/relationships/image" Target="../media/image58.png"/><Relationship Id="rId12" Type="http://schemas.openxmlformats.org/officeDocument/2006/relationships/image" Target="../media/image71.svg"/><Relationship Id="rId11" Type="http://schemas.openxmlformats.org/officeDocument/2006/relationships/image" Target="../media/image70.png"/><Relationship Id="rId10" Type="http://schemas.openxmlformats.org/officeDocument/2006/relationships/image" Target="../media/image69.svg"/><Relationship Id="rId1" Type="http://schemas.openxmlformats.org/officeDocument/2006/relationships/image" Target="../media/image60.png"/></Relationships>
</file>

<file path=ppt/slides/_rels/slide16.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65.svg"/><Relationship Id="rId7" Type="http://schemas.openxmlformats.org/officeDocument/2006/relationships/image" Target="../media/image64.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 Id="rId3" Type="http://schemas.openxmlformats.org/officeDocument/2006/relationships/image" Target="../media/image60.png"/><Relationship Id="rId23" Type="http://schemas.openxmlformats.org/officeDocument/2006/relationships/slideLayout" Target="../slideLayouts/slideLayout7.xml"/><Relationship Id="rId22" Type="http://schemas.openxmlformats.org/officeDocument/2006/relationships/image" Target="../media/image17.svg"/><Relationship Id="rId21" Type="http://schemas.openxmlformats.org/officeDocument/2006/relationships/image" Target="../media/image49.png"/><Relationship Id="rId20" Type="http://schemas.openxmlformats.org/officeDocument/2006/relationships/image" Target="../media/image10.svg"/><Relationship Id="rId2" Type="http://schemas.openxmlformats.org/officeDocument/2006/relationships/image" Target="../media/image69.svg"/><Relationship Id="rId19" Type="http://schemas.openxmlformats.org/officeDocument/2006/relationships/image" Target="../media/image48.png"/><Relationship Id="rId18" Type="http://schemas.openxmlformats.org/officeDocument/2006/relationships/image" Target="../media/image12.svg"/><Relationship Id="rId17" Type="http://schemas.openxmlformats.org/officeDocument/2006/relationships/image" Target="../media/image58.png"/><Relationship Id="rId16" Type="http://schemas.openxmlformats.org/officeDocument/2006/relationships/image" Target="../media/image67.svg"/><Relationship Id="rId15" Type="http://schemas.openxmlformats.org/officeDocument/2006/relationships/image" Target="../media/image66.png"/><Relationship Id="rId14" Type="http://schemas.openxmlformats.org/officeDocument/2006/relationships/image" Target="../media/image44.svg"/><Relationship Id="rId13" Type="http://schemas.openxmlformats.org/officeDocument/2006/relationships/image" Target="../media/image47.png"/><Relationship Id="rId12" Type="http://schemas.openxmlformats.org/officeDocument/2006/relationships/image" Target="../media/image42.svg"/><Relationship Id="rId11" Type="http://schemas.openxmlformats.org/officeDocument/2006/relationships/image" Target="../media/image74.png"/><Relationship Id="rId10" Type="http://schemas.openxmlformats.org/officeDocument/2006/relationships/image" Target="../media/image73.svg"/><Relationship Id="rId1" Type="http://schemas.openxmlformats.org/officeDocument/2006/relationships/image" Target="../media/image68.png"/></Relationships>
</file>

<file path=ppt/slides/_rels/slide17.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14.svg"/><Relationship Id="rId7" Type="http://schemas.openxmlformats.org/officeDocument/2006/relationships/image" Target="../media/image76.png"/><Relationship Id="rId6" Type="http://schemas.openxmlformats.org/officeDocument/2006/relationships/image" Target="../media/image12.svg"/><Relationship Id="rId5" Type="http://schemas.openxmlformats.org/officeDocument/2006/relationships/image" Target="../media/image58.png"/><Relationship Id="rId4" Type="http://schemas.openxmlformats.org/officeDocument/2006/relationships/image" Target="../media/image1.png"/><Relationship Id="rId3" Type="http://schemas.openxmlformats.org/officeDocument/2006/relationships/image" Target="../media/image20.png"/><Relationship Id="rId2" Type="http://schemas.openxmlformats.org/officeDocument/2006/relationships/image" Target="../media/image30.svg"/><Relationship Id="rId14" Type="http://schemas.openxmlformats.org/officeDocument/2006/relationships/slideLayout" Target="../slideLayouts/slideLayout7.xml"/><Relationship Id="rId13" Type="http://schemas.openxmlformats.org/officeDocument/2006/relationships/image" Target="../media/image2.jpeg"/><Relationship Id="rId12" Type="http://schemas.openxmlformats.org/officeDocument/2006/relationships/image" Target="../media/image17.svg"/><Relationship Id="rId11" Type="http://schemas.openxmlformats.org/officeDocument/2006/relationships/image" Target="../media/image49.png"/><Relationship Id="rId10" Type="http://schemas.openxmlformats.org/officeDocument/2006/relationships/image" Target="../media/image10.svg"/><Relationship Id="rId1" Type="http://schemas.openxmlformats.org/officeDocument/2006/relationships/image" Target="../media/image75.png"/></Relationships>
</file>

<file path=ppt/slides/_rels/slide18.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3" Type="http://schemas.openxmlformats.org/officeDocument/2006/relationships/slideLayout" Target="../slideLayouts/slideLayout7.xml"/><Relationship Id="rId22" Type="http://schemas.openxmlformats.org/officeDocument/2006/relationships/image" Target="../media/image17.svg"/><Relationship Id="rId21" Type="http://schemas.openxmlformats.org/officeDocument/2006/relationships/image" Target="../media/image49.png"/><Relationship Id="rId20" Type="http://schemas.openxmlformats.org/officeDocument/2006/relationships/image" Target="../media/image10.svg"/><Relationship Id="rId2" Type="http://schemas.openxmlformats.org/officeDocument/2006/relationships/image" Target="../media/image78.svg"/><Relationship Id="rId19" Type="http://schemas.openxmlformats.org/officeDocument/2006/relationships/image" Target="../media/image48.png"/><Relationship Id="rId18" Type="http://schemas.openxmlformats.org/officeDocument/2006/relationships/image" Target="../media/image12.svg"/><Relationship Id="rId17" Type="http://schemas.openxmlformats.org/officeDocument/2006/relationships/image" Target="../media/image58.png"/><Relationship Id="rId16" Type="http://schemas.openxmlformats.org/officeDocument/2006/relationships/image" Target="../media/image71.svg"/><Relationship Id="rId15" Type="http://schemas.openxmlformats.org/officeDocument/2006/relationships/image" Target="../media/image70.png"/><Relationship Id="rId14" Type="http://schemas.openxmlformats.org/officeDocument/2006/relationships/image" Target="../media/image44.svg"/><Relationship Id="rId13" Type="http://schemas.openxmlformats.org/officeDocument/2006/relationships/image" Target="../media/image47.png"/><Relationship Id="rId12" Type="http://schemas.openxmlformats.org/officeDocument/2006/relationships/image" Target="../media/image46.svg"/><Relationship Id="rId11" Type="http://schemas.openxmlformats.org/officeDocument/2006/relationships/image" Target="../media/image85.png"/><Relationship Id="rId10" Type="http://schemas.openxmlformats.org/officeDocument/2006/relationships/image" Target="../media/image42.svg"/><Relationship Id="rId1" Type="http://schemas.openxmlformats.org/officeDocument/2006/relationships/image" Target="../media/image77.png"/></Relationships>
</file>

<file path=ppt/slides/_rels/slide19.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59.png"/><Relationship Id="rId7" Type="http://schemas.openxmlformats.org/officeDocument/2006/relationships/image" Target="../media/image12.svg"/><Relationship Id="rId6" Type="http://schemas.openxmlformats.org/officeDocument/2006/relationships/image" Target="../media/image58.png"/><Relationship Id="rId5" Type="http://schemas.openxmlformats.org/officeDocument/2006/relationships/image" Target="../media/image6.svg"/><Relationship Id="rId4" Type="http://schemas.openxmlformats.org/officeDocument/2006/relationships/image" Target="../media/image57.png"/><Relationship Id="rId3" Type="http://schemas.openxmlformats.org/officeDocument/2006/relationships/image" Target="../media/image20.png"/><Relationship Id="rId2" Type="http://schemas.openxmlformats.org/officeDocument/2006/relationships/image" Target="../media/image2.jpeg"/><Relationship Id="rId12" Type="http://schemas.openxmlformats.org/officeDocument/2006/relationships/slideLayout" Target="../slideLayouts/slideLayout7.xml"/><Relationship Id="rId11" Type="http://schemas.openxmlformats.org/officeDocument/2006/relationships/image" Target="../media/image17.svg"/><Relationship Id="rId10" Type="http://schemas.openxmlformats.org/officeDocument/2006/relationships/image" Target="../media/image49.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7.svg"/><Relationship Id="rId7" Type="http://schemas.openxmlformats.org/officeDocument/2006/relationships/image" Target="../media/image49.png"/><Relationship Id="rId6" Type="http://schemas.openxmlformats.org/officeDocument/2006/relationships/image" Target="../media/image12.svg"/><Relationship Id="rId5" Type="http://schemas.openxmlformats.org/officeDocument/2006/relationships/image" Target="../media/image58.png"/><Relationship Id="rId4" Type="http://schemas.openxmlformats.org/officeDocument/2006/relationships/image" Target="../media/image10.svg"/><Relationship Id="rId3" Type="http://schemas.openxmlformats.org/officeDocument/2006/relationships/image" Target="../media/image48.png"/><Relationship Id="rId2" Type="http://schemas.openxmlformats.org/officeDocument/2006/relationships/image" Target="../media/image22.svg"/><Relationship Id="rId1" Type="http://schemas.openxmlformats.org/officeDocument/2006/relationships/image" Target="../media/image86.png"/></Relationships>
</file>

<file path=ppt/slides/_rels/slide21.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10.svg"/><Relationship Id="rId7" Type="http://schemas.openxmlformats.org/officeDocument/2006/relationships/image" Target="../media/image48.png"/><Relationship Id="rId6" Type="http://schemas.openxmlformats.org/officeDocument/2006/relationships/image" Target="../media/image4.svg"/><Relationship Id="rId5" Type="http://schemas.openxmlformats.org/officeDocument/2006/relationships/image" Target="../media/image87.png"/><Relationship Id="rId4" Type="http://schemas.openxmlformats.org/officeDocument/2006/relationships/image" Target="../media/image20.png"/><Relationship Id="rId3" Type="http://schemas.openxmlformats.org/officeDocument/2006/relationships/image" Target="../media/image1.png"/><Relationship Id="rId2" Type="http://schemas.openxmlformats.org/officeDocument/2006/relationships/image" Target="../media/image19.jpeg"/><Relationship Id="rId11" Type="http://schemas.openxmlformats.org/officeDocument/2006/relationships/slideLayout" Target="../slideLayouts/slideLayout7.xml"/><Relationship Id="rId10" Type="http://schemas.openxmlformats.org/officeDocument/2006/relationships/image" Target="../media/image12.svg"/><Relationship Id="rId1" Type="http://schemas.openxmlformats.org/officeDocument/2006/relationships/image" Target="../media/image18.jpeg"/></Relationships>
</file>

<file path=ppt/slides/_rels/slide22.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76.png"/><Relationship Id="rId7" Type="http://schemas.openxmlformats.org/officeDocument/2006/relationships/image" Target="../media/image6.svg"/><Relationship Id="rId6" Type="http://schemas.openxmlformats.org/officeDocument/2006/relationships/image" Target="../media/image57.png"/><Relationship Id="rId5" Type="http://schemas.openxmlformats.org/officeDocument/2006/relationships/image" Target="../media/image17.svg"/><Relationship Id="rId4" Type="http://schemas.openxmlformats.org/officeDocument/2006/relationships/image" Target="../media/image49.png"/><Relationship Id="rId3" Type="http://schemas.openxmlformats.org/officeDocument/2006/relationships/image" Target="../media/image4.svg"/><Relationship Id="rId2" Type="http://schemas.openxmlformats.org/officeDocument/2006/relationships/image" Target="../media/image87.png"/><Relationship Id="rId16" Type="http://schemas.openxmlformats.org/officeDocument/2006/relationships/slideLayout" Target="../slideLayouts/slideLayout7.xml"/><Relationship Id="rId15" Type="http://schemas.openxmlformats.org/officeDocument/2006/relationships/image" Target="../media/image12.svg"/><Relationship Id="rId14" Type="http://schemas.openxmlformats.org/officeDocument/2006/relationships/image" Target="../media/image58.png"/><Relationship Id="rId13" Type="http://schemas.openxmlformats.org/officeDocument/2006/relationships/image" Target="../media/image10.svg"/><Relationship Id="rId12" Type="http://schemas.openxmlformats.org/officeDocument/2006/relationships/image" Target="../media/image48.png"/><Relationship Id="rId11" Type="http://schemas.openxmlformats.org/officeDocument/2006/relationships/image" Target="../media/image30.svg"/><Relationship Id="rId10" Type="http://schemas.openxmlformats.org/officeDocument/2006/relationships/image" Target="../media/image75.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89637" y="5281959"/>
            <a:ext cx="4929839" cy="4269018"/>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7220" r="-27220"/>
              </a:stretch>
            </a:blipFill>
            <a:ln cap="sq">
              <a:noFill/>
              <a:prstDash val="solid"/>
              <a:miter/>
            </a:ln>
          </p:spPr>
        </p:sp>
      </p:grpSp>
      <p:grpSp>
        <p:nvGrpSpPr>
          <p:cNvPr id="4" name="Group 4"/>
          <p:cNvGrpSpPr/>
          <p:nvPr/>
        </p:nvGrpSpPr>
        <p:grpSpPr>
          <a:xfrm rot="0">
            <a:off x="256833" y="797575"/>
            <a:ext cx="4929839" cy="4269018"/>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957" r="-1957"/>
              </a:stretch>
            </a:blipFill>
            <a:ln cap="sq">
              <a:noFill/>
              <a:prstDash val="solid"/>
              <a:miter/>
            </a:ln>
          </p:spPr>
        </p:sp>
      </p:grpSp>
      <p:sp>
        <p:nvSpPr>
          <p:cNvPr id="6" name="Freeform 6"/>
          <p:cNvSpPr/>
          <p:nvPr/>
        </p:nvSpPr>
        <p:spPr>
          <a:xfrm rot="7221679">
            <a:off x="4318783" y="9590383"/>
            <a:ext cx="2884378" cy="2496298"/>
          </a:xfrm>
          <a:custGeom>
            <a:avLst/>
            <a:gdLst/>
            <a:ahLst/>
            <a:cxnLst/>
            <a:rect l="l" t="t" r="r" b="b"/>
            <a:pathLst>
              <a:path w="2884378" h="2496298">
                <a:moveTo>
                  <a:pt x="0" y="0"/>
                </a:moveTo>
                <a:lnTo>
                  <a:pt x="2884378" y="0"/>
                </a:lnTo>
                <a:lnTo>
                  <a:pt x="2884378" y="2496298"/>
                </a:lnTo>
                <a:lnTo>
                  <a:pt x="0" y="24962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7221679">
            <a:off x="6578663" y="8292968"/>
            <a:ext cx="2884378" cy="2496298"/>
          </a:xfrm>
          <a:custGeom>
            <a:avLst/>
            <a:gdLst/>
            <a:ahLst/>
            <a:cxnLst/>
            <a:rect l="l" t="t" r="r" b="b"/>
            <a:pathLst>
              <a:path w="2884378" h="2496298">
                <a:moveTo>
                  <a:pt x="0" y="0"/>
                </a:moveTo>
                <a:lnTo>
                  <a:pt x="2884378" y="0"/>
                </a:lnTo>
                <a:lnTo>
                  <a:pt x="2884378" y="2496298"/>
                </a:lnTo>
                <a:lnTo>
                  <a:pt x="0" y="24962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rot="-3578320">
            <a:off x="4319537" y="7016573"/>
            <a:ext cx="2890352" cy="2501469"/>
          </a:xfrm>
          <a:custGeom>
            <a:avLst/>
            <a:gdLst/>
            <a:ahLst/>
            <a:cxnLst/>
            <a:rect l="l" t="t" r="r" b="b"/>
            <a:pathLst>
              <a:path w="2890352" h="2501469">
                <a:moveTo>
                  <a:pt x="0" y="0"/>
                </a:moveTo>
                <a:lnTo>
                  <a:pt x="2890352" y="0"/>
                </a:lnTo>
                <a:lnTo>
                  <a:pt x="2890352" y="2501468"/>
                </a:lnTo>
                <a:lnTo>
                  <a:pt x="0" y="25014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rot="-3578320">
            <a:off x="2055139" y="8286498"/>
            <a:ext cx="2890352" cy="2501469"/>
          </a:xfrm>
          <a:custGeom>
            <a:avLst/>
            <a:gdLst/>
            <a:ahLst/>
            <a:cxnLst/>
            <a:rect l="l" t="t" r="r" b="b"/>
            <a:pathLst>
              <a:path w="2890352" h="2501469">
                <a:moveTo>
                  <a:pt x="0" y="0"/>
                </a:moveTo>
                <a:lnTo>
                  <a:pt x="2890352" y="0"/>
                </a:lnTo>
                <a:lnTo>
                  <a:pt x="2890352" y="2501469"/>
                </a:lnTo>
                <a:lnTo>
                  <a:pt x="0" y="25014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rot="7221679">
            <a:off x="4741452" y="-42858"/>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7221679">
            <a:off x="-1573444" y="3882246"/>
            <a:ext cx="2898563" cy="2508574"/>
          </a:xfrm>
          <a:custGeom>
            <a:avLst/>
            <a:gdLst/>
            <a:ahLst/>
            <a:cxnLst/>
            <a:rect l="l" t="t" r="r" b="b"/>
            <a:pathLst>
              <a:path w="2898563" h="2508574">
                <a:moveTo>
                  <a:pt x="0" y="0"/>
                </a:moveTo>
                <a:lnTo>
                  <a:pt x="2898562" y="0"/>
                </a:lnTo>
                <a:lnTo>
                  <a:pt x="2898562"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3578320">
            <a:off x="6993536" y="-1350587"/>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nvSpPr>
        <p:spPr>
          <a:xfrm rot="-3578320">
            <a:off x="-1580206" y="1188431"/>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4" name="Freeform 14"/>
          <p:cNvSpPr/>
          <p:nvPr/>
        </p:nvSpPr>
        <p:spPr>
          <a:xfrm>
            <a:off x="8369214" y="85490"/>
            <a:ext cx="1424169" cy="1424169"/>
          </a:xfrm>
          <a:custGeom>
            <a:avLst/>
            <a:gdLst/>
            <a:ahLst/>
            <a:cxnLst/>
            <a:rect l="l" t="t" r="r" b="b"/>
            <a:pathLst>
              <a:path w="1424169" h="1424169">
                <a:moveTo>
                  <a:pt x="0" y="0"/>
                </a:moveTo>
                <a:lnTo>
                  <a:pt x="1424169" y="0"/>
                </a:lnTo>
                <a:lnTo>
                  <a:pt x="1424169" y="1424170"/>
                </a:lnTo>
                <a:lnTo>
                  <a:pt x="0" y="1424170"/>
                </a:lnTo>
                <a:lnTo>
                  <a:pt x="0" y="0"/>
                </a:lnTo>
                <a:close/>
              </a:path>
            </a:pathLst>
          </a:custGeom>
          <a:blipFill>
            <a:blip r:embed="rId15"/>
            <a:stretch>
              <a:fillRect/>
            </a:stretch>
          </a:blipFill>
        </p:spPr>
      </p:sp>
      <p:sp>
        <p:nvSpPr>
          <p:cNvPr id="15" name="TextBox 15"/>
          <p:cNvSpPr txBox="1"/>
          <p:nvPr/>
        </p:nvSpPr>
        <p:spPr>
          <a:xfrm>
            <a:off x="5119476" y="2528916"/>
            <a:ext cx="12523324" cy="4747365"/>
          </a:xfrm>
          <a:prstGeom prst="rect">
            <a:avLst/>
          </a:prstGeom>
        </p:spPr>
        <p:txBody>
          <a:bodyPr lIns="0" tIns="0" rIns="0" bIns="0" rtlCol="0" anchor="t">
            <a:spAutoFit/>
          </a:bodyPr>
          <a:lstStyle/>
          <a:p>
            <a:pPr marL="0" lvl="1" indent="0" algn="ctr">
              <a:lnSpc>
                <a:spcPts val="12175"/>
              </a:lnSpc>
            </a:pPr>
            <a:r>
              <a:rPr lang="en-US" sz="13235" b="1" spc="370">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CLOUD POUR LES BIG DATA ET LEUR ANALYSE </a:t>
            </a:r>
            <a:endParaRPr lang="en-US" sz="13235" b="1" spc="370">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sp>
        <p:nvSpPr>
          <p:cNvPr id="16" name="TextBox 16"/>
          <p:cNvSpPr txBox="1"/>
          <p:nvPr/>
        </p:nvSpPr>
        <p:spPr>
          <a:xfrm>
            <a:off x="9609376" y="490237"/>
            <a:ext cx="8223932" cy="596118"/>
          </a:xfrm>
          <a:prstGeom prst="rect">
            <a:avLst/>
          </a:prstGeom>
        </p:spPr>
        <p:txBody>
          <a:bodyPr lIns="0" tIns="0" rIns="0" bIns="0" rtlCol="0" anchor="t">
            <a:spAutoFit/>
          </a:bodyPr>
          <a:lstStyle/>
          <a:p>
            <a:pPr algn="ctr">
              <a:lnSpc>
                <a:spcPts val="4945"/>
              </a:lnSpc>
            </a:pPr>
            <a:r>
              <a:rPr lang="en-US" sz="3530" b="1">
                <a:solidFill>
                  <a:srgbClr val="000000"/>
                </a:solidFill>
                <a:latin typeface="Open Sans Bold" panose="020B0806030504020204"/>
                <a:ea typeface="Open Sans Bold" panose="020B0806030504020204"/>
                <a:cs typeface="Open Sans Bold" panose="020B0806030504020204"/>
                <a:sym typeface="Open Sans Bold" panose="020B0806030504020204"/>
              </a:rPr>
              <a:t>Université Amar Telidji - Laghouat</a:t>
            </a:r>
            <a:endParaRPr lang="en-US" sz="3530" b="1">
              <a:solidFill>
                <a:srgbClr val="000000"/>
              </a:solidFill>
              <a:latin typeface="Open Sans Bold" panose="020B0806030504020204"/>
              <a:ea typeface="Open Sans Bold" panose="020B0806030504020204"/>
              <a:cs typeface="Open Sans Bold" panose="020B0806030504020204"/>
              <a:sym typeface="Open Sans Bold" panose="020B0806030504020204"/>
            </a:endParaRPr>
          </a:p>
        </p:txBody>
      </p:sp>
      <p:sp>
        <p:nvSpPr>
          <p:cNvPr id="17" name="Freeform 17"/>
          <p:cNvSpPr/>
          <p:nvPr/>
        </p:nvSpPr>
        <p:spPr>
          <a:xfrm rot="-3578320">
            <a:off x="2509868" y="-1353677"/>
            <a:ext cx="2890352" cy="2501469"/>
          </a:xfrm>
          <a:custGeom>
            <a:avLst/>
            <a:gdLst/>
            <a:ahLst/>
            <a:cxnLst/>
            <a:rect l="l" t="t" r="r" b="b"/>
            <a:pathLst>
              <a:path w="2890352" h="2501469">
                <a:moveTo>
                  <a:pt x="0" y="0"/>
                </a:moveTo>
                <a:lnTo>
                  <a:pt x="2890352" y="0"/>
                </a:lnTo>
                <a:lnTo>
                  <a:pt x="2890352" y="2501468"/>
                </a:lnTo>
                <a:lnTo>
                  <a:pt x="0" y="25014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rot="-3578320">
            <a:off x="-1564199" y="6615788"/>
            <a:ext cx="2890352" cy="2501469"/>
          </a:xfrm>
          <a:custGeom>
            <a:avLst/>
            <a:gdLst/>
            <a:ahLst/>
            <a:cxnLst/>
            <a:rect l="l" t="t" r="r" b="b"/>
            <a:pathLst>
              <a:path w="2890352" h="2501469">
                <a:moveTo>
                  <a:pt x="0" y="0"/>
                </a:moveTo>
                <a:lnTo>
                  <a:pt x="2890353" y="0"/>
                </a:lnTo>
                <a:lnTo>
                  <a:pt x="2890353" y="2501468"/>
                </a:lnTo>
                <a:lnTo>
                  <a:pt x="0" y="25014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6627401" y="9101821"/>
            <a:ext cx="8905969" cy="475615"/>
          </a:xfrm>
          <a:prstGeom prst="rect">
            <a:avLst/>
          </a:prstGeom>
        </p:spPr>
        <p:txBody>
          <a:bodyPr lIns="0" tIns="0" rIns="0" bIns="0" rtlCol="0" anchor="t">
            <a:spAutoFit/>
          </a:bodyPr>
          <a:lstStyle/>
          <a:p>
            <a:pPr algn="ctr">
              <a:lnSpc>
                <a:spcPts val="3710"/>
              </a:lnSpc>
              <a:spcBef>
                <a:spcPct val="0"/>
              </a:spcBef>
            </a:pPr>
            <a:r>
              <a:rPr lang="en-US" sz="2650" b="1">
                <a:solidFill>
                  <a:srgbClr val="000000"/>
                </a:solidFill>
                <a:latin typeface="Canva Sans Bold" panose="020B0803030501040103"/>
                <a:ea typeface="Canva Sans Bold" panose="020B0803030501040103"/>
                <a:cs typeface="Canva Sans Bold" panose="020B0803030501040103"/>
                <a:sym typeface="Canva Sans Bold" panose="020B0803030501040103"/>
              </a:rPr>
              <a:t>             Chaib Rania            </a:t>
            </a:r>
            <a:endParaRPr lang="en-US" sz="26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20" name="Group 20"/>
          <p:cNvGrpSpPr/>
          <p:nvPr/>
        </p:nvGrpSpPr>
        <p:grpSpPr>
          <a:xfrm rot="-5400000">
            <a:off x="9541773" y="8975980"/>
            <a:ext cx="818641" cy="818641"/>
            <a:chOff x="0" y="0"/>
            <a:chExt cx="1091521" cy="1091521"/>
          </a:xfrm>
        </p:grpSpPr>
        <p:grpSp>
          <p:nvGrpSpPr>
            <p:cNvPr id="21" name="Group 21"/>
            <p:cNvGrpSpPr/>
            <p:nvPr/>
          </p:nvGrpSpPr>
          <p:grpSpPr>
            <a:xfrm rot="-5400000">
              <a:off x="0" y="0"/>
              <a:ext cx="1091521" cy="109152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3" name="TextBox 23"/>
              <p:cNvSpPr txBox="1"/>
              <p:nvPr/>
            </p:nvSpPr>
            <p:spPr>
              <a:xfrm>
                <a:off x="76200" y="57150"/>
                <a:ext cx="660400" cy="679450"/>
              </a:xfrm>
              <a:prstGeom prst="rect">
                <a:avLst/>
              </a:prstGeom>
            </p:spPr>
            <p:txBody>
              <a:bodyPr lIns="30192" tIns="30192" rIns="30192" bIns="30192" rtlCol="0" anchor="ctr"/>
              <a:lstStyle/>
              <a:p>
                <a:pPr algn="ctr">
                  <a:lnSpc>
                    <a:spcPts val="400"/>
                  </a:lnSpc>
                </a:pPr>
              </a:p>
            </p:txBody>
          </p:sp>
        </p:grpSp>
        <p:grpSp>
          <p:nvGrpSpPr>
            <p:cNvPr id="24" name="Group 24"/>
            <p:cNvGrpSpPr/>
            <p:nvPr/>
          </p:nvGrpSpPr>
          <p:grpSpPr>
            <a:xfrm rot="-5400000">
              <a:off x="121474" y="121474"/>
              <a:ext cx="848572" cy="84857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26" name="TextBox 26"/>
              <p:cNvSpPr txBox="1"/>
              <p:nvPr/>
            </p:nvSpPr>
            <p:spPr>
              <a:xfrm>
                <a:off x="76200" y="57150"/>
                <a:ext cx="660400" cy="679450"/>
              </a:xfrm>
              <a:prstGeom prst="rect">
                <a:avLst/>
              </a:prstGeom>
            </p:spPr>
            <p:txBody>
              <a:bodyPr lIns="30192" tIns="30192" rIns="30192" bIns="30192" rtlCol="0" anchor="ctr"/>
              <a:lstStyle/>
              <a:p>
                <a:pPr algn="ctr">
                  <a:lnSpc>
                    <a:spcPts val="400"/>
                  </a:lnSpc>
                </a:pPr>
              </a:p>
            </p:txBody>
          </p:sp>
        </p:grpSp>
        <p:grpSp>
          <p:nvGrpSpPr>
            <p:cNvPr id="27" name="Group 27"/>
            <p:cNvGrpSpPr/>
            <p:nvPr/>
          </p:nvGrpSpPr>
          <p:grpSpPr>
            <a:xfrm rot="-5400000">
              <a:off x="221856" y="221856"/>
              <a:ext cx="647809" cy="647809"/>
              <a:chOff x="0" y="0"/>
              <a:chExt cx="108388" cy="108388"/>
            </a:xfrm>
          </p:grpSpPr>
          <p:sp>
            <p:nvSpPr>
              <p:cNvPr id="28" name="Freeform 28"/>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898D4"/>
              </a:solidFill>
            </p:spPr>
          </p:sp>
          <p:sp>
            <p:nvSpPr>
              <p:cNvPr id="29" name="TextBox 29"/>
              <p:cNvSpPr txBox="1"/>
              <p:nvPr/>
            </p:nvSpPr>
            <p:spPr>
              <a:xfrm>
                <a:off x="10161" y="-8889"/>
                <a:ext cx="88065" cy="107115"/>
              </a:xfrm>
              <a:prstGeom prst="rect">
                <a:avLst/>
              </a:prstGeom>
            </p:spPr>
            <p:txBody>
              <a:bodyPr lIns="30192" tIns="30192" rIns="30192" bIns="30192" rtlCol="0" anchor="ctr"/>
              <a:lstStyle/>
              <a:p>
                <a:pPr algn="ctr">
                  <a:lnSpc>
                    <a:spcPts val="400"/>
                  </a:lnSpc>
                </a:p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152604" y="2765122"/>
            <a:ext cx="1400485" cy="7182867"/>
            <a:chOff x="0" y="0"/>
            <a:chExt cx="368852" cy="1891784"/>
          </a:xfrm>
        </p:grpSpPr>
        <p:sp>
          <p:nvSpPr>
            <p:cNvPr id="3" name="Freeform 3"/>
            <p:cNvSpPr/>
            <p:nvPr/>
          </p:nvSpPr>
          <p:spPr>
            <a:xfrm>
              <a:off x="0" y="0"/>
              <a:ext cx="368852" cy="1891784"/>
            </a:xfrm>
            <a:custGeom>
              <a:avLst/>
              <a:gdLst/>
              <a:ahLst/>
              <a:cxnLst/>
              <a:rect l="l" t="t" r="r" b="b"/>
              <a:pathLst>
                <a:path w="368852" h="1891784">
                  <a:moveTo>
                    <a:pt x="0" y="0"/>
                  </a:moveTo>
                  <a:lnTo>
                    <a:pt x="368852" y="0"/>
                  </a:lnTo>
                  <a:lnTo>
                    <a:pt x="368852" y="1891784"/>
                  </a:lnTo>
                  <a:lnTo>
                    <a:pt x="0" y="1891784"/>
                  </a:lnTo>
                  <a:close/>
                </a:path>
              </a:pathLst>
            </a:custGeom>
            <a:solidFill>
              <a:srgbClr val="96C1D5"/>
            </a:solidFill>
          </p:spPr>
        </p:sp>
        <p:sp>
          <p:nvSpPr>
            <p:cNvPr id="4" name="TextBox 4"/>
            <p:cNvSpPr txBox="1"/>
            <p:nvPr/>
          </p:nvSpPr>
          <p:spPr>
            <a:xfrm>
              <a:off x="0" y="-19050"/>
              <a:ext cx="368852" cy="1910834"/>
            </a:xfrm>
            <a:prstGeom prst="rect">
              <a:avLst/>
            </a:prstGeom>
          </p:spPr>
          <p:txBody>
            <a:bodyPr lIns="50800" tIns="50800" rIns="50800" bIns="50800" rtlCol="0" anchor="ctr"/>
            <a:lstStyle/>
            <a:p>
              <a:pPr algn="ctr">
                <a:lnSpc>
                  <a:spcPts val="2860"/>
                </a:lnSpc>
              </a:pPr>
            </a:p>
          </p:txBody>
        </p:sp>
      </p:grpSp>
      <p:sp>
        <p:nvSpPr>
          <p:cNvPr id="5" name="TextBox 5"/>
          <p:cNvSpPr txBox="1"/>
          <p:nvPr/>
        </p:nvSpPr>
        <p:spPr>
          <a:xfrm>
            <a:off x="1358333" y="302425"/>
            <a:ext cx="7416941" cy="1683727"/>
          </a:xfrm>
          <a:prstGeom prst="rect">
            <a:avLst/>
          </a:prstGeom>
        </p:spPr>
        <p:txBody>
          <a:bodyPr lIns="0" tIns="0" rIns="0" bIns="0" rtlCol="0" anchor="t">
            <a:spAutoFit/>
          </a:bodyPr>
          <a:lstStyle/>
          <a:p>
            <a:pPr algn="ctr">
              <a:lnSpc>
                <a:spcPts val="13775"/>
              </a:lnSpc>
            </a:pPr>
            <a:r>
              <a:rPr lang="en-US" sz="9980" b="1" spc="978">
                <a:solidFill>
                  <a:srgbClr val="231F20"/>
                </a:solidFill>
                <a:latin typeface="Oswald Bold" panose="00000800000000000000"/>
                <a:ea typeface="Oswald Bold" panose="00000800000000000000"/>
                <a:cs typeface="Oswald Bold" panose="00000800000000000000"/>
                <a:sym typeface="Oswald Bold" panose="00000800000000000000"/>
              </a:rPr>
              <a:t>SOMMAIRE</a:t>
            </a:r>
            <a:endParaRPr lang="en-US" sz="9980" b="1" spc="978">
              <a:solidFill>
                <a:srgbClr val="231F20"/>
              </a:solidFill>
              <a:latin typeface="Oswald Bold" panose="00000800000000000000"/>
              <a:ea typeface="Oswald Bold" panose="00000800000000000000"/>
              <a:cs typeface="Oswald Bold" panose="00000800000000000000"/>
              <a:sym typeface="Oswald Bold" panose="00000800000000000000"/>
            </a:endParaRPr>
          </a:p>
        </p:txBody>
      </p:sp>
      <p:sp>
        <p:nvSpPr>
          <p:cNvPr id="6" name="TextBox 6"/>
          <p:cNvSpPr txBox="1"/>
          <p:nvPr/>
        </p:nvSpPr>
        <p:spPr>
          <a:xfrm>
            <a:off x="3364636" y="2976684"/>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01</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7" name="TextBox 7"/>
          <p:cNvSpPr txBox="1"/>
          <p:nvPr/>
        </p:nvSpPr>
        <p:spPr>
          <a:xfrm>
            <a:off x="3384237" y="3927694"/>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02</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8" name="TextBox 8"/>
          <p:cNvSpPr txBox="1"/>
          <p:nvPr/>
        </p:nvSpPr>
        <p:spPr>
          <a:xfrm>
            <a:off x="3384237" y="5042794"/>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03</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9" name="TextBox 9"/>
          <p:cNvSpPr txBox="1"/>
          <p:nvPr/>
        </p:nvSpPr>
        <p:spPr>
          <a:xfrm>
            <a:off x="3384237" y="6224086"/>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04</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10" name="TextBox 10"/>
          <p:cNvSpPr txBox="1"/>
          <p:nvPr/>
        </p:nvSpPr>
        <p:spPr>
          <a:xfrm>
            <a:off x="3364636" y="7309661"/>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05</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11" name="TextBox 11"/>
          <p:cNvSpPr txBox="1"/>
          <p:nvPr/>
        </p:nvSpPr>
        <p:spPr>
          <a:xfrm>
            <a:off x="3364636" y="8242213"/>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06</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12" name="TextBox 12"/>
          <p:cNvSpPr txBox="1"/>
          <p:nvPr/>
        </p:nvSpPr>
        <p:spPr>
          <a:xfrm>
            <a:off x="3364636" y="9247110"/>
            <a:ext cx="937219" cy="657225"/>
          </a:xfrm>
          <a:prstGeom prst="rect">
            <a:avLst/>
          </a:prstGeom>
        </p:spPr>
        <p:txBody>
          <a:bodyPr lIns="0" tIns="0" rIns="0" bIns="0" rtlCol="0" anchor="t">
            <a:spAutoFit/>
          </a:bodyPr>
          <a:lstStyle/>
          <a:p>
            <a:pPr algn="ctr">
              <a:lnSpc>
                <a:spcPts val="5125"/>
              </a:lnSpc>
            </a:pPr>
            <a:r>
              <a:rPr lang="en-US" sz="4270" b="1" i="1">
                <a:solidFill>
                  <a:srgbClr val="363636"/>
                </a:solidFill>
                <a:latin typeface="Oswald Bold" panose="00000800000000000000"/>
                <a:ea typeface="Oswald Bold" panose="00000800000000000000"/>
                <a:cs typeface="Oswald Bold" panose="00000800000000000000"/>
                <a:sym typeface="Oswald Bold" panose="00000800000000000000"/>
              </a:rPr>
              <a:t>07</a:t>
            </a:r>
            <a:endParaRPr lang="en-US" sz="4270" b="1" i="1">
              <a:solidFill>
                <a:srgbClr val="363636"/>
              </a:solidFill>
              <a:latin typeface="Oswald Bold" panose="00000800000000000000"/>
              <a:ea typeface="Oswald Bold" panose="00000800000000000000"/>
              <a:cs typeface="Oswald Bold" panose="00000800000000000000"/>
              <a:sym typeface="Oswald Bold" panose="00000800000000000000"/>
            </a:endParaRPr>
          </a:p>
        </p:txBody>
      </p:sp>
      <p:sp>
        <p:nvSpPr>
          <p:cNvPr id="13" name="TextBox 13"/>
          <p:cNvSpPr txBox="1"/>
          <p:nvPr/>
        </p:nvSpPr>
        <p:spPr>
          <a:xfrm>
            <a:off x="4854907" y="3074209"/>
            <a:ext cx="8578186" cy="661280"/>
          </a:xfrm>
          <a:prstGeom prst="rect">
            <a:avLst/>
          </a:prstGeom>
        </p:spPr>
        <p:txBody>
          <a:bodyPr lIns="0" tIns="0" rIns="0" bIns="0" rtlCol="0" anchor="t">
            <a:spAutoFit/>
          </a:bodyPr>
          <a:lstStyle/>
          <a:p>
            <a:pPr algn="ctr">
              <a:lnSpc>
                <a:spcPts val="2630"/>
              </a:lnSpc>
            </a:pPr>
            <a:r>
              <a:rPr lang="en-US" sz="1905" spc="186">
                <a:solidFill>
                  <a:srgbClr val="231F20"/>
                </a:solidFill>
                <a:latin typeface="DM Sans"/>
                <a:ea typeface="DM Sans"/>
                <a:cs typeface="DM Sans"/>
                <a:sym typeface="DM Sans"/>
              </a:rPr>
              <a:t> QUE SONT LE BIG DATA ET LE CLOUD COMPUTING</a:t>
            </a:r>
            <a:endParaRPr lang="en-US" sz="1905" spc="186">
              <a:solidFill>
                <a:srgbClr val="231F20"/>
              </a:solidFill>
              <a:latin typeface="DM Sans"/>
              <a:ea typeface="DM Sans"/>
              <a:cs typeface="DM Sans"/>
              <a:sym typeface="DM Sans"/>
            </a:endParaRPr>
          </a:p>
          <a:p>
            <a:pPr algn="ctr">
              <a:lnSpc>
                <a:spcPts val="2630"/>
              </a:lnSpc>
            </a:pPr>
            <a:r>
              <a:rPr lang="en-US" sz="1905" spc="186">
                <a:solidFill>
                  <a:srgbClr val="231F20"/>
                </a:solidFill>
                <a:latin typeface="DM Sans"/>
                <a:ea typeface="DM Sans"/>
                <a:cs typeface="DM Sans"/>
                <a:sym typeface="DM Sans"/>
              </a:rPr>
              <a:t> ET POURQUOI SONT-ILS IMPORTANTS ?</a:t>
            </a:r>
            <a:endParaRPr lang="en-US" sz="1905" spc="186">
              <a:solidFill>
                <a:srgbClr val="231F20"/>
              </a:solidFill>
              <a:latin typeface="DM Sans"/>
              <a:ea typeface="DM Sans"/>
              <a:cs typeface="DM Sans"/>
              <a:sym typeface="DM Sans"/>
            </a:endParaRPr>
          </a:p>
        </p:txBody>
      </p:sp>
      <p:sp>
        <p:nvSpPr>
          <p:cNvPr id="14" name="TextBox 14"/>
          <p:cNvSpPr txBox="1"/>
          <p:nvPr/>
        </p:nvSpPr>
        <p:spPr>
          <a:xfrm>
            <a:off x="4854907" y="4024991"/>
            <a:ext cx="8578186" cy="642318"/>
          </a:xfrm>
          <a:prstGeom prst="rect">
            <a:avLst/>
          </a:prstGeom>
        </p:spPr>
        <p:txBody>
          <a:bodyPr lIns="0" tIns="0" rIns="0" bIns="0" rtlCol="0" anchor="t">
            <a:spAutoFit/>
          </a:bodyPr>
          <a:lstStyle/>
          <a:p>
            <a:pPr algn="ctr">
              <a:lnSpc>
                <a:spcPts val="2625"/>
              </a:lnSpc>
            </a:pPr>
            <a:r>
              <a:rPr lang="en-US" sz="1900" spc="186">
                <a:solidFill>
                  <a:srgbClr val="231F20"/>
                </a:solidFill>
                <a:latin typeface="DM Sans"/>
                <a:ea typeface="DM Sans"/>
                <a:cs typeface="DM Sans"/>
                <a:sym typeface="DM Sans"/>
              </a:rPr>
              <a:t>DÉFIS ET OPPORTUNITÉS DE L'ANALYSE DU BIG DATA DANS LE CLOUD</a:t>
            </a:r>
            <a:endParaRPr lang="en-US" sz="1900" spc="186">
              <a:solidFill>
                <a:srgbClr val="231F20"/>
              </a:solidFill>
              <a:latin typeface="DM Sans"/>
              <a:ea typeface="DM Sans"/>
              <a:cs typeface="DM Sans"/>
              <a:sym typeface="DM Sans"/>
            </a:endParaRPr>
          </a:p>
        </p:txBody>
      </p:sp>
      <p:sp>
        <p:nvSpPr>
          <p:cNvPr id="15" name="TextBox 15"/>
          <p:cNvSpPr txBox="1"/>
          <p:nvPr/>
        </p:nvSpPr>
        <p:spPr>
          <a:xfrm>
            <a:off x="4854907" y="4958710"/>
            <a:ext cx="8578186" cy="661103"/>
          </a:xfrm>
          <a:prstGeom prst="rect">
            <a:avLst/>
          </a:prstGeom>
        </p:spPr>
        <p:txBody>
          <a:bodyPr lIns="0" tIns="0" rIns="0" bIns="0" rtlCol="0" anchor="t">
            <a:spAutoFit/>
          </a:bodyPr>
          <a:lstStyle/>
          <a:p>
            <a:pPr marL="0" lvl="0" indent="0" algn="ctr">
              <a:lnSpc>
                <a:spcPts val="2640"/>
              </a:lnSpc>
              <a:spcBef>
                <a:spcPct val="0"/>
              </a:spcBef>
            </a:pPr>
            <a:r>
              <a:rPr lang="en-US" sz="1915" spc="187">
                <a:solidFill>
                  <a:srgbClr val="231F20"/>
                </a:solidFill>
                <a:latin typeface="DM Sans"/>
                <a:ea typeface="DM Sans"/>
                <a:cs typeface="DM Sans"/>
                <a:sym typeface="DM Sans"/>
              </a:rPr>
              <a:t>TECHNOLOGIES ACTUELLES ET ÉMERGENTES POUR LE BIG DATA ET LE CLOUD COMPUTING</a:t>
            </a:r>
            <a:endParaRPr lang="en-US" sz="1915" spc="187">
              <a:solidFill>
                <a:srgbClr val="231F20"/>
              </a:solidFill>
              <a:latin typeface="DM Sans"/>
              <a:ea typeface="DM Sans"/>
              <a:cs typeface="DM Sans"/>
              <a:sym typeface="DM Sans"/>
            </a:endParaRPr>
          </a:p>
        </p:txBody>
      </p:sp>
      <p:sp>
        <p:nvSpPr>
          <p:cNvPr id="16" name="TextBox 16"/>
          <p:cNvSpPr txBox="1"/>
          <p:nvPr/>
        </p:nvSpPr>
        <p:spPr>
          <a:xfrm>
            <a:off x="4854907" y="6195511"/>
            <a:ext cx="8578186" cy="661150"/>
          </a:xfrm>
          <a:prstGeom prst="rect">
            <a:avLst/>
          </a:prstGeom>
        </p:spPr>
        <p:txBody>
          <a:bodyPr lIns="0" tIns="0" rIns="0" bIns="0" rtlCol="0" anchor="t">
            <a:spAutoFit/>
          </a:bodyPr>
          <a:lstStyle/>
          <a:p>
            <a:pPr marL="0" lvl="0" indent="0" algn="ctr">
              <a:lnSpc>
                <a:spcPts val="2640"/>
              </a:lnSpc>
              <a:spcBef>
                <a:spcPct val="0"/>
              </a:spcBef>
            </a:pPr>
            <a:r>
              <a:rPr lang="en-US" sz="1910" spc="187">
                <a:solidFill>
                  <a:srgbClr val="231F20"/>
                </a:solidFill>
                <a:latin typeface="DM Sans"/>
                <a:ea typeface="DM Sans"/>
                <a:cs typeface="DM Sans"/>
                <a:sym typeface="DM Sans"/>
              </a:rPr>
              <a:t>BONNES PRATIQUES ET EXEMPLES D'APPLICATIONS BIG DATA ET CLOUD COMPUTING</a:t>
            </a:r>
            <a:endParaRPr lang="en-US" sz="1910" spc="187">
              <a:solidFill>
                <a:srgbClr val="231F20"/>
              </a:solidFill>
              <a:latin typeface="DM Sans"/>
              <a:ea typeface="DM Sans"/>
              <a:cs typeface="DM Sans"/>
              <a:sym typeface="DM Sans"/>
            </a:endParaRPr>
          </a:p>
        </p:txBody>
      </p:sp>
      <p:sp>
        <p:nvSpPr>
          <p:cNvPr id="17" name="TextBox 17"/>
          <p:cNvSpPr txBox="1"/>
          <p:nvPr/>
        </p:nvSpPr>
        <p:spPr>
          <a:xfrm>
            <a:off x="4854907" y="7234012"/>
            <a:ext cx="9159505" cy="661307"/>
          </a:xfrm>
          <a:prstGeom prst="rect">
            <a:avLst/>
          </a:prstGeom>
        </p:spPr>
        <p:txBody>
          <a:bodyPr lIns="0" tIns="0" rIns="0" bIns="0" rtlCol="0" anchor="t">
            <a:spAutoFit/>
          </a:bodyPr>
          <a:lstStyle/>
          <a:p>
            <a:pPr marL="0" lvl="0" indent="0" algn="ctr">
              <a:lnSpc>
                <a:spcPts val="2630"/>
              </a:lnSpc>
              <a:spcBef>
                <a:spcPct val="0"/>
              </a:spcBef>
            </a:pPr>
            <a:r>
              <a:rPr lang="en-US" sz="1905" spc="186">
                <a:solidFill>
                  <a:srgbClr val="231F20"/>
                </a:solidFill>
                <a:latin typeface="DM Sans"/>
                <a:ea typeface="DM Sans"/>
                <a:cs typeface="DM Sans"/>
                <a:sym typeface="DM Sans"/>
              </a:rPr>
              <a:t> AVANTAGES ET RISQUES DU BIG DATA ET DU CLOUD COMPUTING POUR LES ENTREPRISES ET LA SOCIÉTÉ</a:t>
            </a:r>
            <a:endParaRPr lang="en-US" sz="1905" spc="186">
              <a:solidFill>
                <a:srgbClr val="231F20"/>
              </a:solidFill>
              <a:latin typeface="DM Sans"/>
              <a:ea typeface="DM Sans"/>
              <a:cs typeface="DM Sans"/>
              <a:sym typeface="DM Sans"/>
            </a:endParaRPr>
          </a:p>
        </p:txBody>
      </p:sp>
      <p:sp>
        <p:nvSpPr>
          <p:cNvPr id="18" name="TextBox 18"/>
          <p:cNvSpPr txBox="1"/>
          <p:nvPr/>
        </p:nvSpPr>
        <p:spPr>
          <a:xfrm>
            <a:off x="4854907" y="8288785"/>
            <a:ext cx="9302568" cy="678925"/>
          </a:xfrm>
          <a:prstGeom prst="rect">
            <a:avLst/>
          </a:prstGeom>
        </p:spPr>
        <p:txBody>
          <a:bodyPr lIns="0" tIns="0" rIns="0" bIns="0" rtlCol="0" anchor="t">
            <a:spAutoFit/>
          </a:bodyPr>
          <a:lstStyle/>
          <a:p>
            <a:pPr marL="0" lvl="0" indent="0" algn="ctr">
              <a:lnSpc>
                <a:spcPts val="2715"/>
              </a:lnSpc>
              <a:spcBef>
                <a:spcPct val="0"/>
              </a:spcBef>
            </a:pPr>
            <a:r>
              <a:rPr lang="en-US" sz="1965" spc="192">
                <a:solidFill>
                  <a:srgbClr val="231F20"/>
                </a:solidFill>
                <a:latin typeface="DM Sans"/>
                <a:ea typeface="DM Sans"/>
                <a:cs typeface="DM Sans"/>
                <a:sym typeface="DM Sans"/>
              </a:rPr>
              <a:t>TENDANCES ET ORIENTATIONS FUTURES DU BIG DATA ET DU CLOUD COMPUTING</a:t>
            </a:r>
            <a:endParaRPr lang="en-US" sz="1965" spc="192">
              <a:solidFill>
                <a:srgbClr val="231F20"/>
              </a:solidFill>
              <a:latin typeface="DM Sans"/>
              <a:ea typeface="DM Sans"/>
              <a:cs typeface="DM Sans"/>
              <a:sym typeface="DM Sans"/>
            </a:endParaRPr>
          </a:p>
        </p:txBody>
      </p:sp>
      <p:sp>
        <p:nvSpPr>
          <p:cNvPr id="19" name="TextBox 19"/>
          <p:cNvSpPr txBox="1"/>
          <p:nvPr/>
        </p:nvSpPr>
        <p:spPr>
          <a:xfrm>
            <a:off x="4854907" y="9225336"/>
            <a:ext cx="9302568" cy="678999"/>
          </a:xfrm>
          <a:prstGeom prst="rect">
            <a:avLst/>
          </a:prstGeom>
        </p:spPr>
        <p:txBody>
          <a:bodyPr lIns="0" tIns="0" rIns="0" bIns="0" rtlCol="0" anchor="t">
            <a:spAutoFit/>
          </a:bodyPr>
          <a:lstStyle/>
          <a:p>
            <a:pPr marL="0" lvl="0" indent="0" algn="ctr">
              <a:lnSpc>
                <a:spcPts val="2710"/>
              </a:lnSpc>
              <a:spcBef>
                <a:spcPct val="0"/>
              </a:spcBef>
            </a:pPr>
            <a:r>
              <a:rPr lang="en-US" sz="1965" spc="192">
                <a:solidFill>
                  <a:srgbClr val="231F20"/>
                </a:solidFill>
                <a:latin typeface="DM Sans"/>
                <a:ea typeface="DM Sans"/>
                <a:cs typeface="DM Sans"/>
                <a:sym typeface="DM Sans"/>
              </a:rPr>
              <a:t> COMMENT LE BIG DATA ET LE CLOUD COMPUTING TRANSFORMENT L'ANALYSE DES DONNÉES</a:t>
            </a:r>
            <a:endParaRPr lang="en-US" sz="1965" spc="192">
              <a:solidFill>
                <a:srgbClr val="231F20"/>
              </a:solidFill>
              <a:latin typeface="DM Sans"/>
              <a:ea typeface="DM Sans"/>
              <a:cs typeface="DM Sans"/>
              <a:sym typeface="DM Sans"/>
            </a:endParaRPr>
          </a:p>
        </p:txBody>
      </p:sp>
      <p:sp>
        <p:nvSpPr>
          <p:cNvPr id="20" name="Freeform 20"/>
          <p:cNvSpPr/>
          <p:nvPr/>
        </p:nvSpPr>
        <p:spPr>
          <a:xfrm rot="-3578320">
            <a:off x="15977461" y="1298849"/>
            <a:ext cx="2656890" cy="2299417"/>
          </a:xfrm>
          <a:custGeom>
            <a:avLst/>
            <a:gdLst/>
            <a:ahLst/>
            <a:cxnLst/>
            <a:rect l="l" t="t" r="r" b="b"/>
            <a:pathLst>
              <a:path w="2656890" h="2299417">
                <a:moveTo>
                  <a:pt x="0" y="0"/>
                </a:moveTo>
                <a:lnTo>
                  <a:pt x="2656889" y="0"/>
                </a:lnTo>
                <a:lnTo>
                  <a:pt x="2656889" y="2299417"/>
                </a:lnTo>
                <a:lnTo>
                  <a:pt x="0" y="229941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1" name="Freeform 21"/>
          <p:cNvSpPr/>
          <p:nvPr/>
        </p:nvSpPr>
        <p:spPr>
          <a:xfrm rot="-3578320">
            <a:off x="13939402" y="-127422"/>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22"/>
          <p:cNvSpPr/>
          <p:nvPr/>
        </p:nvSpPr>
        <p:spPr>
          <a:xfrm rot="7221679">
            <a:off x="16099862" y="-1069365"/>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3"/>
          <p:cNvSpPr/>
          <p:nvPr/>
        </p:nvSpPr>
        <p:spPr>
          <a:xfrm rot="-3578320">
            <a:off x="436149" y="9545378"/>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4" name="Freeform 24"/>
          <p:cNvSpPr/>
          <p:nvPr/>
        </p:nvSpPr>
        <p:spPr>
          <a:xfrm rot="-3578320">
            <a:off x="-1601909" y="8119107"/>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p:cNvSpPr/>
          <p:nvPr/>
        </p:nvSpPr>
        <p:spPr>
          <a:xfrm rot="7382067">
            <a:off x="580308" y="6872573"/>
            <a:ext cx="2528875" cy="2188626"/>
          </a:xfrm>
          <a:custGeom>
            <a:avLst/>
            <a:gdLst/>
            <a:ahLst/>
            <a:cxnLst/>
            <a:rect l="l" t="t" r="r" b="b"/>
            <a:pathLst>
              <a:path w="2528875" h="2188626">
                <a:moveTo>
                  <a:pt x="0" y="0"/>
                </a:moveTo>
                <a:lnTo>
                  <a:pt x="2528874" y="0"/>
                </a:lnTo>
                <a:lnTo>
                  <a:pt x="2528874" y="2188626"/>
                </a:lnTo>
                <a:lnTo>
                  <a:pt x="0" y="21886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6" name="Freeform 26"/>
          <p:cNvSpPr/>
          <p:nvPr/>
        </p:nvSpPr>
        <p:spPr>
          <a:xfrm rot="7221679">
            <a:off x="16007937" y="3742523"/>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7" name="Freeform 27"/>
          <p:cNvSpPr/>
          <p:nvPr/>
        </p:nvSpPr>
        <p:spPr>
          <a:xfrm rot="-3578320">
            <a:off x="13497560" y="2445780"/>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8" name="Freeform 28"/>
          <p:cNvSpPr/>
          <p:nvPr/>
        </p:nvSpPr>
        <p:spPr>
          <a:xfrm rot="-3578320">
            <a:off x="436149" y="4280334"/>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9" name="Freeform 29"/>
          <p:cNvSpPr/>
          <p:nvPr/>
        </p:nvSpPr>
        <p:spPr>
          <a:xfrm rot="7221679">
            <a:off x="-1905758" y="5436800"/>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0" name="Freeform 30"/>
          <p:cNvSpPr/>
          <p:nvPr/>
        </p:nvSpPr>
        <p:spPr>
          <a:xfrm rot="-3578320">
            <a:off x="-1905000" y="2554729"/>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TextBox 31"/>
          <p:cNvSpPr txBox="1"/>
          <p:nvPr/>
        </p:nvSpPr>
        <p:spPr>
          <a:xfrm>
            <a:off x="1374170" y="1913684"/>
            <a:ext cx="4590523" cy="619125"/>
          </a:xfrm>
          <a:prstGeom prst="rect">
            <a:avLst/>
          </a:prstGeom>
        </p:spPr>
        <p:txBody>
          <a:bodyPr lIns="0" tIns="0" rIns="0" bIns="0" rtlCol="0" anchor="t">
            <a:spAutoFit/>
          </a:bodyPr>
          <a:lstStyle/>
          <a:p>
            <a:pPr algn="l">
              <a:lnSpc>
                <a:spcPts val="4800"/>
              </a:lnSpc>
            </a:pPr>
            <a:r>
              <a:rPr lang="en-US" sz="4000" spc="-40">
                <a:solidFill>
                  <a:srgbClr val="000000"/>
                </a:solidFill>
                <a:latin typeface="Open Sauce" panose="00000500000000000000"/>
                <a:ea typeface="Open Sauce" panose="00000500000000000000"/>
                <a:cs typeface="Open Sauce" panose="00000500000000000000"/>
                <a:sym typeface="Open Sauce" panose="00000500000000000000"/>
              </a:rPr>
              <a:t>de présentation</a:t>
            </a:r>
            <a:endParaRPr lang="en-US" sz="4000" spc="-40">
              <a:solidFill>
                <a:srgbClr val="000000"/>
              </a:solidFill>
              <a:latin typeface="Open Sauce" panose="00000500000000000000"/>
              <a:ea typeface="Open Sauce" panose="00000500000000000000"/>
              <a:cs typeface="Open Sauce" panose="00000500000000000000"/>
              <a:sym typeface="Open Sauce" panose="0000050000000000000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336306" y="4713495"/>
            <a:ext cx="4438309" cy="384337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5840" r="-25839"/>
              </a:stretch>
            </a:blipFill>
            <a:ln cap="sq">
              <a:noFill/>
              <a:prstDash val="solid"/>
              <a:miter/>
            </a:ln>
          </p:spPr>
        </p:sp>
      </p:grpSp>
      <p:grpSp>
        <p:nvGrpSpPr>
          <p:cNvPr id="4" name="Group 4"/>
          <p:cNvGrpSpPr/>
          <p:nvPr/>
        </p:nvGrpSpPr>
        <p:grpSpPr>
          <a:xfrm rot="0">
            <a:off x="11849816" y="-503377"/>
            <a:ext cx="4438309" cy="384337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27067" r="-27067"/>
              </a:stretch>
            </a:blipFill>
            <a:ln cap="sq">
              <a:noFill/>
              <a:prstDash val="solid"/>
              <a:miter/>
            </a:ln>
          </p:spPr>
        </p:sp>
      </p:grpSp>
      <p:grpSp>
        <p:nvGrpSpPr>
          <p:cNvPr id="6" name="Group 6"/>
          <p:cNvGrpSpPr/>
          <p:nvPr/>
        </p:nvGrpSpPr>
        <p:grpSpPr>
          <a:xfrm rot="0">
            <a:off x="2148880" y="6635183"/>
            <a:ext cx="4438309" cy="3843376"/>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27220" r="-27220"/>
              </a:stretch>
            </a:blipFill>
            <a:ln cap="sq">
              <a:noFill/>
              <a:prstDash val="solid"/>
              <a:miter/>
            </a:ln>
          </p:spPr>
        </p:sp>
      </p:grpSp>
      <p:grpSp>
        <p:nvGrpSpPr>
          <p:cNvPr id="8" name="Group 8"/>
          <p:cNvGrpSpPr/>
          <p:nvPr/>
        </p:nvGrpSpPr>
        <p:grpSpPr>
          <a:xfrm rot="0">
            <a:off x="15286624" y="1580657"/>
            <a:ext cx="4438309" cy="3843376"/>
            <a:chOff x="0" y="0"/>
            <a:chExt cx="4282440" cy="3708400"/>
          </a:xfrm>
        </p:grpSpPr>
        <p:sp>
          <p:nvSpPr>
            <p:cNvPr id="9" name="Freeform 9"/>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t="-7739" b="-7739"/>
              </a:stretch>
            </a:blipFill>
            <a:ln cap="sq">
              <a:noFill/>
              <a:prstDash val="solid"/>
              <a:miter/>
            </a:ln>
          </p:spPr>
        </p:sp>
      </p:grpSp>
      <p:sp>
        <p:nvSpPr>
          <p:cNvPr id="10" name="Freeform 10"/>
          <p:cNvSpPr/>
          <p:nvPr/>
        </p:nvSpPr>
        <p:spPr>
          <a:xfrm rot="7221679">
            <a:off x="13024034" y="3459208"/>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7221679">
            <a:off x="-162088" y="8642196"/>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3578320">
            <a:off x="15807017" y="-1061105"/>
            <a:ext cx="2904567" cy="2513771"/>
          </a:xfrm>
          <a:custGeom>
            <a:avLst/>
            <a:gdLst/>
            <a:ahLst/>
            <a:cxnLst/>
            <a:rect l="l" t="t" r="r" b="b"/>
            <a:pathLst>
              <a:path w="2904567" h="2513771">
                <a:moveTo>
                  <a:pt x="0" y="0"/>
                </a:moveTo>
                <a:lnTo>
                  <a:pt x="2904566" y="0"/>
                </a:lnTo>
                <a:lnTo>
                  <a:pt x="2904566" y="2513771"/>
                </a:lnTo>
                <a:lnTo>
                  <a:pt x="0" y="25137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rot="-3578320">
            <a:off x="15343062" y="4603774"/>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TextBox 14"/>
          <p:cNvSpPr txBox="1"/>
          <p:nvPr/>
        </p:nvSpPr>
        <p:spPr>
          <a:xfrm>
            <a:off x="0" y="631368"/>
            <a:ext cx="12066767" cy="1395631"/>
          </a:xfrm>
          <a:prstGeom prst="rect">
            <a:avLst/>
          </a:prstGeom>
        </p:spPr>
        <p:txBody>
          <a:bodyPr lIns="0" tIns="0" rIns="0" bIns="0" rtlCol="0" anchor="t">
            <a:spAutoFit/>
          </a:bodyPr>
          <a:lstStyle/>
          <a:p>
            <a:pPr marL="0" lvl="1" indent="0" algn="ctr">
              <a:lnSpc>
                <a:spcPts val="5305"/>
              </a:lnSpc>
            </a:pPr>
            <a:r>
              <a:rPr lang="en-US" sz="5765" b="1" spc="161">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1. QUE SONT LE BIG DATA ET LE CLOUD COMPUTING</a:t>
            </a:r>
            <a:r>
              <a:rPr lang="en-US" sz="5765" b="1" spc="161">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 </a:t>
            </a:r>
            <a:endParaRPr lang="en-US" sz="5765" b="1" spc="161">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sp>
        <p:nvSpPr>
          <p:cNvPr id="15" name="TextBox 15"/>
          <p:cNvSpPr txBox="1"/>
          <p:nvPr/>
        </p:nvSpPr>
        <p:spPr>
          <a:xfrm>
            <a:off x="1028700" y="3540445"/>
            <a:ext cx="12471533" cy="2052507"/>
          </a:xfrm>
          <a:prstGeom prst="rect">
            <a:avLst/>
          </a:prstGeom>
        </p:spPr>
        <p:txBody>
          <a:bodyPr lIns="0" tIns="0" rIns="0" bIns="0" rtlCol="0" anchor="t">
            <a:spAutoFit/>
          </a:bodyPr>
          <a:lstStyle/>
          <a:p>
            <a:pPr algn="ctr">
              <a:lnSpc>
                <a:spcPts val="4110"/>
              </a:lnSpc>
            </a:pPr>
            <a:r>
              <a:rPr lang="en-US" sz="3840" spc="107">
                <a:solidFill>
                  <a:srgbClr val="000000"/>
                </a:solidFill>
                <a:latin typeface="Barlow Condensed" panose="00000506000000000000"/>
                <a:ea typeface="Barlow Condensed" panose="00000506000000000000"/>
                <a:cs typeface="Barlow Condensed" panose="00000506000000000000"/>
                <a:sym typeface="Barlow Condensed" panose="00000506000000000000"/>
              </a:rPr>
              <a:t>- </a:t>
            </a:r>
            <a:r>
              <a:rPr lang="en-US" sz="3840" b="1" spc="107">
                <a:solidFill>
                  <a:srgbClr val="000000"/>
                </a:solidFill>
                <a:latin typeface="Barlow Condensed Bold" panose="00000806000000000000"/>
                <a:ea typeface="Barlow Condensed Bold" panose="00000806000000000000"/>
                <a:cs typeface="Barlow Condensed Bold" panose="00000806000000000000"/>
                <a:sym typeface="Barlow Condensed Bold" panose="00000806000000000000"/>
              </a:rPr>
              <a:t>Le Big Data</a:t>
            </a:r>
            <a:r>
              <a:rPr lang="en-US" sz="3840" spc="107">
                <a:solidFill>
                  <a:srgbClr val="000000"/>
                </a:solidFill>
                <a:latin typeface="Barlow Condensed" panose="00000506000000000000"/>
                <a:ea typeface="Barlow Condensed" panose="00000506000000000000"/>
                <a:cs typeface="Barlow Condensed" panose="00000506000000000000"/>
                <a:sym typeface="Barlow Condensed" panose="00000506000000000000"/>
              </a:rPr>
              <a:t> est un terme qui décrit des ensembles de données trop volumineux et complexes </a:t>
            </a:r>
            <a:endParaRPr lang="en-US" sz="3840" spc="107">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algn="ctr">
              <a:lnSpc>
                <a:spcPts val="4110"/>
              </a:lnSpc>
            </a:pPr>
          </a:p>
          <a:p>
            <a:pPr marL="0" lvl="1" indent="0" algn="ctr">
              <a:lnSpc>
                <a:spcPts val="3900"/>
              </a:lnSpc>
              <a:spcBef>
                <a:spcPct val="0"/>
              </a:spcBef>
            </a:pPr>
          </a:p>
        </p:txBody>
      </p:sp>
      <p:sp>
        <p:nvSpPr>
          <p:cNvPr id="16" name="TextBox 16"/>
          <p:cNvSpPr txBox="1"/>
          <p:nvPr/>
        </p:nvSpPr>
        <p:spPr>
          <a:xfrm>
            <a:off x="5722507" y="7068108"/>
            <a:ext cx="12254617" cy="1925848"/>
          </a:xfrm>
          <a:prstGeom prst="rect">
            <a:avLst/>
          </a:prstGeom>
        </p:spPr>
        <p:txBody>
          <a:bodyPr lIns="0" tIns="0" rIns="0" bIns="0" rtlCol="0" anchor="t">
            <a:spAutoFit/>
          </a:bodyPr>
          <a:lstStyle/>
          <a:p>
            <a:pPr algn="ctr">
              <a:lnSpc>
                <a:spcPts val="3820"/>
              </a:lnSpc>
            </a:pPr>
            <a:r>
              <a:rPr lang="en-US" sz="3570" b="1" spc="99">
                <a:solidFill>
                  <a:srgbClr val="000000"/>
                </a:solidFill>
                <a:latin typeface="Barlow Condensed Bold" panose="00000806000000000000"/>
                <a:ea typeface="Barlow Condensed Bold" panose="00000806000000000000"/>
                <a:cs typeface="Barlow Condensed Bold" panose="00000806000000000000"/>
                <a:sym typeface="Barlow Condensed Bold" panose="00000806000000000000"/>
              </a:rPr>
              <a:t>Le cloud computing</a:t>
            </a:r>
            <a:r>
              <a:rPr lang="en-US" sz="3570" spc="99">
                <a:solidFill>
                  <a:srgbClr val="000000"/>
                </a:solidFill>
                <a:latin typeface="Barlow Condensed" panose="00000506000000000000"/>
                <a:ea typeface="Barlow Condensed" panose="00000506000000000000"/>
                <a:cs typeface="Barlow Condensed" panose="00000506000000000000"/>
                <a:sym typeface="Barlow Condensed" panose="00000506000000000000"/>
              </a:rPr>
              <a:t> est un modèle qui permet d'accéder à la demande à un pool partagé de ressources informatiques,</a:t>
            </a:r>
            <a:endParaRPr lang="en-US" sz="3570" spc="99">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algn="ctr">
              <a:lnSpc>
                <a:spcPts val="3820"/>
              </a:lnSpc>
            </a:pPr>
          </a:p>
          <a:p>
            <a:pPr marL="0" lvl="1" indent="0" algn="ctr">
              <a:lnSpc>
                <a:spcPts val="3820"/>
              </a:lnSpc>
              <a:spcBef>
                <a:spcPct val="0"/>
              </a:spcBef>
            </a:pPr>
          </a:p>
        </p:txBody>
      </p:sp>
      <p:sp>
        <p:nvSpPr>
          <p:cNvPr id="17" name="TextBox 17"/>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01</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437441"/>
            <a:ext cx="11807156" cy="2051560"/>
          </a:xfrm>
          <a:prstGeom prst="rect">
            <a:avLst/>
          </a:prstGeom>
        </p:spPr>
        <p:txBody>
          <a:bodyPr lIns="0" tIns="0" rIns="0" bIns="0" rtlCol="0" anchor="t">
            <a:spAutoFit/>
          </a:bodyPr>
          <a:lstStyle/>
          <a:p>
            <a:pPr marL="0" lvl="1" indent="0" algn="ctr">
              <a:lnSpc>
                <a:spcPts val="5270"/>
              </a:lnSpc>
            </a:pPr>
            <a:r>
              <a:rPr lang="en-US" sz="5730" b="1" spc="160">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2. POURQUOI LE BIG DATA ET LE CLOUD COMPUTING SONT-ILS IMPORTANTS ?</a:t>
            </a:r>
            <a:endParaRPr lang="en-US" sz="5730" b="1" spc="160">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sp>
        <p:nvSpPr>
          <p:cNvPr id="3" name="TextBox 3"/>
          <p:cNvSpPr txBox="1"/>
          <p:nvPr/>
        </p:nvSpPr>
        <p:spPr>
          <a:xfrm>
            <a:off x="519429" y="3356334"/>
            <a:ext cx="11287728" cy="2666564"/>
          </a:xfrm>
          <a:prstGeom prst="rect">
            <a:avLst/>
          </a:prstGeom>
        </p:spPr>
        <p:txBody>
          <a:bodyPr lIns="0" tIns="0" rIns="0" bIns="0" rtlCol="0" anchor="t">
            <a:spAutoFit/>
          </a:bodyPr>
          <a:lstStyle/>
          <a:p>
            <a:pPr algn="ctr">
              <a:lnSpc>
                <a:spcPts val="4190"/>
              </a:lnSpc>
            </a:pPr>
            <a:r>
              <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rPr>
              <a:t>Le Big Data et le Cloud Computing sont importants</a:t>
            </a:r>
            <a:endPar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algn="ctr">
              <a:lnSpc>
                <a:spcPts val="4190"/>
              </a:lnSpc>
            </a:pPr>
            <a:r>
              <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rPr>
              <a:t> car ils offrent des avantages significatifs à diverses parties .</a:t>
            </a:r>
            <a:endPar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algn="ctr">
              <a:lnSpc>
                <a:spcPts val="4190"/>
              </a:lnSpc>
            </a:pPr>
          </a:p>
          <a:p>
            <a:pPr algn="ctr">
              <a:lnSpc>
                <a:spcPts val="4190"/>
              </a:lnSpc>
            </a:pPr>
            <a:r>
              <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rPr>
              <a:t>-Certains des avantages sont :</a:t>
            </a:r>
            <a:endParaRPr lang="en-US" sz="3915" spc="109">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marL="0" lvl="1" indent="0" algn="ctr">
              <a:lnSpc>
                <a:spcPts val="4190"/>
              </a:lnSpc>
              <a:spcBef>
                <a:spcPct val="0"/>
              </a:spcBef>
            </a:pPr>
          </a:p>
        </p:txBody>
      </p:sp>
      <p:grpSp>
        <p:nvGrpSpPr>
          <p:cNvPr id="4" name="Group 4"/>
          <p:cNvGrpSpPr/>
          <p:nvPr/>
        </p:nvGrpSpPr>
        <p:grpSpPr>
          <a:xfrm rot="0">
            <a:off x="15286624" y="1580657"/>
            <a:ext cx="4438309" cy="384337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t="-7739" b="-7739"/>
              </a:stretch>
            </a:blipFill>
            <a:ln cap="sq">
              <a:noFill/>
              <a:prstDash val="solid"/>
              <a:miter/>
            </a:ln>
          </p:spPr>
        </p:sp>
      </p:grpSp>
      <p:sp>
        <p:nvSpPr>
          <p:cNvPr id="6" name="Freeform 6"/>
          <p:cNvSpPr/>
          <p:nvPr/>
        </p:nvSpPr>
        <p:spPr>
          <a:xfrm rot="7221679">
            <a:off x="13024034" y="3459208"/>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3578320">
            <a:off x="15807017" y="-1061105"/>
            <a:ext cx="2904567" cy="2513771"/>
          </a:xfrm>
          <a:custGeom>
            <a:avLst/>
            <a:gdLst/>
            <a:ahLst/>
            <a:cxnLst/>
            <a:rect l="l" t="t" r="r" b="b"/>
            <a:pathLst>
              <a:path w="2904567" h="2513771">
                <a:moveTo>
                  <a:pt x="0" y="0"/>
                </a:moveTo>
                <a:lnTo>
                  <a:pt x="2904566" y="0"/>
                </a:lnTo>
                <a:lnTo>
                  <a:pt x="2904566" y="2513771"/>
                </a:lnTo>
                <a:lnTo>
                  <a:pt x="0" y="25137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3578320">
            <a:off x="15343062" y="4603774"/>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9" name="Group 9"/>
          <p:cNvGrpSpPr/>
          <p:nvPr/>
        </p:nvGrpSpPr>
        <p:grpSpPr>
          <a:xfrm rot="0">
            <a:off x="11807156" y="-534667"/>
            <a:ext cx="4438309" cy="3843376"/>
            <a:chOff x="0" y="0"/>
            <a:chExt cx="4282440" cy="3708400"/>
          </a:xfrm>
        </p:grpSpPr>
        <p:sp>
          <p:nvSpPr>
            <p:cNvPr id="10" name="Freeform 1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8"/>
              <a:stretch>
                <a:fillRect l="-27220" r="-27220"/>
              </a:stretch>
            </a:blipFill>
            <a:ln cap="sq">
              <a:noFill/>
              <a:prstDash val="solid"/>
              <a:miter/>
            </a:ln>
          </p:spPr>
        </p:sp>
      </p:grpSp>
      <p:sp>
        <p:nvSpPr>
          <p:cNvPr id="11" name="Freeform 11"/>
          <p:cNvSpPr/>
          <p:nvPr/>
        </p:nvSpPr>
        <p:spPr>
          <a:xfrm rot="-10800000">
            <a:off x="713340" y="6772446"/>
            <a:ext cx="14573284" cy="1611024"/>
          </a:xfrm>
          <a:custGeom>
            <a:avLst/>
            <a:gdLst/>
            <a:ahLst/>
            <a:cxnLst/>
            <a:rect l="l" t="t" r="r" b="b"/>
            <a:pathLst>
              <a:path w="14573284" h="1611024">
                <a:moveTo>
                  <a:pt x="0" y="0"/>
                </a:moveTo>
                <a:lnTo>
                  <a:pt x="14573284" y="0"/>
                </a:lnTo>
                <a:lnTo>
                  <a:pt x="14573284" y="1611024"/>
                </a:lnTo>
                <a:lnTo>
                  <a:pt x="0" y="16110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2" name="Group 12"/>
          <p:cNvGrpSpPr/>
          <p:nvPr/>
        </p:nvGrpSpPr>
        <p:grpSpPr>
          <a:xfrm rot="-5400000">
            <a:off x="427335" y="7826116"/>
            <a:ext cx="743944" cy="743944"/>
            <a:chOff x="0" y="0"/>
            <a:chExt cx="991925" cy="991925"/>
          </a:xfrm>
        </p:grpSpPr>
        <p:grpSp>
          <p:nvGrpSpPr>
            <p:cNvPr id="13" name="Group 13"/>
            <p:cNvGrpSpPr/>
            <p:nvPr/>
          </p:nvGrpSpPr>
          <p:grpSpPr>
            <a:xfrm rot="-5400000">
              <a:off x="0" y="0"/>
              <a:ext cx="991925" cy="99192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6" name="Group 16"/>
            <p:cNvGrpSpPr/>
            <p:nvPr/>
          </p:nvGrpSpPr>
          <p:grpSpPr>
            <a:xfrm rot="-5400000">
              <a:off x="110391" y="110391"/>
              <a:ext cx="771144" cy="77114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8" name="TextBox 1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9" name="Group 19"/>
            <p:cNvGrpSpPr/>
            <p:nvPr/>
          </p:nvGrpSpPr>
          <p:grpSpPr>
            <a:xfrm rot="-5400000">
              <a:off x="201613" y="201613"/>
              <a:ext cx="588700" cy="588700"/>
              <a:chOff x="0" y="0"/>
              <a:chExt cx="108388" cy="108388"/>
            </a:xfrm>
          </p:grpSpPr>
          <p:sp>
            <p:nvSpPr>
              <p:cNvPr id="20" name="Freeform 2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FC030"/>
              </a:solidFill>
            </p:spPr>
          </p:sp>
          <p:sp>
            <p:nvSpPr>
              <p:cNvPr id="21" name="TextBox 2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22" name="Group 22"/>
          <p:cNvGrpSpPr/>
          <p:nvPr/>
        </p:nvGrpSpPr>
        <p:grpSpPr>
          <a:xfrm rot="-5400000">
            <a:off x="7540518" y="7826116"/>
            <a:ext cx="743944" cy="743944"/>
            <a:chOff x="0" y="0"/>
            <a:chExt cx="991925" cy="991925"/>
          </a:xfrm>
        </p:grpSpPr>
        <p:grpSp>
          <p:nvGrpSpPr>
            <p:cNvPr id="23" name="Group 23"/>
            <p:cNvGrpSpPr/>
            <p:nvPr/>
          </p:nvGrpSpPr>
          <p:grpSpPr>
            <a:xfrm rot="-5400000">
              <a:off x="0" y="0"/>
              <a:ext cx="991925" cy="99192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5" name="TextBox 2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26" name="Group 26"/>
            <p:cNvGrpSpPr/>
            <p:nvPr/>
          </p:nvGrpSpPr>
          <p:grpSpPr>
            <a:xfrm rot="-5400000">
              <a:off x="110391" y="110391"/>
              <a:ext cx="771144" cy="77114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28" name="TextBox 2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29" name="Group 29"/>
            <p:cNvGrpSpPr/>
            <p:nvPr/>
          </p:nvGrpSpPr>
          <p:grpSpPr>
            <a:xfrm rot="-5400000">
              <a:off x="201613" y="201613"/>
              <a:ext cx="588700" cy="588700"/>
              <a:chOff x="0" y="0"/>
              <a:chExt cx="108388" cy="108388"/>
            </a:xfrm>
          </p:grpSpPr>
          <p:sp>
            <p:nvSpPr>
              <p:cNvPr id="30" name="Freeform 3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BC9FF1"/>
              </a:solidFill>
            </p:spPr>
          </p:sp>
          <p:sp>
            <p:nvSpPr>
              <p:cNvPr id="31" name="TextBox 3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32" name="Group 32"/>
          <p:cNvGrpSpPr/>
          <p:nvPr/>
        </p:nvGrpSpPr>
        <p:grpSpPr>
          <a:xfrm rot="-5400000">
            <a:off x="2245580" y="6587524"/>
            <a:ext cx="743944" cy="743944"/>
            <a:chOff x="0" y="0"/>
            <a:chExt cx="991925" cy="991925"/>
          </a:xfrm>
        </p:grpSpPr>
        <p:grpSp>
          <p:nvGrpSpPr>
            <p:cNvPr id="33" name="Group 33"/>
            <p:cNvGrpSpPr/>
            <p:nvPr/>
          </p:nvGrpSpPr>
          <p:grpSpPr>
            <a:xfrm rot="-5400000">
              <a:off x="0" y="0"/>
              <a:ext cx="991925" cy="99192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5" name="TextBox 3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36" name="Group 36"/>
            <p:cNvGrpSpPr/>
            <p:nvPr/>
          </p:nvGrpSpPr>
          <p:grpSpPr>
            <a:xfrm rot="-5400000">
              <a:off x="110391" y="110391"/>
              <a:ext cx="771144" cy="771144"/>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38" name="TextBox 3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39" name="Group 39"/>
            <p:cNvGrpSpPr/>
            <p:nvPr/>
          </p:nvGrpSpPr>
          <p:grpSpPr>
            <a:xfrm rot="-5400000">
              <a:off x="201613" y="201613"/>
              <a:ext cx="588700" cy="588700"/>
              <a:chOff x="0" y="0"/>
              <a:chExt cx="108388" cy="108388"/>
            </a:xfrm>
          </p:grpSpPr>
          <p:sp>
            <p:nvSpPr>
              <p:cNvPr id="40" name="Freeform 4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EB978"/>
              </a:solidFill>
            </p:spPr>
          </p:sp>
          <p:sp>
            <p:nvSpPr>
              <p:cNvPr id="41" name="TextBox 4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42" name="Group 42"/>
          <p:cNvGrpSpPr/>
          <p:nvPr/>
        </p:nvGrpSpPr>
        <p:grpSpPr>
          <a:xfrm rot="-5400000">
            <a:off x="9358762" y="6587524"/>
            <a:ext cx="743944" cy="743944"/>
            <a:chOff x="0" y="0"/>
            <a:chExt cx="991925" cy="991925"/>
          </a:xfrm>
        </p:grpSpPr>
        <p:grpSp>
          <p:nvGrpSpPr>
            <p:cNvPr id="43" name="Group 43"/>
            <p:cNvGrpSpPr/>
            <p:nvPr/>
          </p:nvGrpSpPr>
          <p:grpSpPr>
            <a:xfrm rot="-5400000">
              <a:off x="0" y="0"/>
              <a:ext cx="991925" cy="991925"/>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5" name="TextBox 4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46" name="Group 46"/>
            <p:cNvGrpSpPr/>
            <p:nvPr/>
          </p:nvGrpSpPr>
          <p:grpSpPr>
            <a:xfrm rot="-5400000">
              <a:off x="110391" y="110391"/>
              <a:ext cx="771144" cy="771144"/>
              <a:chOff x="0" y="0"/>
              <a:chExt cx="812800" cy="812800"/>
            </a:xfrm>
          </p:grpSpPr>
          <p:sp>
            <p:nvSpPr>
              <p:cNvPr id="47" name="Freeform 4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48" name="TextBox 4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49" name="Group 49"/>
            <p:cNvGrpSpPr/>
            <p:nvPr/>
          </p:nvGrpSpPr>
          <p:grpSpPr>
            <a:xfrm rot="-5400000">
              <a:off x="201613" y="201613"/>
              <a:ext cx="588700" cy="588700"/>
              <a:chOff x="0" y="0"/>
              <a:chExt cx="108388" cy="108388"/>
            </a:xfrm>
          </p:grpSpPr>
          <p:sp>
            <p:nvSpPr>
              <p:cNvPr id="50" name="Freeform 5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5B9FB"/>
              </a:solidFill>
            </p:spPr>
          </p:sp>
          <p:sp>
            <p:nvSpPr>
              <p:cNvPr id="51" name="TextBox 5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52" name="Group 52"/>
          <p:cNvGrpSpPr/>
          <p:nvPr/>
        </p:nvGrpSpPr>
        <p:grpSpPr>
          <a:xfrm rot="-5400000">
            <a:off x="12963460" y="6587524"/>
            <a:ext cx="743944" cy="743944"/>
            <a:chOff x="0" y="0"/>
            <a:chExt cx="991925" cy="991925"/>
          </a:xfrm>
        </p:grpSpPr>
        <p:grpSp>
          <p:nvGrpSpPr>
            <p:cNvPr id="53" name="Group 53"/>
            <p:cNvGrpSpPr/>
            <p:nvPr/>
          </p:nvGrpSpPr>
          <p:grpSpPr>
            <a:xfrm rot="-5400000">
              <a:off x="0" y="0"/>
              <a:ext cx="991925" cy="99192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5" name="TextBox 5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56" name="Group 56"/>
            <p:cNvGrpSpPr/>
            <p:nvPr/>
          </p:nvGrpSpPr>
          <p:grpSpPr>
            <a:xfrm rot="-5400000">
              <a:off x="110391" y="110391"/>
              <a:ext cx="771144" cy="771144"/>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58" name="TextBox 5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59" name="Group 59"/>
            <p:cNvGrpSpPr/>
            <p:nvPr/>
          </p:nvGrpSpPr>
          <p:grpSpPr>
            <a:xfrm rot="-5400000">
              <a:off x="201613" y="201613"/>
              <a:ext cx="588700" cy="588700"/>
              <a:chOff x="0" y="0"/>
              <a:chExt cx="108388" cy="108388"/>
            </a:xfrm>
          </p:grpSpPr>
          <p:sp>
            <p:nvSpPr>
              <p:cNvPr id="60" name="Freeform 6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EE07C"/>
              </a:solidFill>
            </p:spPr>
          </p:sp>
          <p:sp>
            <p:nvSpPr>
              <p:cNvPr id="61" name="TextBox 6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62" name="Group 62"/>
          <p:cNvGrpSpPr/>
          <p:nvPr/>
        </p:nvGrpSpPr>
        <p:grpSpPr>
          <a:xfrm rot="-5400000">
            <a:off x="5852176" y="6587524"/>
            <a:ext cx="743944" cy="743944"/>
            <a:chOff x="0" y="0"/>
            <a:chExt cx="991925" cy="991925"/>
          </a:xfrm>
        </p:grpSpPr>
        <p:grpSp>
          <p:nvGrpSpPr>
            <p:cNvPr id="63" name="Group 63"/>
            <p:cNvGrpSpPr/>
            <p:nvPr/>
          </p:nvGrpSpPr>
          <p:grpSpPr>
            <a:xfrm rot="-5400000">
              <a:off x="0" y="0"/>
              <a:ext cx="991925" cy="991925"/>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5" name="TextBox 6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66" name="Group 66"/>
            <p:cNvGrpSpPr/>
            <p:nvPr/>
          </p:nvGrpSpPr>
          <p:grpSpPr>
            <a:xfrm rot="-5400000">
              <a:off x="110391" y="110391"/>
              <a:ext cx="771144" cy="771144"/>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68" name="TextBox 6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69" name="Group 69"/>
            <p:cNvGrpSpPr/>
            <p:nvPr/>
          </p:nvGrpSpPr>
          <p:grpSpPr>
            <a:xfrm rot="-5400000">
              <a:off x="201613" y="201613"/>
              <a:ext cx="588700" cy="588700"/>
              <a:chOff x="0" y="0"/>
              <a:chExt cx="108388" cy="108388"/>
            </a:xfrm>
          </p:grpSpPr>
          <p:sp>
            <p:nvSpPr>
              <p:cNvPr id="70" name="Freeform 7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898D4"/>
              </a:solidFill>
            </p:spPr>
          </p:sp>
          <p:sp>
            <p:nvSpPr>
              <p:cNvPr id="71" name="TextBox 7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72" name="Group 72"/>
          <p:cNvGrpSpPr/>
          <p:nvPr/>
        </p:nvGrpSpPr>
        <p:grpSpPr>
          <a:xfrm rot="-5400000">
            <a:off x="3989306" y="7826116"/>
            <a:ext cx="743944" cy="743944"/>
            <a:chOff x="0" y="0"/>
            <a:chExt cx="991925" cy="991925"/>
          </a:xfrm>
        </p:grpSpPr>
        <p:grpSp>
          <p:nvGrpSpPr>
            <p:cNvPr id="73" name="Group 73"/>
            <p:cNvGrpSpPr/>
            <p:nvPr/>
          </p:nvGrpSpPr>
          <p:grpSpPr>
            <a:xfrm rot="-5400000">
              <a:off x="0" y="0"/>
              <a:ext cx="991925" cy="991925"/>
              <a:chOff x="0" y="0"/>
              <a:chExt cx="812800" cy="812800"/>
            </a:xfrm>
          </p:grpSpPr>
          <p:sp>
            <p:nvSpPr>
              <p:cNvPr id="74" name="Freeform 7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7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76" name="Group 76"/>
            <p:cNvGrpSpPr/>
            <p:nvPr/>
          </p:nvGrpSpPr>
          <p:grpSpPr>
            <a:xfrm rot="-5400000">
              <a:off x="110391" y="110391"/>
              <a:ext cx="771144" cy="771144"/>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78" name="TextBox 7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79" name="Group 79"/>
            <p:cNvGrpSpPr/>
            <p:nvPr/>
          </p:nvGrpSpPr>
          <p:grpSpPr>
            <a:xfrm rot="-5400000">
              <a:off x="201613" y="201613"/>
              <a:ext cx="588700" cy="588700"/>
              <a:chOff x="0" y="0"/>
              <a:chExt cx="108388" cy="108388"/>
            </a:xfrm>
          </p:grpSpPr>
          <p:sp>
            <p:nvSpPr>
              <p:cNvPr id="80" name="Freeform 8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FB7A1"/>
              </a:solidFill>
            </p:spPr>
          </p:sp>
          <p:sp>
            <p:nvSpPr>
              <p:cNvPr id="81" name="TextBox 8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82" name="Group 82"/>
          <p:cNvGrpSpPr/>
          <p:nvPr/>
        </p:nvGrpSpPr>
        <p:grpSpPr>
          <a:xfrm rot="-5400000">
            <a:off x="11102488" y="7826116"/>
            <a:ext cx="743944" cy="743944"/>
            <a:chOff x="0" y="0"/>
            <a:chExt cx="991925" cy="991925"/>
          </a:xfrm>
        </p:grpSpPr>
        <p:grpSp>
          <p:nvGrpSpPr>
            <p:cNvPr id="83" name="Group 83"/>
            <p:cNvGrpSpPr/>
            <p:nvPr/>
          </p:nvGrpSpPr>
          <p:grpSpPr>
            <a:xfrm rot="-5400000">
              <a:off x="0" y="0"/>
              <a:ext cx="991925" cy="991925"/>
              <a:chOff x="0" y="0"/>
              <a:chExt cx="812800" cy="812800"/>
            </a:xfrm>
          </p:grpSpPr>
          <p:sp>
            <p:nvSpPr>
              <p:cNvPr id="84" name="Freeform 8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5" name="TextBox 85"/>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86" name="Group 86"/>
            <p:cNvGrpSpPr/>
            <p:nvPr/>
          </p:nvGrpSpPr>
          <p:grpSpPr>
            <a:xfrm rot="-5400000">
              <a:off x="110391" y="110391"/>
              <a:ext cx="771144" cy="771144"/>
              <a:chOff x="0" y="0"/>
              <a:chExt cx="812800" cy="812800"/>
            </a:xfrm>
          </p:grpSpPr>
          <p:sp>
            <p:nvSpPr>
              <p:cNvPr id="87" name="Freeform 8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88" name="TextBox 88"/>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89" name="Group 89"/>
            <p:cNvGrpSpPr/>
            <p:nvPr/>
          </p:nvGrpSpPr>
          <p:grpSpPr>
            <a:xfrm rot="-5400000">
              <a:off x="201613" y="201613"/>
              <a:ext cx="588700" cy="588700"/>
              <a:chOff x="0" y="0"/>
              <a:chExt cx="108388" cy="108388"/>
            </a:xfrm>
          </p:grpSpPr>
          <p:sp>
            <p:nvSpPr>
              <p:cNvPr id="90" name="Freeform 90"/>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56CDB8"/>
              </a:solidFill>
            </p:spPr>
          </p:sp>
          <p:sp>
            <p:nvSpPr>
              <p:cNvPr id="91" name="TextBox 91"/>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sp>
        <p:nvSpPr>
          <p:cNvPr id="92" name="TextBox 92"/>
          <p:cNvSpPr txBox="1"/>
          <p:nvPr/>
        </p:nvSpPr>
        <p:spPr>
          <a:xfrm>
            <a:off x="662911" y="8474145"/>
            <a:ext cx="3909282" cy="922865"/>
          </a:xfrm>
          <a:prstGeom prst="rect">
            <a:avLst/>
          </a:prstGeom>
        </p:spPr>
        <p:txBody>
          <a:bodyPr lIns="0" tIns="0" rIns="0" bIns="0" rtlCol="0" anchor="t">
            <a:spAutoFit/>
          </a:bodyPr>
          <a:lstStyle/>
          <a:p>
            <a:pPr algn="ctr">
              <a:lnSpc>
                <a:spcPts val="3735"/>
              </a:lnSpc>
            </a:pPr>
            <a:r>
              <a:rPr lang="en-US" sz="2665" b="1" spc="66">
                <a:solidFill>
                  <a:srgbClr val="545454"/>
                </a:solidFill>
                <a:latin typeface="Nunito Bold"/>
                <a:ea typeface="Nunito Bold"/>
                <a:cs typeface="Nunito Bold"/>
                <a:sym typeface="Nunito Bold"/>
              </a:rPr>
              <a:t>prise de décision améliorée </a:t>
            </a:r>
            <a:endParaRPr lang="en-US" sz="2665" b="1" spc="66">
              <a:solidFill>
                <a:srgbClr val="545454"/>
              </a:solidFill>
              <a:latin typeface="Nunito Bold"/>
              <a:ea typeface="Nunito Bold"/>
              <a:cs typeface="Nunito Bold"/>
              <a:sym typeface="Nunito Bold"/>
            </a:endParaRPr>
          </a:p>
        </p:txBody>
      </p:sp>
      <p:sp>
        <p:nvSpPr>
          <p:cNvPr id="93" name="TextBox 93"/>
          <p:cNvSpPr txBox="1"/>
          <p:nvPr/>
        </p:nvSpPr>
        <p:spPr>
          <a:xfrm>
            <a:off x="4090701" y="8512910"/>
            <a:ext cx="3909282" cy="1389590"/>
          </a:xfrm>
          <a:prstGeom prst="rect">
            <a:avLst/>
          </a:prstGeom>
        </p:spPr>
        <p:txBody>
          <a:bodyPr lIns="0" tIns="0" rIns="0" bIns="0" rtlCol="0" anchor="t">
            <a:spAutoFit/>
          </a:bodyPr>
          <a:lstStyle/>
          <a:p>
            <a:pPr algn="ctr">
              <a:lnSpc>
                <a:spcPts val="3735"/>
              </a:lnSpc>
            </a:pPr>
            <a:r>
              <a:rPr lang="en-US" sz="2665" b="1" spc="66">
                <a:solidFill>
                  <a:srgbClr val="545454"/>
                </a:solidFill>
                <a:latin typeface="Nunito Bold"/>
                <a:ea typeface="Nunito Bold"/>
                <a:cs typeface="Nunito Bold"/>
                <a:sym typeface="Nunito Bold"/>
              </a:rPr>
              <a:t>efficacité </a:t>
            </a:r>
            <a:endParaRPr lang="en-US" sz="2665" b="1" spc="66">
              <a:solidFill>
                <a:srgbClr val="545454"/>
              </a:solidFill>
              <a:latin typeface="Nunito Bold"/>
              <a:ea typeface="Nunito Bold"/>
              <a:cs typeface="Nunito Bold"/>
              <a:sym typeface="Nunito Bold"/>
            </a:endParaRPr>
          </a:p>
          <a:p>
            <a:pPr algn="ctr">
              <a:lnSpc>
                <a:spcPts val="3735"/>
              </a:lnSpc>
            </a:pPr>
            <a:r>
              <a:rPr lang="en-US" sz="2665" b="1" spc="66">
                <a:solidFill>
                  <a:srgbClr val="545454"/>
                </a:solidFill>
                <a:latin typeface="Nunito Bold"/>
                <a:ea typeface="Nunito Bold"/>
                <a:cs typeface="Nunito Bold"/>
                <a:sym typeface="Nunito Bold"/>
              </a:rPr>
              <a:t>et productivité améliorées</a:t>
            </a:r>
            <a:endParaRPr lang="en-US" sz="2665" b="1" spc="66">
              <a:solidFill>
                <a:srgbClr val="545454"/>
              </a:solidFill>
              <a:latin typeface="Nunito Bold"/>
              <a:ea typeface="Nunito Bold"/>
              <a:cs typeface="Nunito Bold"/>
              <a:sym typeface="Nunito Bold"/>
            </a:endParaRPr>
          </a:p>
        </p:txBody>
      </p:sp>
      <p:sp>
        <p:nvSpPr>
          <p:cNvPr id="94" name="TextBox 94"/>
          <p:cNvSpPr txBox="1"/>
          <p:nvPr/>
        </p:nvSpPr>
        <p:spPr>
          <a:xfrm>
            <a:off x="7897875" y="8512910"/>
            <a:ext cx="3909282" cy="1389590"/>
          </a:xfrm>
          <a:prstGeom prst="rect">
            <a:avLst/>
          </a:prstGeom>
        </p:spPr>
        <p:txBody>
          <a:bodyPr lIns="0" tIns="0" rIns="0" bIns="0" rtlCol="0" anchor="t">
            <a:spAutoFit/>
          </a:bodyPr>
          <a:lstStyle/>
          <a:p>
            <a:pPr algn="ctr">
              <a:lnSpc>
                <a:spcPts val="3735"/>
              </a:lnSpc>
            </a:pPr>
            <a:r>
              <a:rPr lang="en-US" sz="2665" b="1" spc="66">
                <a:solidFill>
                  <a:srgbClr val="545454"/>
                </a:solidFill>
                <a:latin typeface="Nunito Bold"/>
                <a:ea typeface="Nunito Bold"/>
                <a:cs typeface="Nunito Bold"/>
                <a:sym typeface="Nunito Bold"/>
              </a:rPr>
              <a:t>Extensibilité</a:t>
            </a:r>
            <a:endParaRPr lang="en-US" sz="2665" b="1" spc="66">
              <a:solidFill>
                <a:srgbClr val="545454"/>
              </a:solidFill>
              <a:latin typeface="Nunito Bold"/>
              <a:ea typeface="Nunito Bold"/>
              <a:cs typeface="Nunito Bold"/>
              <a:sym typeface="Nunito Bold"/>
            </a:endParaRPr>
          </a:p>
          <a:p>
            <a:pPr algn="ctr">
              <a:lnSpc>
                <a:spcPts val="3735"/>
              </a:lnSpc>
            </a:pPr>
            <a:r>
              <a:rPr lang="en-US" sz="2665" b="1" spc="66">
                <a:solidFill>
                  <a:srgbClr val="545454"/>
                </a:solidFill>
                <a:latin typeface="Nunito Bold"/>
                <a:ea typeface="Nunito Bold"/>
                <a:cs typeface="Nunito Bold"/>
                <a:sym typeface="Nunito Bold"/>
              </a:rPr>
              <a:t> et</a:t>
            </a:r>
            <a:endParaRPr lang="en-US" sz="2665" b="1" spc="66">
              <a:solidFill>
                <a:srgbClr val="545454"/>
              </a:solidFill>
              <a:latin typeface="Nunito Bold"/>
              <a:ea typeface="Nunito Bold"/>
              <a:cs typeface="Nunito Bold"/>
              <a:sym typeface="Nunito Bold"/>
            </a:endParaRPr>
          </a:p>
          <a:p>
            <a:pPr algn="ctr">
              <a:lnSpc>
                <a:spcPts val="3735"/>
              </a:lnSpc>
            </a:pPr>
            <a:r>
              <a:rPr lang="en-US" sz="2665" b="1" spc="66">
                <a:solidFill>
                  <a:srgbClr val="545454"/>
                </a:solidFill>
                <a:latin typeface="Nunito Bold"/>
                <a:ea typeface="Nunito Bold"/>
                <a:cs typeface="Nunito Bold"/>
                <a:sym typeface="Nunito Bold"/>
              </a:rPr>
              <a:t> flexibilité accrues </a:t>
            </a:r>
            <a:endParaRPr lang="en-US" sz="2665" b="1" spc="66">
              <a:solidFill>
                <a:srgbClr val="545454"/>
              </a:solidFill>
              <a:latin typeface="Nunito Bold"/>
              <a:ea typeface="Nunito Bold"/>
              <a:cs typeface="Nunito Bold"/>
              <a:sym typeface="Nunito Bold"/>
            </a:endParaRPr>
          </a:p>
        </p:txBody>
      </p:sp>
      <p:sp>
        <p:nvSpPr>
          <p:cNvPr id="95" name="TextBox 95"/>
          <p:cNvSpPr txBox="1"/>
          <p:nvPr/>
        </p:nvSpPr>
        <p:spPr>
          <a:xfrm>
            <a:off x="11531450" y="8474145"/>
            <a:ext cx="3909282" cy="922865"/>
          </a:xfrm>
          <a:prstGeom prst="rect">
            <a:avLst/>
          </a:prstGeom>
        </p:spPr>
        <p:txBody>
          <a:bodyPr lIns="0" tIns="0" rIns="0" bIns="0" rtlCol="0" anchor="t">
            <a:spAutoFit/>
          </a:bodyPr>
          <a:lstStyle/>
          <a:p>
            <a:pPr algn="ctr">
              <a:lnSpc>
                <a:spcPts val="3735"/>
              </a:lnSpc>
            </a:pPr>
            <a:r>
              <a:rPr lang="en-US" sz="2665" b="1" spc="66">
                <a:solidFill>
                  <a:srgbClr val="545454"/>
                </a:solidFill>
                <a:latin typeface="Nunito Bold"/>
                <a:ea typeface="Nunito Bold"/>
                <a:cs typeface="Nunito Bold"/>
                <a:sym typeface="Nunito Bold"/>
              </a:rPr>
              <a:t>Coûts et risques réduits</a:t>
            </a:r>
            <a:endParaRPr lang="en-US" sz="2665" b="1" spc="66">
              <a:solidFill>
                <a:srgbClr val="545454"/>
              </a:solidFill>
              <a:latin typeface="Nunito Bold"/>
              <a:ea typeface="Nunito Bold"/>
              <a:cs typeface="Nunito Bold"/>
              <a:sym typeface="Nunito Bold"/>
            </a:endParaRPr>
          </a:p>
        </p:txBody>
      </p:sp>
      <p:sp>
        <p:nvSpPr>
          <p:cNvPr id="96" name="Freeform 96"/>
          <p:cNvSpPr/>
          <p:nvPr/>
        </p:nvSpPr>
        <p:spPr>
          <a:xfrm rot="-10726039">
            <a:off x="17801403" y="5968314"/>
            <a:ext cx="2656890" cy="2299417"/>
          </a:xfrm>
          <a:custGeom>
            <a:avLst/>
            <a:gdLst/>
            <a:ahLst/>
            <a:cxnLst/>
            <a:rect l="l" t="t" r="r" b="b"/>
            <a:pathLst>
              <a:path w="2656890" h="2299417">
                <a:moveTo>
                  <a:pt x="0" y="0"/>
                </a:moveTo>
                <a:lnTo>
                  <a:pt x="2656889" y="0"/>
                </a:lnTo>
                <a:lnTo>
                  <a:pt x="2656889" y="2299417"/>
                </a:lnTo>
                <a:lnTo>
                  <a:pt x="0" y="22994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7" name="Freeform 97"/>
          <p:cNvSpPr/>
          <p:nvPr/>
        </p:nvSpPr>
        <p:spPr>
          <a:xfrm rot="-10726039">
            <a:off x="17557869" y="8473291"/>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8" name="Freeform 98"/>
          <p:cNvSpPr/>
          <p:nvPr/>
        </p:nvSpPr>
        <p:spPr>
          <a:xfrm rot="73960">
            <a:off x="15762565" y="7278593"/>
            <a:ext cx="2412087" cy="2087552"/>
          </a:xfrm>
          <a:custGeom>
            <a:avLst/>
            <a:gdLst/>
            <a:ahLst/>
            <a:cxnLst/>
            <a:rect l="l" t="t" r="r" b="b"/>
            <a:pathLst>
              <a:path w="2412087" h="2087552">
                <a:moveTo>
                  <a:pt x="0" y="0"/>
                </a:moveTo>
                <a:lnTo>
                  <a:pt x="2412088" y="0"/>
                </a:lnTo>
                <a:lnTo>
                  <a:pt x="2412088" y="2087551"/>
                </a:lnTo>
                <a:lnTo>
                  <a:pt x="0" y="20875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9" name="AutoShape 99"/>
          <p:cNvSpPr/>
          <p:nvPr/>
        </p:nvSpPr>
        <p:spPr>
          <a:xfrm>
            <a:off x="2641364" y="7168562"/>
            <a:ext cx="0" cy="1315109"/>
          </a:xfrm>
          <a:prstGeom prst="line">
            <a:avLst/>
          </a:prstGeom>
          <a:ln w="47625" cap="rnd">
            <a:solidFill>
              <a:srgbClr val="404040"/>
            </a:solidFill>
            <a:prstDash val="sysDot"/>
            <a:headEnd type="none" w="sm" len="sm"/>
            <a:tailEnd type="none" w="sm" len="sm"/>
          </a:ln>
        </p:spPr>
      </p:sp>
      <p:sp>
        <p:nvSpPr>
          <p:cNvPr id="100" name="AutoShape 100"/>
          <p:cNvSpPr/>
          <p:nvPr/>
        </p:nvSpPr>
        <p:spPr>
          <a:xfrm>
            <a:off x="6163292" y="7168562"/>
            <a:ext cx="0" cy="1315109"/>
          </a:xfrm>
          <a:prstGeom prst="line">
            <a:avLst/>
          </a:prstGeom>
          <a:ln w="47625" cap="rnd">
            <a:solidFill>
              <a:srgbClr val="404040"/>
            </a:solidFill>
            <a:prstDash val="sysDot"/>
            <a:headEnd type="none" w="sm" len="sm"/>
            <a:tailEnd type="none" w="sm" len="sm"/>
          </a:ln>
        </p:spPr>
      </p:sp>
      <p:sp>
        <p:nvSpPr>
          <p:cNvPr id="101" name="AutoShape 101"/>
          <p:cNvSpPr/>
          <p:nvPr/>
        </p:nvSpPr>
        <p:spPr>
          <a:xfrm>
            <a:off x="9730734" y="7168562"/>
            <a:ext cx="0" cy="1315109"/>
          </a:xfrm>
          <a:prstGeom prst="line">
            <a:avLst/>
          </a:prstGeom>
          <a:ln w="47625" cap="rnd">
            <a:solidFill>
              <a:srgbClr val="404040"/>
            </a:solidFill>
            <a:prstDash val="sysDot"/>
            <a:headEnd type="none" w="sm" len="sm"/>
            <a:tailEnd type="none" w="sm" len="sm"/>
          </a:ln>
        </p:spPr>
      </p:sp>
      <p:sp>
        <p:nvSpPr>
          <p:cNvPr id="102" name="AutoShape 102"/>
          <p:cNvSpPr/>
          <p:nvPr/>
        </p:nvSpPr>
        <p:spPr>
          <a:xfrm>
            <a:off x="13335432" y="7168562"/>
            <a:ext cx="0" cy="1315109"/>
          </a:xfrm>
          <a:prstGeom prst="line">
            <a:avLst/>
          </a:prstGeom>
          <a:ln w="47625" cap="rnd">
            <a:solidFill>
              <a:srgbClr val="404040"/>
            </a:solidFill>
            <a:prstDash val="sysDot"/>
            <a:headEnd type="none" w="sm" len="sm"/>
            <a:tailEnd type="none" w="sm" len="sm"/>
          </a:ln>
        </p:spPr>
      </p:sp>
      <p:sp>
        <p:nvSpPr>
          <p:cNvPr id="103" name="TextBox 103"/>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02</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336306" y="4713495"/>
            <a:ext cx="4438309" cy="384337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5840" r="-25839"/>
              </a:stretch>
            </a:blipFill>
            <a:ln cap="sq">
              <a:noFill/>
              <a:prstDash val="solid"/>
              <a:miter/>
            </a:ln>
          </p:spPr>
        </p:sp>
      </p:grpSp>
      <p:grpSp>
        <p:nvGrpSpPr>
          <p:cNvPr id="4" name="Group 4"/>
          <p:cNvGrpSpPr/>
          <p:nvPr/>
        </p:nvGrpSpPr>
        <p:grpSpPr>
          <a:xfrm rot="0">
            <a:off x="11849816" y="-503377"/>
            <a:ext cx="4438309" cy="384337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27067" r="-27067"/>
              </a:stretch>
            </a:blipFill>
            <a:ln cap="sq">
              <a:noFill/>
              <a:prstDash val="solid"/>
              <a:miter/>
            </a:ln>
          </p:spPr>
        </p:sp>
      </p:grpSp>
      <p:grpSp>
        <p:nvGrpSpPr>
          <p:cNvPr id="6" name="Group 6"/>
          <p:cNvGrpSpPr/>
          <p:nvPr/>
        </p:nvGrpSpPr>
        <p:grpSpPr>
          <a:xfrm rot="0">
            <a:off x="2148880" y="6635183"/>
            <a:ext cx="4438309" cy="3843376"/>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27220" r="-27220"/>
              </a:stretch>
            </a:blipFill>
            <a:ln cap="sq">
              <a:noFill/>
              <a:prstDash val="solid"/>
              <a:miter/>
            </a:ln>
          </p:spPr>
        </p:sp>
      </p:grpSp>
      <p:grpSp>
        <p:nvGrpSpPr>
          <p:cNvPr id="8" name="Group 8"/>
          <p:cNvGrpSpPr/>
          <p:nvPr/>
        </p:nvGrpSpPr>
        <p:grpSpPr>
          <a:xfrm rot="0">
            <a:off x="15286624" y="1580657"/>
            <a:ext cx="4438309" cy="3843376"/>
            <a:chOff x="0" y="0"/>
            <a:chExt cx="4282440" cy="3708400"/>
          </a:xfrm>
        </p:grpSpPr>
        <p:sp>
          <p:nvSpPr>
            <p:cNvPr id="9" name="Freeform 9"/>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t="-7739" b="-7739"/>
              </a:stretch>
            </a:blipFill>
            <a:ln cap="sq">
              <a:noFill/>
              <a:prstDash val="solid"/>
              <a:miter/>
            </a:ln>
          </p:spPr>
        </p:sp>
      </p:grpSp>
      <p:sp>
        <p:nvSpPr>
          <p:cNvPr id="10" name="Freeform 10"/>
          <p:cNvSpPr/>
          <p:nvPr/>
        </p:nvSpPr>
        <p:spPr>
          <a:xfrm rot="7221679">
            <a:off x="13024034" y="3459208"/>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7221679">
            <a:off x="-162088" y="8642196"/>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3578320">
            <a:off x="15807017" y="-1061105"/>
            <a:ext cx="2904567" cy="2513771"/>
          </a:xfrm>
          <a:custGeom>
            <a:avLst/>
            <a:gdLst/>
            <a:ahLst/>
            <a:cxnLst/>
            <a:rect l="l" t="t" r="r" b="b"/>
            <a:pathLst>
              <a:path w="2904567" h="2513771">
                <a:moveTo>
                  <a:pt x="0" y="0"/>
                </a:moveTo>
                <a:lnTo>
                  <a:pt x="2904566" y="0"/>
                </a:lnTo>
                <a:lnTo>
                  <a:pt x="2904566" y="2513771"/>
                </a:lnTo>
                <a:lnTo>
                  <a:pt x="0" y="25137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rot="-3578320">
            <a:off x="15343062" y="4603774"/>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TextBox 14"/>
          <p:cNvSpPr txBox="1"/>
          <p:nvPr/>
        </p:nvSpPr>
        <p:spPr>
          <a:xfrm>
            <a:off x="0" y="631368"/>
            <a:ext cx="12066767" cy="1395631"/>
          </a:xfrm>
          <a:prstGeom prst="rect">
            <a:avLst/>
          </a:prstGeom>
        </p:spPr>
        <p:txBody>
          <a:bodyPr lIns="0" tIns="0" rIns="0" bIns="0" rtlCol="0" anchor="t">
            <a:spAutoFit/>
          </a:bodyPr>
          <a:lstStyle/>
          <a:p>
            <a:pPr marL="0" lvl="1" indent="0" algn="ctr">
              <a:lnSpc>
                <a:spcPts val="5305"/>
              </a:lnSpc>
            </a:pPr>
            <a:r>
              <a:rPr lang="en-US" sz="5765" b="1" spc="161">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3. QUEL EST LE LIEN ENTRE LE BIG DATA ET LE CLOUD COMPUTING ?</a:t>
            </a:r>
            <a:endParaRPr lang="en-US" sz="5765" b="1" spc="161">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sp>
        <p:nvSpPr>
          <p:cNvPr id="15" name="TextBox 15"/>
          <p:cNvSpPr txBox="1"/>
          <p:nvPr/>
        </p:nvSpPr>
        <p:spPr>
          <a:xfrm>
            <a:off x="446584" y="3378099"/>
            <a:ext cx="12800432" cy="1063536"/>
          </a:xfrm>
          <a:prstGeom prst="rect">
            <a:avLst/>
          </a:prstGeom>
        </p:spPr>
        <p:txBody>
          <a:bodyPr lIns="0" tIns="0" rIns="0" bIns="0" rtlCol="0" anchor="t">
            <a:spAutoFit/>
          </a:bodyPr>
          <a:lstStyle/>
          <a:p>
            <a:pPr algn="ctr">
              <a:lnSpc>
                <a:spcPts val="4215"/>
              </a:lnSpc>
            </a:pPr>
            <a:r>
              <a:rPr lang="en-US" sz="3940" spc="110">
                <a:solidFill>
                  <a:srgbClr val="000000"/>
                </a:solidFill>
                <a:latin typeface="Barlow Condensed" panose="00000506000000000000"/>
                <a:ea typeface="Barlow Condensed" panose="00000506000000000000"/>
                <a:cs typeface="Barlow Condensed" panose="00000506000000000000"/>
                <a:sym typeface="Barlow Condensed" panose="00000506000000000000"/>
              </a:rPr>
              <a:t>- </a:t>
            </a:r>
            <a:r>
              <a:rPr lang="en-US" sz="3940" b="1" spc="110">
                <a:solidFill>
                  <a:srgbClr val="000000"/>
                </a:solidFill>
                <a:latin typeface="Barlow Condensed Bold" panose="00000806000000000000"/>
                <a:ea typeface="Barlow Condensed Bold" panose="00000806000000000000"/>
                <a:cs typeface="Barlow Condensed Bold" panose="00000806000000000000"/>
                <a:sym typeface="Barlow Condensed Bold" panose="00000806000000000000"/>
              </a:rPr>
              <a:t>Le Big Data</a:t>
            </a:r>
            <a:r>
              <a:rPr lang="en-US" sz="3940" spc="110">
                <a:solidFill>
                  <a:srgbClr val="000000"/>
                </a:solidFill>
                <a:latin typeface="Barlow Condensed" panose="00000506000000000000"/>
                <a:ea typeface="Barlow Condensed" panose="00000506000000000000"/>
                <a:cs typeface="Barlow Condensed" panose="00000506000000000000"/>
                <a:sym typeface="Barlow Condensed" panose="00000506000000000000"/>
              </a:rPr>
              <a:t> crée le besoin et l’opportunité du cloud computing  </a:t>
            </a:r>
            <a:endParaRPr lang="en-US" sz="3940" spc="110">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a:p>
            <a:pPr marL="0" lvl="1" indent="0" algn="ctr">
              <a:lnSpc>
                <a:spcPts val="4000"/>
              </a:lnSpc>
              <a:spcBef>
                <a:spcPct val="0"/>
              </a:spcBef>
            </a:pPr>
          </a:p>
        </p:txBody>
      </p:sp>
      <p:sp>
        <p:nvSpPr>
          <p:cNvPr id="16" name="TextBox 16"/>
          <p:cNvSpPr txBox="1"/>
          <p:nvPr/>
        </p:nvSpPr>
        <p:spPr>
          <a:xfrm>
            <a:off x="5944097" y="7188383"/>
            <a:ext cx="11811437" cy="560680"/>
          </a:xfrm>
          <a:prstGeom prst="rect">
            <a:avLst/>
          </a:prstGeom>
        </p:spPr>
        <p:txBody>
          <a:bodyPr lIns="0" tIns="0" rIns="0" bIns="0" rtlCol="0" anchor="t">
            <a:spAutoFit/>
          </a:bodyPr>
          <a:lstStyle/>
          <a:p>
            <a:pPr marL="0" lvl="1" indent="0" algn="ctr">
              <a:lnSpc>
                <a:spcPts val="4235"/>
              </a:lnSpc>
              <a:spcBef>
                <a:spcPct val="0"/>
              </a:spcBef>
            </a:pPr>
            <a:r>
              <a:rPr lang="en-US" sz="3960" spc="110">
                <a:solidFill>
                  <a:srgbClr val="000000"/>
                </a:solidFill>
                <a:latin typeface="Barlow Condensed" panose="00000506000000000000"/>
                <a:ea typeface="Barlow Condensed" panose="00000506000000000000"/>
                <a:cs typeface="Barlow Condensed" panose="00000506000000000000"/>
                <a:sym typeface="Barlow Condensed" panose="00000506000000000000"/>
              </a:rPr>
              <a:t>-</a:t>
            </a:r>
            <a:r>
              <a:rPr lang="en-US" sz="3960" b="1" spc="110">
                <a:solidFill>
                  <a:srgbClr val="000000"/>
                </a:solidFill>
                <a:latin typeface="Barlow Condensed Bold" panose="00000806000000000000"/>
                <a:ea typeface="Barlow Condensed Bold" panose="00000806000000000000"/>
                <a:cs typeface="Barlow Condensed Bold" panose="00000806000000000000"/>
                <a:sym typeface="Barlow Condensed Bold" panose="00000806000000000000"/>
              </a:rPr>
              <a:t>Le cloud computing</a:t>
            </a:r>
            <a:r>
              <a:rPr lang="en-US" sz="3960" spc="110">
                <a:solidFill>
                  <a:srgbClr val="000000"/>
                </a:solidFill>
                <a:latin typeface="Barlow Condensed" panose="00000506000000000000"/>
                <a:ea typeface="Barlow Condensed" panose="00000506000000000000"/>
                <a:cs typeface="Barlow Condensed" panose="00000506000000000000"/>
                <a:sym typeface="Barlow Condensed" panose="00000506000000000000"/>
              </a:rPr>
              <a:t> facilite et prend en charge le Big data</a:t>
            </a:r>
            <a:endParaRPr lang="en-US" sz="3960" spc="110">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p:txBody>
      </p:sp>
      <p:sp>
        <p:nvSpPr>
          <p:cNvPr id="17" name="TextBox 17"/>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03</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221679">
            <a:off x="-127424" y="2042488"/>
            <a:ext cx="7262896" cy="6285707"/>
          </a:xfrm>
          <a:custGeom>
            <a:avLst/>
            <a:gdLst/>
            <a:ahLst/>
            <a:cxnLst/>
            <a:rect l="l" t="t" r="r" b="b"/>
            <a:pathLst>
              <a:path w="7262896" h="6285707">
                <a:moveTo>
                  <a:pt x="0" y="0"/>
                </a:moveTo>
                <a:lnTo>
                  <a:pt x="7262897" y="0"/>
                </a:lnTo>
                <a:lnTo>
                  <a:pt x="7262897" y="6285707"/>
                </a:lnTo>
                <a:lnTo>
                  <a:pt x="0" y="628570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7221679">
            <a:off x="5540799" y="5224978"/>
            <a:ext cx="7262896" cy="6285707"/>
          </a:xfrm>
          <a:custGeom>
            <a:avLst/>
            <a:gdLst/>
            <a:ahLst/>
            <a:cxnLst/>
            <a:rect l="l" t="t" r="r" b="b"/>
            <a:pathLst>
              <a:path w="7262896" h="6285707">
                <a:moveTo>
                  <a:pt x="0" y="0"/>
                </a:moveTo>
                <a:lnTo>
                  <a:pt x="7262896" y="0"/>
                </a:lnTo>
                <a:lnTo>
                  <a:pt x="7262896" y="6285707"/>
                </a:lnTo>
                <a:lnTo>
                  <a:pt x="0" y="62857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7221679">
            <a:off x="5540799" y="-1204425"/>
            <a:ext cx="7262896" cy="6285707"/>
          </a:xfrm>
          <a:custGeom>
            <a:avLst/>
            <a:gdLst/>
            <a:ahLst/>
            <a:cxnLst/>
            <a:rect l="l" t="t" r="r" b="b"/>
            <a:pathLst>
              <a:path w="7262896" h="6285707">
                <a:moveTo>
                  <a:pt x="0" y="0"/>
                </a:moveTo>
                <a:lnTo>
                  <a:pt x="7262896" y="0"/>
                </a:lnTo>
                <a:lnTo>
                  <a:pt x="7262896" y="6285706"/>
                </a:lnTo>
                <a:lnTo>
                  <a:pt x="0" y="62857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7221679">
            <a:off x="11152527" y="2042488"/>
            <a:ext cx="7262896" cy="6285707"/>
          </a:xfrm>
          <a:custGeom>
            <a:avLst/>
            <a:gdLst/>
            <a:ahLst/>
            <a:cxnLst/>
            <a:rect l="l" t="t" r="r" b="b"/>
            <a:pathLst>
              <a:path w="7262896" h="6285707">
                <a:moveTo>
                  <a:pt x="0" y="0"/>
                </a:moveTo>
                <a:lnTo>
                  <a:pt x="7262897" y="0"/>
                </a:lnTo>
                <a:lnTo>
                  <a:pt x="7262897" y="6285707"/>
                </a:lnTo>
                <a:lnTo>
                  <a:pt x="0" y="62857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7221679">
            <a:off x="-677795" y="8402657"/>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7221679">
            <a:off x="16059714" y="-570679"/>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rot="-3578320">
            <a:off x="1619059" y="7116835"/>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rot="-3578320">
            <a:off x="13684513" y="681543"/>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rot="-3578320">
            <a:off x="15967228" y="2137176"/>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1" name="Freeform 11"/>
          <p:cNvSpPr/>
          <p:nvPr/>
        </p:nvSpPr>
        <p:spPr>
          <a:xfrm rot="-3578320">
            <a:off x="-684556" y="5784649"/>
            <a:ext cx="2904567" cy="2513771"/>
          </a:xfrm>
          <a:custGeom>
            <a:avLst/>
            <a:gdLst/>
            <a:ahLst/>
            <a:cxnLst/>
            <a:rect l="l" t="t" r="r" b="b"/>
            <a:pathLst>
              <a:path w="2904567" h="2513771">
                <a:moveTo>
                  <a:pt x="0" y="0"/>
                </a:moveTo>
                <a:lnTo>
                  <a:pt x="2904566" y="0"/>
                </a:lnTo>
                <a:lnTo>
                  <a:pt x="2904566" y="2513771"/>
                </a:lnTo>
                <a:lnTo>
                  <a:pt x="0" y="251377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2" name="Freeform 12"/>
          <p:cNvSpPr/>
          <p:nvPr/>
        </p:nvSpPr>
        <p:spPr>
          <a:xfrm>
            <a:off x="2570304" y="4913692"/>
            <a:ext cx="3599004" cy="1240388"/>
          </a:xfrm>
          <a:custGeom>
            <a:avLst/>
            <a:gdLst/>
            <a:ahLst/>
            <a:cxnLst/>
            <a:rect l="l" t="t" r="r" b="b"/>
            <a:pathLst>
              <a:path w="3599004" h="1240388">
                <a:moveTo>
                  <a:pt x="0" y="0"/>
                </a:moveTo>
                <a:lnTo>
                  <a:pt x="3599005" y="0"/>
                </a:lnTo>
                <a:lnTo>
                  <a:pt x="3599005" y="1240387"/>
                </a:lnTo>
                <a:lnTo>
                  <a:pt x="0" y="1240387"/>
                </a:lnTo>
                <a:lnTo>
                  <a:pt x="0" y="0"/>
                </a:lnTo>
                <a:close/>
              </a:path>
            </a:pathLst>
          </a:custGeom>
          <a:blipFill>
            <a:blip r:embed="rId19"/>
            <a:stretch>
              <a:fillRect/>
            </a:stretch>
          </a:blipFill>
        </p:spPr>
      </p:sp>
      <p:sp>
        <p:nvSpPr>
          <p:cNvPr id="13" name="Freeform 13"/>
          <p:cNvSpPr/>
          <p:nvPr/>
        </p:nvSpPr>
        <p:spPr>
          <a:xfrm>
            <a:off x="1252774" y="5929194"/>
            <a:ext cx="4465330" cy="1843249"/>
          </a:xfrm>
          <a:custGeom>
            <a:avLst/>
            <a:gdLst/>
            <a:ahLst/>
            <a:cxnLst/>
            <a:rect l="l" t="t" r="r" b="b"/>
            <a:pathLst>
              <a:path w="4465330" h="1843249">
                <a:moveTo>
                  <a:pt x="0" y="0"/>
                </a:moveTo>
                <a:lnTo>
                  <a:pt x="4465330" y="0"/>
                </a:lnTo>
                <a:lnTo>
                  <a:pt x="4465330" y="1843249"/>
                </a:lnTo>
                <a:lnTo>
                  <a:pt x="0" y="1843249"/>
                </a:lnTo>
                <a:lnTo>
                  <a:pt x="0" y="0"/>
                </a:lnTo>
                <a:close/>
              </a:path>
            </a:pathLst>
          </a:custGeom>
          <a:blipFill>
            <a:blip r:embed="rId20"/>
            <a:stretch>
              <a:fillRect t="-10563" b="-10563"/>
            </a:stretch>
          </a:blipFill>
        </p:spPr>
      </p:sp>
      <p:sp>
        <p:nvSpPr>
          <p:cNvPr id="14" name="Freeform 14"/>
          <p:cNvSpPr/>
          <p:nvPr/>
        </p:nvSpPr>
        <p:spPr>
          <a:xfrm>
            <a:off x="6169309" y="1895672"/>
            <a:ext cx="2586296" cy="1344874"/>
          </a:xfrm>
          <a:custGeom>
            <a:avLst/>
            <a:gdLst/>
            <a:ahLst/>
            <a:cxnLst/>
            <a:rect l="l" t="t" r="r" b="b"/>
            <a:pathLst>
              <a:path w="2586296" h="1344874">
                <a:moveTo>
                  <a:pt x="0" y="0"/>
                </a:moveTo>
                <a:lnTo>
                  <a:pt x="2586295" y="0"/>
                </a:lnTo>
                <a:lnTo>
                  <a:pt x="2586295" y="1344874"/>
                </a:lnTo>
                <a:lnTo>
                  <a:pt x="0" y="1344874"/>
                </a:lnTo>
                <a:lnTo>
                  <a:pt x="0" y="0"/>
                </a:lnTo>
                <a:close/>
              </a:path>
            </a:pathLst>
          </a:custGeom>
          <a:blipFill>
            <a:blip r:embed="rId21"/>
            <a:stretch>
              <a:fillRect/>
            </a:stretch>
          </a:blipFill>
        </p:spPr>
      </p:sp>
      <p:sp>
        <p:nvSpPr>
          <p:cNvPr id="15" name="Freeform 15"/>
          <p:cNvSpPr/>
          <p:nvPr/>
        </p:nvSpPr>
        <p:spPr>
          <a:xfrm>
            <a:off x="8800054" y="2794771"/>
            <a:ext cx="2372293" cy="1882772"/>
          </a:xfrm>
          <a:custGeom>
            <a:avLst/>
            <a:gdLst/>
            <a:ahLst/>
            <a:cxnLst/>
            <a:rect l="l" t="t" r="r" b="b"/>
            <a:pathLst>
              <a:path w="2372293" h="1882772">
                <a:moveTo>
                  <a:pt x="0" y="0"/>
                </a:moveTo>
                <a:lnTo>
                  <a:pt x="2372293" y="0"/>
                </a:lnTo>
                <a:lnTo>
                  <a:pt x="2372293" y="1882772"/>
                </a:lnTo>
                <a:lnTo>
                  <a:pt x="0" y="1882772"/>
                </a:lnTo>
                <a:lnTo>
                  <a:pt x="0" y="0"/>
                </a:lnTo>
                <a:close/>
              </a:path>
            </a:pathLst>
          </a:custGeom>
          <a:blipFill>
            <a:blip r:embed="rId22"/>
            <a:stretch>
              <a:fillRect/>
            </a:stretch>
          </a:blipFill>
        </p:spPr>
      </p:sp>
      <p:sp>
        <p:nvSpPr>
          <p:cNvPr id="16" name="Freeform 16"/>
          <p:cNvSpPr/>
          <p:nvPr/>
        </p:nvSpPr>
        <p:spPr>
          <a:xfrm>
            <a:off x="8253223" y="7436746"/>
            <a:ext cx="3254078" cy="1270674"/>
          </a:xfrm>
          <a:custGeom>
            <a:avLst/>
            <a:gdLst/>
            <a:ahLst/>
            <a:cxnLst/>
            <a:rect l="l" t="t" r="r" b="b"/>
            <a:pathLst>
              <a:path w="3254078" h="1270674">
                <a:moveTo>
                  <a:pt x="0" y="0"/>
                </a:moveTo>
                <a:lnTo>
                  <a:pt x="3254078" y="0"/>
                </a:lnTo>
                <a:lnTo>
                  <a:pt x="3254078" y="1270673"/>
                </a:lnTo>
                <a:lnTo>
                  <a:pt x="0" y="1270673"/>
                </a:lnTo>
                <a:lnTo>
                  <a:pt x="0" y="0"/>
                </a:lnTo>
                <a:close/>
              </a:path>
            </a:pathLst>
          </a:custGeom>
          <a:blipFill>
            <a:blip r:embed="rId23"/>
            <a:stretch>
              <a:fillRect t="-14022" b="-14022"/>
            </a:stretch>
          </a:blipFill>
        </p:spPr>
      </p:sp>
      <p:sp>
        <p:nvSpPr>
          <p:cNvPr id="17" name="Freeform 17"/>
          <p:cNvSpPr/>
          <p:nvPr/>
        </p:nvSpPr>
        <p:spPr>
          <a:xfrm>
            <a:off x="6717625" y="8707419"/>
            <a:ext cx="3071197" cy="1374588"/>
          </a:xfrm>
          <a:custGeom>
            <a:avLst/>
            <a:gdLst/>
            <a:ahLst/>
            <a:cxnLst/>
            <a:rect l="l" t="t" r="r" b="b"/>
            <a:pathLst>
              <a:path w="3071197" h="1374588">
                <a:moveTo>
                  <a:pt x="0" y="0"/>
                </a:moveTo>
                <a:lnTo>
                  <a:pt x="3071197" y="0"/>
                </a:lnTo>
                <a:lnTo>
                  <a:pt x="3071197" y="1374589"/>
                </a:lnTo>
                <a:lnTo>
                  <a:pt x="0" y="1374589"/>
                </a:lnTo>
                <a:lnTo>
                  <a:pt x="0" y="0"/>
                </a:lnTo>
                <a:close/>
              </a:path>
            </a:pathLst>
          </a:custGeom>
          <a:blipFill>
            <a:blip r:embed="rId24"/>
            <a:stretch>
              <a:fillRect t="-12559" b="-12559"/>
            </a:stretch>
          </a:blipFill>
        </p:spPr>
      </p:sp>
      <p:sp>
        <p:nvSpPr>
          <p:cNvPr id="18" name="Freeform 18"/>
          <p:cNvSpPr/>
          <p:nvPr/>
        </p:nvSpPr>
        <p:spPr>
          <a:xfrm>
            <a:off x="13198892" y="5779939"/>
            <a:ext cx="3170167" cy="1410754"/>
          </a:xfrm>
          <a:custGeom>
            <a:avLst/>
            <a:gdLst/>
            <a:ahLst/>
            <a:cxnLst/>
            <a:rect l="l" t="t" r="r" b="b"/>
            <a:pathLst>
              <a:path w="3170167" h="1410754">
                <a:moveTo>
                  <a:pt x="0" y="0"/>
                </a:moveTo>
                <a:lnTo>
                  <a:pt x="3170167" y="0"/>
                </a:lnTo>
                <a:lnTo>
                  <a:pt x="3170167" y="1410754"/>
                </a:lnTo>
                <a:lnTo>
                  <a:pt x="0" y="1410754"/>
                </a:lnTo>
                <a:lnTo>
                  <a:pt x="0" y="0"/>
                </a:lnTo>
                <a:close/>
              </a:path>
            </a:pathLst>
          </a:custGeom>
          <a:blipFill>
            <a:blip r:embed="rId25"/>
            <a:stretch>
              <a:fillRect t="-24497" b="-24497"/>
            </a:stretch>
          </a:blipFill>
        </p:spPr>
      </p:sp>
      <p:sp>
        <p:nvSpPr>
          <p:cNvPr id="19" name="TextBox 19"/>
          <p:cNvSpPr txBox="1"/>
          <p:nvPr/>
        </p:nvSpPr>
        <p:spPr>
          <a:xfrm>
            <a:off x="6559572" y="5724386"/>
            <a:ext cx="5168856" cy="1712360"/>
          </a:xfrm>
          <a:prstGeom prst="rect">
            <a:avLst/>
          </a:prstGeom>
        </p:spPr>
        <p:txBody>
          <a:bodyPr lIns="0" tIns="0" rIns="0" bIns="0" rtlCol="0" anchor="t">
            <a:spAutoFit/>
          </a:bodyPr>
          <a:lstStyle/>
          <a:p>
            <a:pPr marL="0" lvl="1" indent="0" algn="ctr">
              <a:lnSpc>
                <a:spcPts val="6535"/>
              </a:lnSpc>
            </a:pPr>
            <a:r>
              <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SERVICES D'ANALYSE</a:t>
            </a:r>
            <a:endPar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20" name="TextBox 20"/>
          <p:cNvSpPr txBox="1"/>
          <p:nvPr/>
        </p:nvSpPr>
        <p:spPr>
          <a:xfrm>
            <a:off x="6446384" y="633174"/>
            <a:ext cx="5395232" cy="1305254"/>
          </a:xfrm>
          <a:prstGeom prst="rect">
            <a:avLst/>
          </a:prstGeom>
        </p:spPr>
        <p:txBody>
          <a:bodyPr lIns="0" tIns="0" rIns="0" bIns="0" rtlCol="0" anchor="t">
            <a:spAutoFit/>
          </a:bodyPr>
          <a:lstStyle/>
          <a:p>
            <a:pPr marL="0" lvl="1" indent="0" algn="ctr">
              <a:lnSpc>
                <a:spcPts val="4975"/>
              </a:lnSpc>
            </a:pPr>
            <a:r>
              <a:rPr lang="en-US" sz="5405" b="1" spc="151">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SERVICES DU TRAITEMENT </a:t>
            </a:r>
            <a:endParaRPr lang="en-US" sz="5405" b="1" spc="151">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21" name="TextBox 21"/>
          <p:cNvSpPr txBox="1"/>
          <p:nvPr/>
        </p:nvSpPr>
        <p:spPr>
          <a:xfrm>
            <a:off x="981075" y="2985271"/>
            <a:ext cx="5140609" cy="1712360"/>
          </a:xfrm>
          <a:prstGeom prst="rect">
            <a:avLst/>
          </a:prstGeom>
        </p:spPr>
        <p:txBody>
          <a:bodyPr lIns="0" tIns="0" rIns="0" bIns="0" rtlCol="0" anchor="t">
            <a:spAutoFit/>
          </a:bodyPr>
          <a:lstStyle/>
          <a:p>
            <a:pPr marL="0" lvl="1" indent="0" algn="ctr">
              <a:lnSpc>
                <a:spcPts val="6535"/>
              </a:lnSpc>
            </a:pPr>
            <a:r>
              <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SERVICES DE STOCKAGE</a:t>
            </a:r>
            <a:endPar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22" name="TextBox 22"/>
          <p:cNvSpPr txBox="1"/>
          <p:nvPr/>
        </p:nvSpPr>
        <p:spPr>
          <a:xfrm>
            <a:off x="11921028" y="3727436"/>
            <a:ext cx="5915854" cy="1712360"/>
          </a:xfrm>
          <a:prstGeom prst="rect">
            <a:avLst/>
          </a:prstGeom>
        </p:spPr>
        <p:txBody>
          <a:bodyPr lIns="0" tIns="0" rIns="0" bIns="0" rtlCol="0" anchor="t">
            <a:spAutoFit/>
          </a:bodyPr>
          <a:lstStyle/>
          <a:p>
            <a:pPr marL="0" lvl="1" indent="0" algn="ctr">
              <a:lnSpc>
                <a:spcPts val="6535"/>
              </a:lnSpc>
            </a:pPr>
            <a:r>
              <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SERVICES VISUALISATION</a:t>
            </a:r>
            <a:endParaRPr lang="en-US" sz="7105" b="1" spc="19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23" name="TextBox 23"/>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04</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578320">
            <a:off x="6418642" y="-485952"/>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829225" y="3151321"/>
            <a:ext cx="12264067" cy="2517935"/>
          </a:xfrm>
          <a:prstGeom prst="rect">
            <a:avLst/>
          </a:prstGeom>
        </p:spPr>
        <p:txBody>
          <a:bodyPr lIns="0" tIns="0" rIns="0" bIns="0" rtlCol="0" anchor="t">
            <a:spAutoFit/>
          </a:bodyPr>
          <a:lstStyle/>
          <a:p>
            <a:pPr marL="0" lvl="1" indent="0" algn="ctr">
              <a:lnSpc>
                <a:spcPts val="6495"/>
              </a:lnSpc>
            </a:pPr>
            <a:r>
              <a:rPr lang="en-US" sz="7060" b="1" spc="197">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DÉFIS ET OPPORTUNITÉS DE L'ANALYSE DU BIG DATA DANS LE CLOUD</a:t>
            </a:r>
            <a:endParaRPr lang="en-US" sz="7060" b="1" spc="197">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grpSp>
        <p:nvGrpSpPr>
          <p:cNvPr id="4" name="Group 4"/>
          <p:cNvGrpSpPr/>
          <p:nvPr/>
        </p:nvGrpSpPr>
        <p:grpSpPr>
          <a:xfrm rot="0">
            <a:off x="1636232" y="4116171"/>
            <a:ext cx="4687407" cy="4059083"/>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t="-7739" b="-7739"/>
              </a:stretch>
            </a:blipFill>
            <a:ln cap="sq">
              <a:noFill/>
              <a:prstDash val="solid"/>
              <a:miter/>
            </a:ln>
          </p:spPr>
        </p:sp>
      </p:grpSp>
      <p:grpSp>
        <p:nvGrpSpPr>
          <p:cNvPr id="6" name="Group 6"/>
          <p:cNvGrpSpPr/>
          <p:nvPr/>
        </p:nvGrpSpPr>
        <p:grpSpPr>
          <a:xfrm rot="0">
            <a:off x="-1011345" y="895358"/>
            <a:ext cx="4449951" cy="3853457"/>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27317" r="-27317"/>
              </a:stretch>
            </a:blipFill>
            <a:ln cap="sq">
              <a:noFill/>
              <a:prstDash val="solid"/>
              <a:miter/>
            </a:ln>
          </p:spPr>
        </p:sp>
      </p:grpSp>
      <p:sp>
        <p:nvSpPr>
          <p:cNvPr id="8" name="Freeform 8"/>
          <p:cNvSpPr/>
          <p:nvPr/>
        </p:nvSpPr>
        <p:spPr>
          <a:xfrm rot="-3578320">
            <a:off x="4005792" y="9499691"/>
            <a:ext cx="2656890" cy="2299417"/>
          </a:xfrm>
          <a:custGeom>
            <a:avLst/>
            <a:gdLst/>
            <a:ahLst/>
            <a:cxnLst/>
            <a:rect l="l" t="t" r="r" b="b"/>
            <a:pathLst>
              <a:path w="2656890" h="2299417">
                <a:moveTo>
                  <a:pt x="0" y="0"/>
                </a:moveTo>
                <a:lnTo>
                  <a:pt x="2656890" y="0"/>
                </a:lnTo>
                <a:lnTo>
                  <a:pt x="2656890" y="2299418"/>
                </a:lnTo>
                <a:lnTo>
                  <a:pt x="0" y="22994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3578320">
            <a:off x="-831041" y="4202547"/>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rot="-3578320">
            <a:off x="1967734" y="8073420"/>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p:cNvSpPr/>
          <p:nvPr/>
        </p:nvSpPr>
        <p:spPr>
          <a:xfrm rot="7221679">
            <a:off x="4128194" y="7131478"/>
            <a:ext cx="2412087" cy="2087552"/>
          </a:xfrm>
          <a:custGeom>
            <a:avLst/>
            <a:gdLst/>
            <a:ahLst/>
            <a:cxnLst/>
            <a:rect l="l" t="t" r="r" b="b"/>
            <a:pathLst>
              <a:path w="2412087" h="2087552">
                <a:moveTo>
                  <a:pt x="0" y="0"/>
                </a:moveTo>
                <a:lnTo>
                  <a:pt x="2412087" y="0"/>
                </a:lnTo>
                <a:lnTo>
                  <a:pt x="2412087" y="2087551"/>
                </a:lnTo>
                <a:lnTo>
                  <a:pt x="0" y="20875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Freeform 12"/>
          <p:cNvSpPr/>
          <p:nvPr/>
        </p:nvSpPr>
        <p:spPr>
          <a:xfrm rot="5458650">
            <a:off x="1336797" y="-344741"/>
            <a:ext cx="2656890" cy="2299417"/>
          </a:xfrm>
          <a:custGeom>
            <a:avLst/>
            <a:gdLst/>
            <a:ahLst/>
            <a:cxnLst/>
            <a:rect l="l" t="t" r="r" b="b"/>
            <a:pathLst>
              <a:path w="2656890" h="2299417">
                <a:moveTo>
                  <a:pt x="0" y="0"/>
                </a:moveTo>
                <a:lnTo>
                  <a:pt x="2656889" y="0"/>
                </a:lnTo>
                <a:lnTo>
                  <a:pt x="2656889" y="2299418"/>
                </a:lnTo>
                <a:lnTo>
                  <a:pt x="0" y="22994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rot="5458650">
            <a:off x="3786098" y="-190286"/>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Freeform 14"/>
          <p:cNvSpPr/>
          <p:nvPr/>
        </p:nvSpPr>
        <p:spPr>
          <a:xfrm rot="-5341349">
            <a:off x="2673157" y="1917045"/>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5" name="Group 15"/>
          <p:cNvGrpSpPr/>
          <p:nvPr/>
        </p:nvGrpSpPr>
        <p:grpSpPr>
          <a:xfrm rot="0">
            <a:off x="-1485377" y="6470443"/>
            <a:ext cx="3937412" cy="3409622"/>
            <a:chOff x="0" y="0"/>
            <a:chExt cx="4282440" cy="3708400"/>
          </a:xfrm>
        </p:grpSpPr>
        <p:sp>
          <p:nvSpPr>
            <p:cNvPr id="16" name="Freeform 16"/>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3"/>
              <a:stretch>
                <a:fillRect l="-1957" r="-1957"/>
              </a:stretch>
            </a:blipFill>
            <a:ln cap="sq">
              <a:noFill/>
              <a:prstDash val="solid"/>
              <a:miter/>
            </a:ln>
          </p:spPr>
        </p:sp>
      </p:grpSp>
      <p:sp>
        <p:nvSpPr>
          <p:cNvPr id="17" name="TextBox 17"/>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05</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7971775" y="159831"/>
            <a:ext cx="3284690" cy="32846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CBBD"/>
            </a:solidFill>
            <a:ln cap="sq">
              <a:no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5" name="Group 5"/>
          <p:cNvGrpSpPr/>
          <p:nvPr/>
        </p:nvGrpSpPr>
        <p:grpSpPr>
          <a:xfrm rot="0">
            <a:off x="11440704" y="2678092"/>
            <a:ext cx="3284690" cy="32846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A4A4"/>
            </a:solidFill>
            <a:ln cap="sq">
              <a:no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8" name="Group 8"/>
          <p:cNvGrpSpPr/>
          <p:nvPr/>
        </p:nvGrpSpPr>
        <p:grpSpPr>
          <a:xfrm rot="0">
            <a:off x="4579914" y="2678092"/>
            <a:ext cx="3284690" cy="328469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F8C"/>
            </a:solidFill>
            <a:ln cap="sq">
              <a:noFill/>
              <a:prstDash val="solid"/>
              <a:miter/>
            </a:ln>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11" name="Group 11"/>
          <p:cNvGrpSpPr/>
          <p:nvPr/>
        </p:nvGrpSpPr>
        <p:grpSpPr>
          <a:xfrm rot="0">
            <a:off x="10116904" y="6821953"/>
            <a:ext cx="3284690" cy="328469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B488"/>
            </a:solidFill>
            <a:ln cap="sq">
              <a:noFill/>
              <a:prstDash val="solid"/>
              <a:miter/>
            </a:ln>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14" name="Group 14"/>
          <p:cNvGrpSpPr/>
          <p:nvPr/>
        </p:nvGrpSpPr>
        <p:grpSpPr>
          <a:xfrm rot="0">
            <a:off x="5826647" y="6821953"/>
            <a:ext cx="3284690" cy="328469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B2CB"/>
            </a:solidFill>
            <a:ln cap="sq">
              <a:noFill/>
              <a:prstDash val="solid"/>
              <a:miter/>
            </a:ln>
          </p:spPr>
        </p:sp>
        <p:sp>
          <p:nvSpPr>
            <p:cNvPr id="16" name="TextBox 16"/>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17" name="Group 17"/>
          <p:cNvGrpSpPr/>
          <p:nvPr/>
        </p:nvGrpSpPr>
        <p:grpSpPr>
          <a:xfrm rot="0">
            <a:off x="6002976" y="1522093"/>
            <a:ext cx="7222288" cy="72222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812800" y="310462"/>
                  </a:lnTo>
                  <a:lnTo>
                    <a:pt x="657569" y="812800"/>
                  </a:lnTo>
                  <a:lnTo>
                    <a:pt x="155231" y="812800"/>
                  </a:lnTo>
                  <a:lnTo>
                    <a:pt x="0" y="310462"/>
                  </a:lnTo>
                  <a:lnTo>
                    <a:pt x="406400" y="0"/>
                  </a:lnTo>
                  <a:close/>
                </a:path>
              </a:pathLst>
            </a:custGeom>
            <a:solidFill>
              <a:srgbClr val="EDF6F6"/>
            </a:solidFill>
            <a:ln cap="sq">
              <a:noFill/>
              <a:prstDash val="solid"/>
              <a:miter/>
            </a:ln>
          </p:spPr>
        </p:sp>
        <p:sp>
          <p:nvSpPr>
            <p:cNvPr id="19" name="TextBox 19"/>
            <p:cNvSpPr txBox="1"/>
            <p:nvPr/>
          </p:nvSpPr>
          <p:spPr>
            <a:xfrm>
              <a:off x="127000" y="174625"/>
              <a:ext cx="558800" cy="587375"/>
            </a:xfrm>
            <a:prstGeom prst="rect">
              <a:avLst/>
            </a:prstGeom>
          </p:spPr>
          <p:txBody>
            <a:bodyPr lIns="50800" tIns="50800" rIns="50800" bIns="50800" rtlCol="0" anchor="ctr"/>
            <a:lstStyle/>
            <a:p>
              <a:pPr algn="ctr">
                <a:lnSpc>
                  <a:spcPts val="1960"/>
                </a:lnSpc>
                <a:spcBef>
                  <a:spcPct val="0"/>
                </a:spcBef>
              </a:pPr>
            </a:p>
          </p:txBody>
        </p:sp>
      </p:grpSp>
      <p:sp>
        <p:nvSpPr>
          <p:cNvPr id="20" name="Freeform 20"/>
          <p:cNvSpPr/>
          <p:nvPr/>
        </p:nvSpPr>
        <p:spPr>
          <a:xfrm>
            <a:off x="11812850" y="3016825"/>
            <a:ext cx="2610486" cy="2607223"/>
          </a:xfrm>
          <a:custGeom>
            <a:avLst/>
            <a:gdLst/>
            <a:ahLst/>
            <a:cxnLst/>
            <a:rect l="l" t="t" r="r" b="b"/>
            <a:pathLst>
              <a:path w="2610486" h="2607223">
                <a:moveTo>
                  <a:pt x="0" y="0"/>
                </a:moveTo>
                <a:lnTo>
                  <a:pt x="2610485" y="0"/>
                </a:lnTo>
                <a:lnTo>
                  <a:pt x="2610485" y="2607223"/>
                </a:lnTo>
                <a:lnTo>
                  <a:pt x="0" y="2607223"/>
                </a:lnTo>
                <a:lnTo>
                  <a:pt x="0" y="0"/>
                </a:lnTo>
                <a:close/>
              </a:path>
            </a:pathLst>
          </a:custGeom>
          <a:blipFill>
            <a:blip r:embed="rId1">
              <a:alphaModFix amt="80000"/>
            </a:blip>
            <a:stretch>
              <a:fillRect/>
            </a:stretch>
          </a:blipFill>
        </p:spPr>
      </p:sp>
      <p:grpSp>
        <p:nvGrpSpPr>
          <p:cNvPr id="21" name="Group 21"/>
          <p:cNvGrpSpPr/>
          <p:nvPr/>
        </p:nvGrpSpPr>
        <p:grpSpPr>
          <a:xfrm rot="0">
            <a:off x="11908254" y="3145642"/>
            <a:ext cx="2349589" cy="234958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sp>
        <p:nvSpPr>
          <p:cNvPr id="24" name="Freeform 24"/>
          <p:cNvSpPr/>
          <p:nvPr/>
        </p:nvSpPr>
        <p:spPr>
          <a:xfrm>
            <a:off x="4917016" y="3016825"/>
            <a:ext cx="2610486" cy="2607223"/>
          </a:xfrm>
          <a:custGeom>
            <a:avLst/>
            <a:gdLst/>
            <a:ahLst/>
            <a:cxnLst/>
            <a:rect l="l" t="t" r="r" b="b"/>
            <a:pathLst>
              <a:path w="2610486" h="2607223">
                <a:moveTo>
                  <a:pt x="0" y="0"/>
                </a:moveTo>
                <a:lnTo>
                  <a:pt x="2610486" y="0"/>
                </a:lnTo>
                <a:lnTo>
                  <a:pt x="2610486" y="2607223"/>
                </a:lnTo>
                <a:lnTo>
                  <a:pt x="0" y="2607223"/>
                </a:lnTo>
                <a:lnTo>
                  <a:pt x="0" y="0"/>
                </a:lnTo>
                <a:close/>
              </a:path>
            </a:pathLst>
          </a:custGeom>
          <a:blipFill>
            <a:blip r:embed="rId1">
              <a:alphaModFix amt="80000"/>
            </a:blip>
            <a:stretch>
              <a:fillRect/>
            </a:stretch>
          </a:blipFill>
        </p:spPr>
      </p:sp>
      <p:grpSp>
        <p:nvGrpSpPr>
          <p:cNvPr id="25" name="Group 25"/>
          <p:cNvGrpSpPr/>
          <p:nvPr/>
        </p:nvGrpSpPr>
        <p:grpSpPr>
          <a:xfrm rot="0">
            <a:off x="5047464" y="3145642"/>
            <a:ext cx="2349589" cy="2349589"/>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id="27" name="TextBox 27"/>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sp>
        <p:nvSpPr>
          <p:cNvPr id="28" name="Freeform 28"/>
          <p:cNvSpPr/>
          <p:nvPr/>
        </p:nvSpPr>
        <p:spPr>
          <a:xfrm>
            <a:off x="6163749" y="7160686"/>
            <a:ext cx="2610486" cy="2607223"/>
          </a:xfrm>
          <a:custGeom>
            <a:avLst/>
            <a:gdLst/>
            <a:ahLst/>
            <a:cxnLst/>
            <a:rect l="l" t="t" r="r" b="b"/>
            <a:pathLst>
              <a:path w="2610486" h="2607223">
                <a:moveTo>
                  <a:pt x="0" y="0"/>
                </a:moveTo>
                <a:lnTo>
                  <a:pt x="2610485" y="0"/>
                </a:lnTo>
                <a:lnTo>
                  <a:pt x="2610485" y="2607223"/>
                </a:lnTo>
                <a:lnTo>
                  <a:pt x="0" y="2607223"/>
                </a:lnTo>
                <a:lnTo>
                  <a:pt x="0" y="0"/>
                </a:lnTo>
                <a:close/>
              </a:path>
            </a:pathLst>
          </a:custGeom>
          <a:blipFill>
            <a:blip r:embed="rId1">
              <a:alphaModFix amt="80000"/>
            </a:blip>
            <a:stretch>
              <a:fillRect/>
            </a:stretch>
          </a:blipFill>
        </p:spPr>
      </p:sp>
      <p:grpSp>
        <p:nvGrpSpPr>
          <p:cNvPr id="29" name="Group 29"/>
          <p:cNvGrpSpPr/>
          <p:nvPr/>
        </p:nvGrpSpPr>
        <p:grpSpPr>
          <a:xfrm rot="0">
            <a:off x="6294197" y="7289503"/>
            <a:ext cx="2349589" cy="234958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sp>
        <p:nvSpPr>
          <p:cNvPr id="32" name="Freeform 32"/>
          <p:cNvSpPr/>
          <p:nvPr/>
        </p:nvSpPr>
        <p:spPr>
          <a:xfrm>
            <a:off x="10454006" y="7160686"/>
            <a:ext cx="2610486" cy="2607223"/>
          </a:xfrm>
          <a:custGeom>
            <a:avLst/>
            <a:gdLst/>
            <a:ahLst/>
            <a:cxnLst/>
            <a:rect l="l" t="t" r="r" b="b"/>
            <a:pathLst>
              <a:path w="2610486" h="2607223">
                <a:moveTo>
                  <a:pt x="0" y="0"/>
                </a:moveTo>
                <a:lnTo>
                  <a:pt x="2610486" y="0"/>
                </a:lnTo>
                <a:lnTo>
                  <a:pt x="2610486" y="2607223"/>
                </a:lnTo>
                <a:lnTo>
                  <a:pt x="0" y="2607223"/>
                </a:lnTo>
                <a:lnTo>
                  <a:pt x="0" y="0"/>
                </a:lnTo>
                <a:close/>
              </a:path>
            </a:pathLst>
          </a:custGeom>
          <a:blipFill>
            <a:blip r:embed="rId1">
              <a:alphaModFix amt="80000"/>
            </a:blip>
            <a:stretch>
              <a:fillRect/>
            </a:stretch>
          </a:blipFill>
        </p:spPr>
      </p:sp>
      <p:grpSp>
        <p:nvGrpSpPr>
          <p:cNvPr id="33" name="Group 33"/>
          <p:cNvGrpSpPr/>
          <p:nvPr/>
        </p:nvGrpSpPr>
        <p:grpSpPr>
          <a:xfrm rot="0">
            <a:off x="10584454" y="7289503"/>
            <a:ext cx="2349589" cy="234958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id="35" name="TextBox 35"/>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36" name="Group 36"/>
          <p:cNvGrpSpPr/>
          <p:nvPr/>
        </p:nvGrpSpPr>
        <p:grpSpPr>
          <a:xfrm rot="-2231272">
            <a:off x="7483824" y="2308612"/>
            <a:ext cx="862698" cy="456826"/>
            <a:chOff x="0" y="0"/>
            <a:chExt cx="187987" cy="99545"/>
          </a:xfrm>
        </p:grpSpPr>
        <p:sp>
          <p:nvSpPr>
            <p:cNvPr id="37" name="Freeform 37"/>
            <p:cNvSpPr/>
            <p:nvPr/>
          </p:nvSpPr>
          <p:spPr>
            <a:xfrm>
              <a:off x="0" y="0"/>
              <a:ext cx="187987" cy="99545"/>
            </a:xfrm>
            <a:custGeom>
              <a:avLst/>
              <a:gdLst/>
              <a:ahLst/>
              <a:cxnLst/>
              <a:rect l="l" t="t" r="r" b="b"/>
              <a:pathLst>
                <a:path w="187987" h="99545">
                  <a:moveTo>
                    <a:pt x="0" y="0"/>
                  </a:moveTo>
                  <a:lnTo>
                    <a:pt x="187987" y="0"/>
                  </a:lnTo>
                  <a:lnTo>
                    <a:pt x="187987" y="99545"/>
                  </a:lnTo>
                  <a:lnTo>
                    <a:pt x="0" y="99545"/>
                  </a:lnTo>
                  <a:close/>
                </a:path>
              </a:pathLst>
            </a:custGeom>
            <a:solidFill>
              <a:srgbClr val="A8CBBD"/>
            </a:solidFill>
          </p:spPr>
        </p:sp>
        <p:sp>
          <p:nvSpPr>
            <p:cNvPr id="38" name="TextBox 38"/>
            <p:cNvSpPr txBox="1"/>
            <p:nvPr/>
          </p:nvSpPr>
          <p:spPr>
            <a:xfrm>
              <a:off x="0" y="-28575"/>
              <a:ext cx="187987" cy="128120"/>
            </a:xfrm>
            <a:prstGeom prst="rect">
              <a:avLst/>
            </a:prstGeom>
          </p:spPr>
          <p:txBody>
            <a:bodyPr lIns="50800" tIns="50800" rIns="50800" bIns="50800" rtlCol="0" anchor="ctr"/>
            <a:lstStyle/>
            <a:p>
              <a:pPr algn="ctr">
                <a:lnSpc>
                  <a:spcPts val="1960"/>
                </a:lnSpc>
              </a:pPr>
            </a:p>
          </p:txBody>
        </p:sp>
      </p:grpSp>
      <p:grpSp>
        <p:nvGrpSpPr>
          <p:cNvPr id="39" name="Group 39"/>
          <p:cNvGrpSpPr/>
          <p:nvPr/>
        </p:nvGrpSpPr>
        <p:grpSpPr>
          <a:xfrm rot="-2231272">
            <a:off x="6938361" y="2751300"/>
            <a:ext cx="778800" cy="456826"/>
            <a:chOff x="0" y="0"/>
            <a:chExt cx="169705" cy="99545"/>
          </a:xfrm>
        </p:grpSpPr>
        <p:sp>
          <p:nvSpPr>
            <p:cNvPr id="40" name="Freeform 40"/>
            <p:cNvSpPr/>
            <p:nvPr/>
          </p:nvSpPr>
          <p:spPr>
            <a:xfrm>
              <a:off x="0" y="0"/>
              <a:ext cx="169705" cy="99545"/>
            </a:xfrm>
            <a:custGeom>
              <a:avLst/>
              <a:gdLst/>
              <a:ahLst/>
              <a:cxnLst/>
              <a:rect l="l" t="t" r="r" b="b"/>
              <a:pathLst>
                <a:path w="169705" h="99545">
                  <a:moveTo>
                    <a:pt x="0" y="0"/>
                  </a:moveTo>
                  <a:lnTo>
                    <a:pt x="169705" y="0"/>
                  </a:lnTo>
                  <a:lnTo>
                    <a:pt x="169705" y="99545"/>
                  </a:lnTo>
                  <a:lnTo>
                    <a:pt x="0" y="99545"/>
                  </a:lnTo>
                  <a:close/>
                </a:path>
              </a:pathLst>
            </a:custGeom>
            <a:solidFill>
              <a:srgbClr val="F8DF8C"/>
            </a:solidFill>
          </p:spPr>
        </p:sp>
        <p:sp>
          <p:nvSpPr>
            <p:cNvPr id="41" name="TextBox 41"/>
            <p:cNvSpPr txBox="1"/>
            <p:nvPr/>
          </p:nvSpPr>
          <p:spPr>
            <a:xfrm>
              <a:off x="0" y="-28575"/>
              <a:ext cx="169705" cy="128120"/>
            </a:xfrm>
            <a:prstGeom prst="rect">
              <a:avLst/>
            </a:prstGeom>
          </p:spPr>
          <p:txBody>
            <a:bodyPr lIns="50800" tIns="50800" rIns="50800" bIns="50800" rtlCol="0" anchor="ctr"/>
            <a:lstStyle/>
            <a:p>
              <a:pPr algn="ctr">
                <a:lnSpc>
                  <a:spcPts val="1960"/>
                </a:lnSpc>
              </a:pPr>
            </a:p>
          </p:txBody>
        </p:sp>
      </p:grpSp>
      <p:grpSp>
        <p:nvGrpSpPr>
          <p:cNvPr id="42" name="Group 42"/>
          <p:cNvGrpSpPr/>
          <p:nvPr/>
        </p:nvGrpSpPr>
        <p:grpSpPr>
          <a:xfrm rot="2223957">
            <a:off x="11536595" y="2806384"/>
            <a:ext cx="862698" cy="456084"/>
            <a:chOff x="0" y="0"/>
            <a:chExt cx="187987" cy="99383"/>
          </a:xfrm>
        </p:grpSpPr>
        <p:sp>
          <p:nvSpPr>
            <p:cNvPr id="43" name="Freeform 43"/>
            <p:cNvSpPr/>
            <p:nvPr/>
          </p:nvSpPr>
          <p:spPr>
            <a:xfrm>
              <a:off x="0" y="0"/>
              <a:ext cx="187987" cy="99383"/>
            </a:xfrm>
            <a:custGeom>
              <a:avLst/>
              <a:gdLst/>
              <a:ahLst/>
              <a:cxnLst/>
              <a:rect l="l" t="t" r="r" b="b"/>
              <a:pathLst>
                <a:path w="187987" h="99383">
                  <a:moveTo>
                    <a:pt x="0" y="0"/>
                  </a:moveTo>
                  <a:lnTo>
                    <a:pt x="187987" y="0"/>
                  </a:lnTo>
                  <a:lnTo>
                    <a:pt x="187987" y="99383"/>
                  </a:lnTo>
                  <a:lnTo>
                    <a:pt x="0" y="99383"/>
                  </a:lnTo>
                  <a:close/>
                </a:path>
              </a:pathLst>
            </a:custGeom>
            <a:solidFill>
              <a:srgbClr val="F8A4A4"/>
            </a:solidFill>
          </p:spPr>
        </p:sp>
        <p:sp>
          <p:nvSpPr>
            <p:cNvPr id="44" name="TextBox 44"/>
            <p:cNvSpPr txBox="1"/>
            <p:nvPr/>
          </p:nvSpPr>
          <p:spPr>
            <a:xfrm>
              <a:off x="0" y="-28575"/>
              <a:ext cx="187987" cy="127958"/>
            </a:xfrm>
            <a:prstGeom prst="rect">
              <a:avLst/>
            </a:prstGeom>
          </p:spPr>
          <p:txBody>
            <a:bodyPr lIns="50800" tIns="50800" rIns="50800" bIns="50800" rtlCol="0" anchor="ctr"/>
            <a:lstStyle/>
            <a:p>
              <a:pPr algn="ctr">
                <a:lnSpc>
                  <a:spcPts val="1960"/>
                </a:lnSpc>
              </a:pPr>
            </a:p>
          </p:txBody>
        </p:sp>
      </p:grpSp>
      <p:grpSp>
        <p:nvGrpSpPr>
          <p:cNvPr id="45" name="Group 45"/>
          <p:cNvGrpSpPr/>
          <p:nvPr/>
        </p:nvGrpSpPr>
        <p:grpSpPr>
          <a:xfrm rot="2264659">
            <a:off x="10944190" y="2319310"/>
            <a:ext cx="778800" cy="456826"/>
            <a:chOff x="0" y="0"/>
            <a:chExt cx="169705" cy="99545"/>
          </a:xfrm>
        </p:grpSpPr>
        <p:sp>
          <p:nvSpPr>
            <p:cNvPr id="46" name="Freeform 46"/>
            <p:cNvSpPr/>
            <p:nvPr/>
          </p:nvSpPr>
          <p:spPr>
            <a:xfrm>
              <a:off x="0" y="0"/>
              <a:ext cx="169705" cy="99545"/>
            </a:xfrm>
            <a:custGeom>
              <a:avLst/>
              <a:gdLst/>
              <a:ahLst/>
              <a:cxnLst/>
              <a:rect l="l" t="t" r="r" b="b"/>
              <a:pathLst>
                <a:path w="169705" h="99545">
                  <a:moveTo>
                    <a:pt x="0" y="0"/>
                  </a:moveTo>
                  <a:lnTo>
                    <a:pt x="169705" y="0"/>
                  </a:lnTo>
                  <a:lnTo>
                    <a:pt x="169705" y="99545"/>
                  </a:lnTo>
                  <a:lnTo>
                    <a:pt x="0" y="99545"/>
                  </a:lnTo>
                  <a:close/>
                </a:path>
              </a:pathLst>
            </a:custGeom>
            <a:solidFill>
              <a:srgbClr val="A8CBBD"/>
            </a:solidFill>
          </p:spPr>
        </p:sp>
        <p:sp>
          <p:nvSpPr>
            <p:cNvPr id="47" name="TextBox 47"/>
            <p:cNvSpPr txBox="1"/>
            <p:nvPr/>
          </p:nvSpPr>
          <p:spPr>
            <a:xfrm>
              <a:off x="0" y="-28575"/>
              <a:ext cx="169705" cy="128120"/>
            </a:xfrm>
            <a:prstGeom prst="rect">
              <a:avLst/>
            </a:prstGeom>
          </p:spPr>
          <p:txBody>
            <a:bodyPr lIns="50800" tIns="50800" rIns="50800" bIns="50800" rtlCol="0" anchor="ctr"/>
            <a:lstStyle/>
            <a:p>
              <a:pPr algn="ctr">
                <a:lnSpc>
                  <a:spcPts val="1960"/>
                </a:lnSpc>
              </a:pPr>
            </a:p>
          </p:txBody>
        </p:sp>
      </p:grpSp>
      <p:sp>
        <p:nvSpPr>
          <p:cNvPr id="48" name="Freeform 48"/>
          <p:cNvSpPr/>
          <p:nvPr/>
        </p:nvSpPr>
        <p:spPr>
          <a:xfrm>
            <a:off x="8308877" y="498564"/>
            <a:ext cx="2610486" cy="2607223"/>
          </a:xfrm>
          <a:custGeom>
            <a:avLst/>
            <a:gdLst/>
            <a:ahLst/>
            <a:cxnLst/>
            <a:rect l="l" t="t" r="r" b="b"/>
            <a:pathLst>
              <a:path w="2610486" h="2607223">
                <a:moveTo>
                  <a:pt x="0" y="0"/>
                </a:moveTo>
                <a:lnTo>
                  <a:pt x="2610486" y="0"/>
                </a:lnTo>
                <a:lnTo>
                  <a:pt x="2610486" y="2607223"/>
                </a:lnTo>
                <a:lnTo>
                  <a:pt x="0" y="2607223"/>
                </a:lnTo>
                <a:lnTo>
                  <a:pt x="0" y="0"/>
                </a:lnTo>
                <a:close/>
              </a:path>
            </a:pathLst>
          </a:custGeom>
          <a:blipFill>
            <a:blip r:embed="rId1">
              <a:alphaModFix amt="80000"/>
            </a:blip>
            <a:stretch>
              <a:fillRect/>
            </a:stretch>
          </a:blipFill>
        </p:spPr>
      </p:sp>
      <p:grpSp>
        <p:nvGrpSpPr>
          <p:cNvPr id="49" name="Group 49"/>
          <p:cNvGrpSpPr/>
          <p:nvPr/>
        </p:nvGrpSpPr>
        <p:grpSpPr>
          <a:xfrm rot="0">
            <a:off x="8439325" y="627381"/>
            <a:ext cx="2349589" cy="2349589"/>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id="51" name="TextBox 51"/>
            <p:cNvSpPr txBox="1"/>
            <p:nvPr/>
          </p:nvSpPr>
          <p:spPr>
            <a:xfrm>
              <a:off x="76200" y="47625"/>
              <a:ext cx="660400" cy="688975"/>
            </a:xfrm>
            <a:prstGeom prst="rect">
              <a:avLst/>
            </a:prstGeom>
          </p:spPr>
          <p:txBody>
            <a:bodyPr lIns="50800" tIns="50800" rIns="50800" bIns="50800" rtlCol="0" anchor="ctr"/>
            <a:lstStyle/>
            <a:p>
              <a:pPr algn="ctr">
                <a:lnSpc>
                  <a:spcPts val="1960"/>
                </a:lnSpc>
              </a:pPr>
            </a:p>
          </p:txBody>
        </p:sp>
      </p:grpSp>
      <p:grpSp>
        <p:nvGrpSpPr>
          <p:cNvPr id="52" name="Group 52"/>
          <p:cNvGrpSpPr/>
          <p:nvPr/>
        </p:nvGrpSpPr>
        <p:grpSpPr>
          <a:xfrm rot="0">
            <a:off x="8643786" y="8744380"/>
            <a:ext cx="935100" cy="445326"/>
            <a:chOff x="0" y="0"/>
            <a:chExt cx="203764" cy="97039"/>
          </a:xfrm>
        </p:grpSpPr>
        <p:sp>
          <p:nvSpPr>
            <p:cNvPr id="53" name="Freeform 53"/>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A8B2CB"/>
            </a:solidFill>
          </p:spPr>
        </p:sp>
        <p:sp>
          <p:nvSpPr>
            <p:cNvPr id="54" name="TextBox 54"/>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55" name="Group 55"/>
          <p:cNvGrpSpPr/>
          <p:nvPr/>
        </p:nvGrpSpPr>
        <p:grpSpPr>
          <a:xfrm rot="0">
            <a:off x="9518906" y="8744380"/>
            <a:ext cx="935100" cy="445326"/>
            <a:chOff x="0" y="0"/>
            <a:chExt cx="203764" cy="97039"/>
          </a:xfrm>
        </p:grpSpPr>
        <p:sp>
          <p:nvSpPr>
            <p:cNvPr id="56" name="Freeform 56"/>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FAB488"/>
            </a:solidFill>
          </p:spPr>
        </p:sp>
        <p:sp>
          <p:nvSpPr>
            <p:cNvPr id="57" name="TextBox 57"/>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58" name="Group 58"/>
          <p:cNvGrpSpPr/>
          <p:nvPr/>
        </p:nvGrpSpPr>
        <p:grpSpPr>
          <a:xfrm rot="-4357330">
            <a:off x="12197241" y="6620456"/>
            <a:ext cx="935100" cy="445326"/>
            <a:chOff x="0" y="0"/>
            <a:chExt cx="203764" cy="97039"/>
          </a:xfrm>
        </p:grpSpPr>
        <p:sp>
          <p:nvSpPr>
            <p:cNvPr id="59" name="Freeform 59"/>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FAB488"/>
            </a:solidFill>
          </p:spPr>
        </p:sp>
        <p:sp>
          <p:nvSpPr>
            <p:cNvPr id="60" name="TextBox 60"/>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61" name="Group 61"/>
          <p:cNvGrpSpPr/>
          <p:nvPr/>
        </p:nvGrpSpPr>
        <p:grpSpPr>
          <a:xfrm rot="-4357330">
            <a:off x="12458614" y="5785281"/>
            <a:ext cx="935100" cy="445326"/>
            <a:chOff x="0" y="0"/>
            <a:chExt cx="203764" cy="97039"/>
          </a:xfrm>
        </p:grpSpPr>
        <p:sp>
          <p:nvSpPr>
            <p:cNvPr id="62" name="Freeform 62"/>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F8A4A4"/>
            </a:solidFill>
          </p:spPr>
        </p:sp>
        <p:sp>
          <p:nvSpPr>
            <p:cNvPr id="63" name="TextBox 63"/>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64" name="Group 64"/>
          <p:cNvGrpSpPr/>
          <p:nvPr/>
        </p:nvGrpSpPr>
        <p:grpSpPr>
          <a:xfrm rot="4355471">
            <a:off x="5871586" y="5913314"/>
            <a:ext cx="935100" cy="445326"/>
            <a:chOff x="0" y="0"/>
            <a:chExt cx="203764" cy="97039"/>
          </a:xfrm>
        </p:grpSpPr>
        <p:sp>
          <p:nvSpPr>
            <p:cNvPr id="65" name="Freeform 65"/>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F8DF8C"/>
            </a:solidFill>
          </p:spPr>
        </p:sp>
        <p:sp>
          <p:nvSpPr>
            <p:cNvPr id="66" name="TextBox 66"/>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67" name="Group 67"/>
          <p:cNvGrpSpPr/>
          <p:nvPr/>
        </p:nvGrpSpPr>
        <p:grpSpPr>
          <a:xfrm rot="4355471">
            <a:off x="6133410" y="6748348"/>
            <a:ext cx="935100" cy="445326"/>
            <a:chOff x="0" y="0"/>
            <a:chExt cx="203764" cy="97039"/>
          </a:xfrm>
        </p:grpSpPr>
        <p:sp>
          <p:nvSpPr>
            <p:cNvPr id="68" name="Freeform 68"/>
            <p:cNvSpPr/>
            <p:nvPr/>
          </p:nvSpPr>
          <p:spPr>
            <a:xfrm>
              <a:off x="0" y="0"/>
              <a:ext cx="203764" cy="97039"/>
            </a:xfrm>
            <a:custGeom>
              <a:avLst/>
              <a:gdLst/>
              <a:ahLst/>
              <a:cxnLst/>
              <a:rect l="l" t="t" r="r" b="b"/>
              <a:pathLst>
                <a:path w="203764" h="97039">
                  <a:moveTo>
                    <a:pt x="0" y="0"/>
                  </a:moveTo>
                  <a:lnTo>
                    <a:pt x="203764" y="0"/>
                  </a:lnTo>
                  <a:lnTo>
                    <a:pt x="203764" y="97039"/>
                  </a:lnTo>
                  <a:lnTo>
                    <a:pt x="0" y="97039"/>
                  </a:lnTo>
                  <a:close/>
                </a:path>
              </a:pathLst>
            </a:custGeom>
            <a:solidFill>
              <a:srgbClr val="A8B2CB"/>
            </a:solidFill>
          </p:spPr>
        </p:sp>
        <p:sp>
          <p:nvSpPr>
            <p:cNvPr id="69" name="TextBox 69"/>
            <p:cNvSpPr txBox="1"/>
            <p:nvPr/>
          </p:nvSpPr>
          <p:spPr>
            <a:xfrm>
              <a:off x="0" y="-28575"/>
              <a:ext cx="203764" cy="125614"/>
            </a:xfrm>
            <a:prstGeom prst="rect">
              <a:avLst/>
            </a:prstGeom>
          </p:spPr>
          <p:txBody>
            <a:bodyPr lIns="50800" tIns="50800" rIns="50800" bIns="50800" rtlCol="0" anchor="ctr"/>
            <a:lstStyle/>
            <a:p>
              <a:pPr algn="ctr">
                <a:lnSpc>
                  <a:spcPts val="1960"/>
                </a:lnSpc>
              </a:pPr>
            </a:p>
          </p:txBody>
        </p:sp>
      </p:grpSp>
      <p:grpSp>
        <p:nvGrpSpPr>
          <p:cNvPr id="70" name="Group 70"/>
          <p:cNvGrpSpPr/>
          <p:nvPr/>
        </p:nvGrpSpPr>
        <p:grpSpPr>
          <a:xfrm rot="0">
            <a:off x="8970627" y="159831"/>
            <a:ext cx="1286986" cy="846440"/>
            <a:chOff x="0" y="0"/>
            <a:chExt cx="707848" cy="465545"/>
          </a:xfrm>
        </p:grpSpPr>
        <p:sp>
          <p:nvSpPr>
            <p:cNvPr id="71" name="Freeform 71"/>
            <p:cNvSpPr/>
            <p:nvPr/>
          </p:nvSpPr>
          <p:spPr>
            <a:xfrm>
              <a:off x="51107" y="0"/>
              <a:ext cx="605635" cy="411846"/>
            </a:xfrm>
            <a:custGeom>
              <a:avLst/>
              <a:gdLst/>
              <a:ahLst/>
              <a:cxnLst/>
              <a:rect l="l" t="t" r="r" b="b"/>
              <a:pathLst>
                <a:path w="605635" h="411846">
                  <a:moveTo>
                    <a:pt x="368348" y="379347"/>
                  </a:moveTo>
                  <a:lnTo>
                    <a:pt x="591210" y="86199"/>
                  </a:lnTo>
                  <a:cubicBezTo>
                    <a:pt x="603558" y="69956"/>
                    <a:pt x="605634" y="48120"/>
                    <a:pt x="596569" y="29841"/>
                  </a:cubicBezTo>
                  <a:cubicBezTo>
                    <a:pt x="587505" y="11562"/>
                    <a:pt x="568864" y="0"/>
                    <a:pt x="548461" y="0"/>
                  </a:cubicBezTo>
                  <a:lnTo>
                    <a:pt x="57173" y="0"/>
                  </a:lnTo>
                  <a:cubicBezTo>
                    <a:pt x="36770" y="0"/>
                    <a:pt x="18129" y="11562"/>
                    <a:pt x="9064" y="29841"/>
                  </a:cubicBezTo>
                  <a:cubicBezTo>
                    <a:pt x="0" y="48120"/>
                    <a:pt x="2076" y="69956"/>
                    <a:pt x="14424" y="86199"/>
                  </a:cubicBezTo>
                  <a:lnTo>
                    <a:pt x="237286" y="379347"/>
                  </a:lnTo>
                  <a:cubicBezTo>
                    <a:pt x="252853" y="399823"/>
                    <a:pt x="277095" y="411846"/>
                    <a:pt x="302817" y="411846"/>
                  </a:cubicBezTo>
                  <a:cubicBezTo>
                    <a:pt x="328538" y="411846"/>
                    <a:pt x="352781" y="399823"/>
                    <a:pt x="368348" y="379347"/>
                  </a:cubicBezTo>
                  <a:close/>
                </a:path>
              </a:pathLst>
            </a:custGeom>
            <a:solidFill>
              <a:srgbClr val="404040"/>
            </a:solidFill>
          </p:spPr>
        </p:sp>
        <p:sp>
          <p:nvSpPr>
            <p:cNvPr id="72" name="TextBox 72"/>
            <p:cNvSpPr txBox="1"/>
            <p:nvPr/>
          </p:nvSpPr>
          <p:spPr>
            <a:xfrm>
              <a:off x="110601" y="4678"/>
              <a:ext cx="486645" cy="244721"/>
            </a:xfrm>
            <a:prstGeom prst="rect">
              <a:avLst/>
            </a:prstGeom>
          </p:spPr>
          <p:txBody>
            <a:bodyPr lIns="50800" tIns="50800" rIns="50800" bIns="50800" rtlCol="0" anchor="ctr"/>
            <a:lstStyle/>
            <a:p>
              <a:pPr algn="ctr">
                <a:lnSpc>
                  <a:spcPts val="1960"/>
                </a:lnSpc>
              </a:pPr>
            </a:p>
          </p:txBody>
        </p:sp>
      </p:grpSp>
      <p:sp>
        <p:nvSpPr>
          <p:cNvPr id="73" name="TextBox 73"/>
          <p:cNvSpPr txBox="1"/>
          <p:nvPr/>
        </p:nvSpPr>
        <p:spPr>
          <a:xfrm>
            <a:off x="8396870" y="1207811"/>
            <a:ext cx="2436553" cy="920928"/>
          </a:xfrm>
          <a:prstGeom prst="rect">
            <a:avLst/>
          </a:prstGeom>
        </p:spPr>
        <p:txBody>
          <a:bodyPr lIns="0" tIns="0" rIns="0" bIns="0" rtlCol="0" anchor="t">
            <a:spAutoFit/>
          </a:bodyPr>
          <a:lstStyle/>
          <a:p>
            <a:pPr algn="ctr">
              <a:lnSpc>
                <a:spcPts val="2440"/>
              </a:lnSpc>
            </a:pPr>
            <a:r>
              <a:rPr lang="en-US" sz="2440" b="1">
                <a:solidFill>
                  <a:srgbClr val="404040"/>
                </a:solidFill>
                <a:latin typeface="Public Sans Bold"/>
                <a:ea typeface="Public Sans Bold"/>
                <a:cs typeface="Public Sans Bold"/>
                <a:sym typeface="Public Sans Bold"/>
              </a:rPr>
              <a:t>Sécurité et confidentialité des données</a:t>
            </a:r>
            <a:endParaRPr lang="en-US" sz="2440" b="1">
              <a:solidFill>
                <a:srgbClr val="404040"/>
              </a:solidFill>
              <a:latin typeface="Public Sans Bold"/>
              <a:ea typeface="Public Sans Bold"/>
              <a:cs typeface="Public Sans Bold"/>
              <a:sym typeface="Public Sans Bold"/>
            </a:endParaRPr>
          </a:p>
        </p:txBody>
      </p:sp>
      <p:sp>
        <p:nvSpPr>
          <p:cNvPr id="74" name="TextBox 74"/>
          <p:cNvSpPr txBox="1"/>
          <p:nvPr/>
        </p:nvSpPr>
        <p:spPr>
          <a:xfrm>
            <a:off x="10520681" y="8035061"/>
            <a:ext cx="2463926" cy="896572"/>
          </a:xfrm>
          <a:prstGeom prst="rect">
            <a:avLst/>
          </a:prstGeom>
        </p:spPr>
        <p:txBody>
          <a:bodyPr lIns="0" tIns="0" rIns="0" bIns="0" rtlCol="0" anchor="t">
            <a:spAutoFit/>
          </a:bodyPr>
          <a:lstStyle/>
          <a:p>
            <a:pPr algn="ctr">
              <a:lnSpc>
                <a:spcPts val="2380"/>
              </a:lnSpc>
            </a:pPr>
            <a:r>
              <a:rPr lang="en-US" sz="2380" b="1">
                <a:solidFill>
                  <a:srgbClr val="404040"/>
                </a:solidFill>
                <a:latin typeface="Public Sans Bold"/>
                <a:ea typeface="Public Sans Bold"/>
                <a:cs typeface="Public Sans Bold"/>
                <a:sym typeface="Public Sans Bold"/>
              </a:rPr>
              <a:t>Intégration et connectivité    des données</a:t>
            </a:r>
            <a:endParaRPr lang="en-US" sz="2380" b="1">
              <a:solidFill>
                <a:srgbClr val="404040"/>
              </a:solidFill>
              <a:latin typeface="Public Sans Bold"/>
              <a:ea typeface="Public Sans Bold"/>
              <a:cs typeface="Public Sans Bold"/>
              <a:sym typeface="Public Sans Bold"/>
            </a:endParaRPr>
          </a:p>
        </p:txBody>
      </p:sp>
      <p:sp>
        <p:nvSpPr>
          <p:cNvPr id="75" name="TextBox 75"/>
          <p:cNvSpPr txBox="1"/>
          <p:nvPr/>
        </p:nvSpPr>
        <p:spPr>
          <a:xfrm>
            <a:off x="6294197" y="8074313"/>
            <a:ext cx="2285549" cy="896572"/>
          </a:xfrm>
          <a:prstGeom prst="rect">
            <a:avLst/>
          </a:prstGeom>
        </p:spPr>
        <p:txBody>
          <a:bodyPr lIns="0" tIns="0" rIns="0" bIns="0" rtlCol="0" anchor="t">
            <a:spAutoFit/>
          </a:bodyPr>
          <a:lstStyle/>
          <a:p>
            <a:pPr algn="ctr">
              <a:lnSpc>
                <a:spcPts val="2380"/>
              </a:lnSpc>
            </a:pPr>
            <a:r>
              <a:rPr lang="en-US" sz="2380" b="1">
                <a:solidFill>
                  <a:srgbClr val="404040"/>
                </a:solidFill>
                <a:latin typeface="Public Sans Bold"/>
                <a:ea typeface="Public Sans Bold"/>
                <a:cs typeface="Public Sans Bold"/>
                <a:sym typeface="Public Sans Bold"/>
              </a:rPr>
              <a:t>Traitement et analyse des données</a:t>
            </a:r>
            <a:endParaRPr lang="en-US" sz="2380" b="1">
              <a:solidFill>
                <a:srgbClr val="404040"/>
              </a:solidFill>
              <a:latin typeface="Public Sans Bold"/>
              <a:ea typeface="Public Sans Bold"/>
              <a:cs typeface="Public Sans Bold"/>
              <a:sym typeface="Public Sans Bold"/>
            </a:endParaRPr>
          </a:p>
        </p:txBody>
      </p:sp>
      <p:sp>
        <p:nvSpPr>
          <p:cNvPr id="76" name="TextBox 76"/>
          <p:cNvSpPr txBox="1"/>
          <p:nvPr/>
        </p:nvSpPr>
        <p:spPr>
          <a:xfrm>
            <a:off x="5074550" y="3891200"/>
            <a:ext cx="2295419" cy="896572"/>
          </a:xfrm>
          <a:prstGeom prst="rect">
            <a:avLst/>
          </a:prstGeom>
        </p:spPr>
        <p:txBody>
          <a:bodyPr lIns="0" tIns="0" rIns="0" bIns="0" rtlCol="0" anchor="t">
            <a:spAutoFit/>
          </a:bodyPr>
          <a:lstStyle/>
          <a:p>
            <a:pPr algn="ctr">
              <a:lnSpc>
                <a:spcPts val="2380"/>
              </a:lnSpc>
            </a:pPr>
            <a:r>
              <a:rPr lang="en-US" sz="2380" b="1">
                <a:solidFill>
                  <a:srgbClr val="404040"/>
                </a:solidFill>
                <a:latin typeface="Public Sans Bold"/>
                <a:ea typeface="Public Sans Bold"/>
                <a:cs typeface="Public Sans Bold"/>
                <a:sym typeface="Public Sans Bold"/>
              </a:rPr>
              <a:t>Visualisation et présentation des données</a:t>
            </a:r>
            <a:endParaRPr lang="en-US" sz="2380" b="1">
              <a:solidFill>
                <a:srgbClr val="404040"/>
              </a:solidFill>
              <a:latin typeface="Public Sans Bold"/>
              <a:ea typeface="Public Sans Bold"/>
              <a:cs typeface="Public Sans Bold"/>
              <a:sym typeface="Public Sans Bold"/>
            </a:endParaRPr>
          </a:p>
        </p:txBody>
      </p:sp>
      <p:sp>
        <p:nvSpPr>
          <p:cNvPr id="77" name="TextBox 77"/>
          <p:cNvSpPr txBox="1"/>
          <p:nvPr/>
        </p:nvSpPr>
        <p:spPr>
          <a:xfrm>
            <a:off x="11967944" y="3788315"/>
            <a:ext cx="2280975" cy="999458"/>
          </a:xfrm>
          <a:prstGeom prst="rect">
            <a:avLst/>
          </a:prstGeom>
        </p:spPr>
        <p:txBody>
          <a:bodyPr lIns="0" tIns="0" rIns="0" bIns="0" rtlCol="0" anchor="t">
            <a:spAutoFit/>
          </a:bodyPr>
          <a:lstStyle/>
          <a:p>
            <a:pPr algn="ctr">
              <a:lnSpc>
                <a:spcPts val="2640"/>
              </a:lnSpc>
            </a:pPr>
            <a:r>
              <a:rPr lang="en-US" sz="2640" b="1">
                <a:solidFill>
                  <a:srgbClr val="404040"/>
                </a:solidFill>
                <a:latin typeface="Public Sans Bold"/>
                <a:ea typeface="Public Sans Bold"/>
                <a:cs typeface="Public Sans Bold"/>
                <a:sym typeface="Public Sans Bold"/>
              </a:rPr>
              <a:t>Qualité et provenance des données</a:t>
            </a:r>
            <a:endParaRPr lang="en-US" sz="2640" b="1">
              <a:solidFill>
                <a:srgbClr val="404040"/>
              </a:solidFill>
              <a:latin typeface="Public Sans Bold"/>
              <a:ea typeface="Public Sans Bold"/>
              <a:cs typeface="Public Sans Bold"/>
              <a:sym typeface="Public Sans Bold"/>
            </a:endParaRPr>
          </a:p>
        </p:txBody>
      </p:sp>
      <p:sp>
        <p:nvSpPr>
          <p:cNvPr id="78" name="TextBox 78"/>
          <p:cNvSpPr txBox="1"/>
          <p:nvPr/>
        </p:nvSpPr>
        <p:spPr>
          <a:xfrm>
            <a:off x="9171604" y="310256"/>
            <a:ext cx="885032" cy="317125"/>
          </a:xfrm>
          <a:prstGeom prst="rect">
            <a:avLst/>
          </a:prstGeom>
        </p:spPr>
        <p:txBody>
          <a:bodyPr lIns="0" tIns="0" rIns="0" bIns="0" rtlCol="0" anchor="t">
            <a:spAutoFit/>
          </a:bodyPr>
          <a:lstStyle/>
          <a:p>
            <a:pPr algn="ctr">
              <a:lnSpc>
                <a:spcPts val="2445"/>
              </a:lnSpc>
            </a:pPr>
            <a:r>
              <a:rPr lang="en-US" sz="2040" b="1">
                <a:solidFill>
                  <a:srgbClr val="FFFFFF"/>
                </a:solidFill>
                <a:latin typeface="Public Sans Bold"/>
                <a:ea typeface="Public Sans Bold"/>
                <a:cs typeface="Public Sans Bold"/>
                <a:sym typeface="Public Sans Bold"/>
              </a:rPr>
              <a:t>01</a:t>
            </a:r>
            <a:endParaRPr lang="en-US" sz="2040" b="1">
              <a:solidFill>
                <a:srgbClr val="FFFFFF"/>
              </a:solidFill>
              <a:latin typeface="Public Sans Bold"/>
              <a:ea typeface="Public Sans Bold"/>
              <a:cs typeface="Public Sans Bold"/>
              <a:sym typeface="Public Sans Bold"/>
            </a:endParaRPr>
          </a:p>
        </p:txBody>
      </p:sp>
      <p:grpSp>
        <p:nvGrpSpPr>
          <p:cNvPr id="79" name="Group 79"/>
          <p:cNvGrpSpPr/>
          <p:nvPr/>
        </p:nvGrpSpPr>
        <p:grpSpPr>
          <a:xfrm rot="2700000">
            <a:off x="13327621" y="3053159"/>
            <a:ext cx="1286986" cy="846440"/>
            <a:chOff x="0" y="0"/>
            <a:chExt cx="707848" cy="465545"/>
          </a:xfrm>
        </p:grpSpPr>
        <p:sp>
          <p:nvSpPr>
            <p:cNvPr id="80" name="Freeform 80"/>
            <p:cNvSpPr/>
            <p:nvPr/>
          </p:nvSpPr>
          <p:spPr>
            <a:xfrm>
              <a:off x="51107" y="0"/>
              <a:ext cx="605635" cy="411846"/>
            </a:xfrm>
            <a:custGeom>
              <a:avLst/>
              <a:gdLst/>
              <a:ahLst/>
              <a:cxnLst/>
              <a:rect l="l" t="t" r="r" b="b"/>
              <a:pathLst>
                <a:path w="605635" h="411846">
                  <a:moveTo>
                    <a:pt x="368348" y="379347"/>
                  </a:moveTo>
                  <a:lnTo>
                    <a:pt x="591210" y="86199"/>
                  </a:lnTo>
                  <a:cubicBezTo>
                    <a:pt x="603558" y="69956"/>
                    <a:pt x="605634" y="48120"/>
                    <a:pt x="596569" y="29841"/>
                  </a:cubicBezTo>
                  <a:cubicBezTo>
                    <a:pt x="587505" y="11562"/>
                    <a:pt x="568864" y="0"/>
                    <a:pt x="548461" y="0"/>
                  </a:cubicBezTo>
                  <a:lnTo>
                    <a:pt x="57173" y="0"/>
                  </a:lnTo>
                  <a:cubicBezTo>
                    <a:pt x="36770" y="0"/>
                    <a:pt x="18129" y="11562"/>
                    <a:pt x="9064" y="29841"/>
                  </a:cubicBezTo>
                  <a:cubicBezTo>
                    <a:pt x="0" y="48120"/>
                    <a:pt x="2076" y="69956"/>
                    <a:pt x="14424" y="86199"/>
                  </a:cubicBezTo>
                  <a:lnTo>
                    <a:pt x="237286" y="379347"/>
                  </a:lnTo>
                  <a:cubicBezTo>
                    <a:pt x="252853" y="399823"/>
                    <a:pt x="277095" y="411846"/>
                    <a:pt x="302817" y="411846"/>
                  </a:cubicBezTo>
                  <a:cubicBezTo>
                    <a:pt x="328538" y="411846"/>
                    <a:pt x="352781" y="399823"/>
                    <a:pt x="368348" y="379347"/>
                  </a:cubicBezTo>
                  <a:close/>
                </a:path>
              </a:pathLst>
            </a:custGeom>
            <a:solidFill>
              <a:srgbClr val="404040"/>
            </a:solidFill>
          </p:spPr>
        </p:sp>
        <p:sp>
          <p:nvSpPr>
            <p:cNvPr id="81" name="TextBox 81"/>
            <p:cNvSpPr txBox="1"/>
            <p:nvPr/>
          </p:nvSpPr>
          <p:spPr>
            <a:xfrm>
              <a:off x="110601" y="4678"/>
              <a:ext cx="486645" cy="244721"/>
            </a:xfrm>
            <a:prstGeom prst="rect">
              <a:avLst/>
            </a:prstGeom>
          </p:spPr>
          <p:txBody>
            <a:bodyPr lIns="50800" tIns="50800" rIns="50800" bIns="50800" rtlCol="0" anchor="ctr"/>
            <a:lstStyle/>
            <a:p>
              <a:pPr algn="ctr">
                <a:lnSpc>
                  <a:spcPts val="1960"/>
                </a:lnSpc>
              </a:pPr>
            </a:p>
          </p:txBody>
        </p:sp>
      </p:grpSp>
      <p:sp>
        <p:nvSpPr>
          <p:cNvPr id="82" name="TextBox 82"/>
          <p:cNvSpPr txBox="1"/>
          <p:nvPr/>
        </p:nvSpPr>
        <p:spPr>
          <a:xfrm rot="2700000">
            <a:off x="13609373" y="3237042"/>
            <a:ext cx="885032" cy="317125"/>
          </a:xfrm>
          <a:prstGeom prst="rect">
            <a:avLst/>
          </a:prstGeom>
        </p:spPr>
        <p:txBody>
          <a:bodyPr lIns="0" tIns="0" rIns="0" bIns="0" rtlCol="0" anchor="t">
            <a:spAutoFit/>
          </a:bodyPr>
          <a:lstStyle/>
          <a:p>
            <a:pPr algn="ctr">
              <a:lnSpc>
                <a:spcPts val="2445"/>
              </a:lnSpc>
            </a:pPr>
            <a:r>
              <a:rPr lang="en-US" sz="2040" b="1">
                <a:solidFill>
                  <a:srgbClr val="FFFFFF"/>
                </a:solidFill>
                <a:latin typeface="Public Sans Bold"/>
                <a:ea typeface="Public Sans Bold"/>
                <a:cs typeface="Public Sans Bold"/>
                <a:sym typeface="Public Sans Bold"/>
              </a:rPr>
              <a:t>02</a:t>
            </a:r>
            <a:endParaRPr lang="en-US" sz="2040" b="1">
              <a:solidFill>
                <a:srgbClr val="FFFFFF"/>
              </a:solidFill>
              <a:latin typeface="Public Sans Bold"/>
              <a:ea typeface="Public Sans Bold"/>
              <a:cs typeface="Public Sans Bold"/>
              <a:sym typeface="Public Sans Bold"/>
            </a:endParaRPr>
          </a:p>
        </p:txBody>
      </p:sp>
      <p:grpSp>
        <p:nvGrpSpPr>
          <p:cNvPr id="83" name="Group 83"/>
          <p:cNvGrpSpPr/>
          <p:nvPr/>
        </p:nvGrpSpPr>
        <p:grpSpPr>
          <a:xfrm rot="-2700000">
            <a:off x="4613634" y="3053159"/>
            <a:ext cx="1286986" cy="846440"/>
            <a:chOff x="0" y="0"/>
            <a:chExt cx="707848" cy="465545"/>
          </a:xfrm>
        </p:grpSpPr>
        <p:sp>
          <p:nvSpPr>
            <p:cNvPr id="84" name="Freeform 84"/>
            <p:cNvSpPr/>
            <p:nvPr/>
          </p:nvSpPr>
          <p:spPr>
            <a:xfrm>
              <a:off x="51107" y="0"/>
              <a:ext cx="605635" cy="411846"/>
            </a:xfrm>
            <a:custGeom>
              <a:avLst/>
              <a:gdLst/>
              <a:ahLst/>
              <a:cxnLst/>
              <a:rect l="l" t="t" r="r" b="b"/>
              <a:pathLst>
                <a:path w="605635" h="411846">
                  <a:moveTo>
                    <a:pt x="368348" y="379347"/>
                  </a:moveTo>
                  <a:lnTo>
                    <a:pt x="591210" y="86199"/>
                  </a:lnTo>
                  <a:cubicBezTo>
                    <a:pt x="603558" y="69956"/>
                    <a:pt x="605634" y="48120"/>
                    <a:pt x="596569" y="29841"/>
                  </a:cubicBezTo>
                  <a:cubicBezTo>
                    <a:pt x="587505" y="11562"/>
                    <a:pt x="568864" y="0"/>
                    <a:pt x="548461" y="0"/>
                  </a:cubicBezTo>
                  <a:lnTo>
                    <a:pt x="57173" y="0"/>
                  </a:lnTo>
                  <a:cubicBezTo>
                    <a:pt x="36770" y="0"/>
                    <a:pt x="18129" y="11562"/>
                    <a:pt x="9064" y="29841"/>
                  </a:cubicBezTo>
                  <a:cubicBezTo>
                    <a:pt x="0" y="48120"/>
                    <a:pt x="2076" y="69956"/>
                    <a:pt x="14424" y="86199"/>
                  </a:cubicBezTo>
                  <a:lnTo>
                    <a:pt x="237286" y="379347"/>
                  </a:lnTo>
                  <a:cubicBezTo>
                    <a:pt x="252853" y="399823"/>
                    <a:pt x="277095" y="411846"/>
                    <a:pt x="302817" y="411846"/>
                  </a:cubicBezTo>
                  <a:cubicBezTo>
                    <a:pt x="328538" y="411846"/>
                    <a:pt x="352781" y="399823"/>
                    <a:pt x="368348" y="379347"/>
                  </a:cubicBezTo>
                  <a:close/>
                </a:path>
              </a:pathLst>
            </a:custGeom>
            <a:solidFill>
              <a:srgbClr val="404040"/>
            </a:solidFill>
          </p:spPr>
        </p:sp>
        <p:sp>
          <p:nvSpPr>
            <p:cNvPr id="85" name="TextBox 85"/>
            <p:cNvSpPr txBox="1"/>
            <p:nvPr/>
          </p:nvSpPr>
          <p:spPr>
            <a:xfrm>
              <a:off x="110601" y="4678"/>
              <a:ext cx="486645" cy="244721"/>
            </a:xfrm>
            <a:prstGeom prst="rect">
              <a:avLst/>
            </a:prstGeom>
          </p:spPr>
          <p:txBody>
            <a:bodyPr lIns="50800" tIns="50800" rIns="50800" bIns="50800" rtlCol="0" anchor="ctr"/>
            <a:lstStyle/>
            <a:p>
              <a:pPr algn="ctr">
                <a:lnSpc>
                  <a:spcPts val="1960"/>
                </a:lnSpc>
              </a:pPr>
            </a:p>
          </p:txBody>
        </p:sp>
      </p:grpSp>
      <p:sp>
        <p:nvSpPr>
          <p:cNvPr id="86" name="TextBox 86"/>
          <p:cNvSpPr txBox="1"/>
          <p:nvPr/>
        </p:nvSpPr>
        <p:spPr>
          <a:xfrm rot="-2700000">
            <a:off x="4733836" y="3237042"/>
            <a:ext cx="885032" cy="317125"/>
          </a:xfrm>
          <a:prstGeom prst="rect">
            <a:avLst/>
          </a:prstGeom>
        </p:spPr>
        <p:txBody>
          <a:bodyPr lIns="0" tIns="0" rIns="0" bIns="0" rtlCol="0" anchor="t">
            <a:spAutoFit/>
          </a:bodyPr>
          <a:lstStyle/>
          <a:p>
            <a:pPr algn="ctr">
              <a:lnSpc>
                <a:spcPts val="2445"/>
              </a:lnSpc>
            </a:pPr>
            <a:r>
              <a:rPr lang="en-US" sz="2040" b="1">
                <a:solidFill>
                  <a:srgbClr val="FFFFFF"/>
                </a:solidFill>
                <a:latin typeface="Public Sans Bold"/>
                <a:ea typeface="Public Sans Bold"/>
                <a:cs typeface="Public Sans Bold"/>
                <a:sym typeface="Public Sans Bold"/>
              </a:rPr>
              <a:t>05</a:t>
            </a:r>
            <a:endParaRPr lang="en-US" sz="2040" b="1">
              <a:solidFill>
                <a:srgbClr val="FFFFFF"/>
              </a:solidFill>
              <a:latin typeface="Public Sans Bold"/>
              <a:ea typeface="Public Sans Bold"/>
              <a:cs typeface="Public Sans Bold"/>
              <a:sym typeface="Public Sans Bold"/>
            </a:endParaRPr>
          </a:p>
        </p:txBody>
      </p:sp>
      <p:grpSp>
        <p:nvGrpSpPr>
          <p:cNvPr id="87" name="Group 87"/>
          <p:cNvGrpSpPr/>
          <p:nvPr/>
        </p:nvGrpSpPr>
        <p:grpSpPr>
          <a:xfrm rot="8100000">
            <a:off x="11927673" y="8949670"/>
            <a:ext cx="1286986" cy="846440"/>
            <a:chOff x="0" y="0"/>
            <a:chExt cx="707848" cy="465545"/>
          </a:xfrm>
        </p:grpSpPr>
        <p:sp>
          <p:nvSpPr>
            <p:cNvPr id="88" name="Freeform 88"/>
            <p:cNvSpPr/>
            <p:nvPr/>
          </p:nvSpPr>
          <p:spPr>
            <a:xfrm>
              <a:off x="51107" y="0"/>
              <a:ext cx="605635" cy="411846"/>
            </a:xfrm>
            <a:custGeom>
              <a:avLst/>
              <a:gdLst/>
              <a:ahLst/>
              <a:cxnLst/>
              <a:rect l="l" t="t" r="r" b="b"/>
              <a:pathLst>
                <a:path w="605635" h="411846">
                  <a:moveTo>
                    <a:pt x="368348" y="379347"/>
                  </a:moveTo>
                  <a:lnTo>
                    <a:pt x="591210" y="86199"/>
                  </a:lnTo>
                  <a:cubicBezTo>
                    <a:pt x="603558" y="69956"/>
                    <a:pt x="605634" y="48120"/>
                    <a:pt x="596569" y="29841"/>
                  </a:cubicBezTo>
                  <a:cubicBezTo>
                    <a:pt x="587505" y="11562"/>
                    <a:pt x="568864" y="0"/>
                    <a:pt x="548461" y="0"/>
                  </a:cubicBezTo>
                  <a:lnTo>
                    <a:pt x="57173" y="0"/>
                  </a:lnTo>
                  <a:cubicBezTo>
                    <a:pt x="36770" y="0"/>
                    <a:pt x="18129" y="11562"/>
                    <a:pt x="9064" y="29841"/>
                  </a:cubicBezTo>
                  <a:cubicBezTo>
                    <a:pt x="0" y="48120"/>
                    <a:pt x="2076" y="69956"/>
                    <a:pt x="14424" y="86199"/>
                  </a:cubicBezTo>
                  <a:lnTo>
                    <a:pt x="237286" y="379347"/>
                  </a:lnTo>
                  <a:cubicBezTo>
                    <a:pt x="252853" y="399823"/>
                    <a:pt x="277095" y="411846"/>
                    <a:pt x="302817" y="411846"/>
                  </a:cubicBezTo>
                  <a:cubicBezTo>
                    <a:pt x="328538" y="411846"/>
                    <a:pt x="352781" y="399823"/>
                    <a:pt x="368348" y="379347"/>
                  </a:cubicBezTo>
                  <a:close/>
                </a:path>
              </a:pathLst>
            </a:custGeom>
            <a:solidFill>
              <a:srgbClr val="404040"/>
            </a:solidFill>
          </p:spPr>
        </p:sp>
        <p:sp>
          <p:nvSpPr>
            <p:cNvPr id="89" name="TextBox 89"/>
            <p:cNvSpPr txBox="1"/>
            <p:nvPr/>
          </p:nvSpPr>
          <p:spPr>
            <a:xfrm>
              <a:off x="110601" y="4678"/>
              <a:ext cx="486645" cy="244721"/>
            </a:xfrm>
            <a:prstGeom prst="rect">
              <a:avLst/>
            </a:prstGeom>
          </p:spPr>
          <p:txBody>
            <a:bodyPr lIns="50800" tIns="50800" rIns="50800" bIns="50800" rtlCol="0" anchor="ctr"/>
            <a:lstStyle/>
            <a:p>
              <a:pPr algn="ctr">
                <a:lnSpc>
                  <a:spcPts val="1960"/>
                </a:lnSpc>
              </a:pPr>
            </a:p>
          </p:txBody>
        </p:sp>
      </p:grpSp>
      <p:sp>
        <p:nvSpPr>
          <p:cNvPr id="90" name="TextBox 90"/>
          <p:cNvSpPr txBox="1"/>
          <p:nvPr/>
        </p:nvSpPr>
        <p:spPr>
          <a:xfrm rot="-2700000">
            <a:off x="12181868" y="9267545"/>
            <a:ext cx="885032" cy="317125"/>
          </a:xfrm>
          <a:prstGeom prst="rect">
            <a:avLst/>
          </a:prstGeom>
        </p:spPr>
        <p:txBody>
          <a:bodyPr lIns="0" tIns="0" rIns="0" bIns="0" rtlCol="0" anchor="t">
            <a:spAutoFit/>
          </a:bodyPr>
          <a:lstStyle/>
          <a:p>
            <a:pPr algn="ctr">
              <a:lnSpc>
                <a:spcPts val="2445"/>
              </a:lnSpc>
            </a:pPr>
            <a:r>
              <a:rPr lang="en-US" sz="2040" b="1">
                <a:solidFill>
                  <a:srgbClr val="FFFFFF"/>
                </a:solidFill>
                <a:latin typeface="Public Sans Bold"/>
                <a:ea typeface="Public Sans Bold"/>
                <a:cs typeface="Public Sans Bold"/>
                <a:sym typeface="Public Sans Bold"/>
              </a:rPr>
              <a:t>03</a:t>
            </a:r>
            <a:endParaRPr lang="en-US" sz="2040" b="1">
              <a:solidFill>
                <a:srgbClr val="FFFFFF"/>
              </a:solidFill>
              <a:latin typeface="Public Sans Bold"/>
              <a:ea typeface="Public Sans Bold"/>
              <a:cs typeface="Public Sans Bold"/>
              <a:sym typeface="Public Sans Bold"/>
            </a:endParaRPr>
          </a:p>
        </p:txBody>
      </p:sp>
      <p:grpSp>
        <p:nvGrpSpPr>
          <p:cNvPr id="91" name="Group 91"/>
          <p:cNvGrpSpPr/>
          <p:nvPr/>
        </p:nvGrpSpPr>
        <p:grpSpPr>
          <a:xfrm rot="-8100000">
            <a:off x="6012758" y="8949670"/>
            <a:ext cx="1286986" cy="846440"/>
            <a:chOff x="0" y="0"/>
            <a:chExt cx="707848" cy="465545"/>
          </a:xfrm>
        </p:grpSpPr>
        <p:sp>
          <p:nvSpPr>
            <p:cNvPr id="92" name="Freeform 92"/>
            <p:cNvSpPr/>
            <p:nvPr/>
          </p:nvSpPr>
          <p:spPr>
            <a:xfrm>
              <a:off x="51107" y="0"/>
              <a:ext cx="605635" cy="411846"/>
            </a:xfrm>
            <a:custGeom>
              <a:avLst/>
              <a:gdLst/>
              <a:ahLst/>
              <a:cxnLst/>
              <a:rect l="l" t="t" r="r" b="b"/>
              <a:pathLst>
                <a:path w="605635" h="411846">
                  <a:moveTo>
                    <a:pt x="368348" y="379347"/>
                  </a:moveTo>
                  <a:lnTo>
                    <a:pt x="591210" y="86199"/>
                  </a:lnTo>
                  <a:cubicBezTo>
                    <a:pt x="603558" y="69956"/>
                    <a:pt x="605634" y="48120"/>
                    <a:pt x="596569" y="29841"/>
                  </a:cubicBezTo>
                  <a:cubicBezTo>
                    <a:pt x="587505" y="11562"/>
                    <a:pt x="568864" y="0"/>
                    <a:pt x="548461" y="0"/>
                  </a:cubicBezTo>
                  <a:lnTo>
                    <a:pt x="57173" y="0"/>
                  </a:lnTo>
                  <a:cubicBezTo>
                    <a:pt x="36770" y="0"/>
                    <a:pt x="18129" y="11562"/>
                    <a:pt x="9064" y="29841"/>
                  </a:cubicBezTo>
                  <a:cubicBezTo>
                    <a:pt x="0" y="48120"/>
                    <a:pt x="2076" y="69956"/>
                    <a:pt x="14424" y="86199"/>
                  </a:cubicBezTo>
                  <a:lnTo>
                    <a:pt x="237286" y="379347"/>
                  </a:lnTo>
                  <a:cubicBezTo>
                    <a:pt x="252853" y="399823"/>
                    <a:pt x="277095" y="411846"/>
                    <a:pt x="302817" y="411846"/>
                  </a:cubicBezTo>
                  <a:cubicBezTo>
                    <a:pt x="328538" y="411846"/>
                    <a:pt x="352781" y="399823"/>
                    <a:pt x="368348" y="379347"/>
                  </a:cubicBezTo>
                  <a:close/>
                </a:path>
              </a:pathLst>
            </a:custGeom>
            <a:solidFill>
              <a:srgbClr val="404040"/>
            </a:solidFill>
          </p:spPr>
        </p:sp>
        <p:sp>
          <p:nvSpPr>
            <p:cNvPr id="93" name="TextBox 93"/>
            <p:cNvSpPr txBox="1"/>
            <p:nvPr/>
          </p:nvSpPr>
          <p:spPr>
            <a:xfrm>
              <a:off x="110601" y="4678"/>
              <a:ext cx="486645" cy="244721"/>
            </a:xfrm>
            <a:prstGeom prst="rect">
              <a:avLst/>
            </a:prstGeom>
          </p:spPr>
          <p:txBody>
            <a:bodyPr lIns="50800" tIns="50800" rIns="50800" bIns="50800" rtlCol="0" anchor="ctr"/>
            <a:lstStyle/>
            <a:p>
              <a:pPr algn="ctr">
                <a:lnSpc>
                  <a:spcPts val="1960"/>
                </a:lnSpc>
              </a:pPr>
            </a:p>
          </p:txBody>
        </p:sp>
      </p:grpSp>
      <p:sp>
        <p:nvSpPr>
          <p:cNvPr id="94" name="TextBox 94"/>
          <p:cNvSpPr txBox="1"/>
          <p:nvPr/>
        </p:nvSpPr>
        <p:spPr>
          <a:xfrm rot="2700000">
            <a:off x="6160517" y="9267545"/>
            <a:ext cx="885032" cy="317125"/>
          </a:xfrm>
          <a:prstGeom prst="rect">
            <a:avLst/>
          </a:prstGeom>
        </p:spPr>
        <p:txBody>
          <a:bodyPr lIns="0" tIns="0" rIns="0" bIns="0" rtlCol="0" anchor="t">
            <a:spAutoFit/>
          </a:bodyPr>
          <a:lstStyle/>
          <a:p>
            <a:pPr algn="ctr">
              <a:lnSpc>
                <a:spcPts val="2445"/>
              </a:lnSpc>
            </a:pPr>
            <a:r>
              <a:rPr lang="en-US" sz="2040" b="1">
                <a:solidFill>
                  <a:srgbClr val="FFFFFF"/>
                </a:solidFill>
                <a:latin typeface="Public Sans Bold"/>
                <a:ea typeface="Public Sans Bold"/>
                <a:cs typeface="Public Sans Bold"/>
                <a:sym typeface="Public Sans Bold"/>
              </a:rPr>
              <a:t>04</a:t>
            </a:r>
            <a:endParaRPr lang="en-US" sz="2040" b="1">
              <a:solidFill>
                <a:srgbClr val="FFFFFF"/>
              </a:solidFill>
              <a:latin typeface="Public Sans Bold"/>
              <a:ea typeface="Public Sans Bold"/>
              <a:cs typeface="Public Sans Bold"/>
              <a:sym typeface="Public Sans Bold"/>
            </a:endParaRPr>
          </a:p>
        </p:txBody>
      </p:sp>
      <p:sp>
        <p:nvSpPr>
          <p:cNvPr id="95" name="Freeform 95"/>
          <p:cNvSpPr/>
          <p:nvPr/>
        </p:nvSpPr>
        <p:spPr>
          <a:xfrm rot="-3578320">
            <a:off x="16216650" y="1000558"/>
            <a:ext cx="2656890" cy="2299417"/>
          </a:xfrm>
          <a:custGeom>
            <a:avLst/>
            <a:gdLst/>
            <a:ahLst/>
            <a:cxnLst/>
            <a:rect l="l" t="t" r="r" b="b"/>
            <a:pathLst>
              <a:path w="2656890" h="2299417">
                <a:moveTo>
                  <a:pt x="0" y="0"/>
                </a:moveTo>
                <a:lnTo>
                  <a:pt x="2656889" y="0"/>
                </a:lnTo>
                <a:lnTo>
                  <a:pt x="2656889" y="2299417"/>
                </a:lnTo>
                <a:lnTo>
                  <a:pt x="0" y="22994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6" name="Freeform 96"/>
          <p:cNvSpPr/>
          <p:nvPr/>
        </p:nvSpPr>
        <p:spPr>
          <a:xfrm rot="-3578320">
            <a:off x="14178591" y="-425713"/>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7" name="Freeform 97"/>
          <p:cNvSpPr/>
          <p:nvPr/>
        </p:nvSpPr>
        <p:spPr>
          <a:xfrm rot="7221679">
            <a:off x="16339051" y="-1367656"/>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8" name="Freeform 98"/>
          <p:cNvSpPr/>
          <p:nvPr/>
        </p:nvSpPr>
        <p:spPr>
          <a:xfrm rot="-3578320">
            <a:off x="436149" y="9545378"/>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9" name="Freeform 99"/>
          <p:cNvSpPr/>
          <p:nvPr/>
        </p:nvSpPr>
        <p:spPr>
          <a:xfrm rot="-3578320">
            <a:off x="-1601909" y="8119107"/>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0" name="Freeform 100"/>
          <p:cNvSpPr/>
          <p:nvPr/>
        </p:nvSpPr>
        <p:spPr>
          <a:xfrm rot="7221679">
            <a:off x="558550" y="7177164"/>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1" name="TextBox 101"/>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06</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4712546" y="-256333"/>
            <a:ext cx="4929839" cy="4269018"/>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7220" r="-27220"/>
              </a:stretch>
            </a:blipFill>
            <a:ln cap="sq">
              <a:noFill/>
              <a:prstDash val="solid"/>
              <a:miter/>
            </a:ln>
          </p:spPr>
        </p:sp>
      </p:grpSp>
      <p:grpSp>
        <p:nvGrpSpPr>
          <p:cNvPr id="4" name="Group 4"/>
          <p:cNvGrpSpPr/>
          <p:nvPr/>
        </p:nvGrpSpPr>
        <p:grpSpPr>
          <a:xfrm rot="0">
            <a:off x="11917636" y="2196104"/>
            <a:ext cx="4929839" cy="4269018"/>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957" r="-1957"/>
              </a:stretch>
            </a:blipFill>
            <a:ln cap="sq">
              <a:noFill/>
              <a:prstDash val="solid"/>
              <a:miter/>
            </a:ln>
          </p:spPr>
        </p:sp>
      </p:grpSp>
      <p:grpSp>
        <p:nvGrpSpPr>
          <p:cNvPr id="6" name="Group 6"/>
          <p:cNvGrpSpPr/>
          <p:nvPr/>
        </p:nvGrpSpPr>
        <p:grpSpPr>
          <a:xfrm rot="0">
            <a:off x="14712546" y="4794574"/>
            <a:ext cx="4929839" cy="4269018"/>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t="-7739" b="-7739"/>
              </a:stretch>
            </a:blipFill>
            <a:ln cap="sq">
              <a:noFill/>
              <a:prstDash val="solid"/>
              <a:miter/>
            </a:ln>
          </p:spPr>
        </p:sp>
      </p:grpSp>
      <p:sp>
        <p:nvSpPr>
          <p:cNvPr id="8" name="Freeform 8"/>
          <p:cNvSpPr/>
          <p:nvPr/>
        </p:nvSpPr>
        <p:spPr>
          <a:xfrm rot="7221679">
            <a:off x="17639141" y="7565778"/>
            <a:ext cx="2600981" cy="2251031"/>
          </a:xfrm>
          <a:custGeom>
            <a:avLst/>
            <a:gdLst/>
            <a:ahLst/>
            <a:cxnLst/>
            <a:rect l="l" t="t" r="r" b="b"/>
            <a:pathLst>
              <a:path w="2600981" h="2251031">
                <a:moveTo>
                  <a:pt x="0" y="0"/>
                </a:moveTo>
                <a:lnTo>
                  <a:pt x="2600982" y="0"/>
                </a:lnTo>
                <a:lnTo>
                  <a:pt x="2600982" y="2251031"/>
                </a:lnTo>
                <a:lnTo>
                  <a:pt x="0" y="2251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3578320">
            <a:off x="15555838" y="8674107"/>
            <a:ext cx="2606369" cy="2255694"/>
          </a:xfrm>
          <a:custGeom>
            <a:avLst/>
            <a:gdLst/>
            <a:ahLst/>
            <a:cxnLst/>
            <a:rect l="l" t="t" r="r" b="b"/>
            <a:pathLst>
              <a:path w="2606369" h="2255694">
                <a:moveTo>
                  <a:pt x="0" y="0"/>
                </a:moveTo>
                <a:lnTo>
                  <a:pt x="2606369" y="0"/>
                </a:lnTo>
                <a:lnTo>
                  <a:pt x="2606369" y="2255694"/>
                </a:lnTo>
                <a:lnTo>
                  <a:pt x="0" y="22556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3578320">
            <a:off x="13588171" y="-585493"/>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3578320">
            <a:off x="12930272" y="7631784"/>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197784" y="3317175"/>
            <a:ext cx="12366203" cy="2293078"/>
          </a:xfrm>
          <a:prstGeom prst="rect">
            <a:avLst/>
          </a:prstGeom>
        </p:spPr>
        <p:txBody>
          <a:bodyPr lIns="0" tIns="0" rIns="0" bIns="0" rtlCol="0" anchor="t">
            <a:spAutoFit/>
          </a:bodyPr>
          <a:lstStyle/>
          <a:p>
            <a:pPr marL="0" lvl="1" indent="0" algn="ctr">
              <a:lnSpc>
                <a:spcPts val="5850"/>
              </a:lnSpc>
              <a:spcBef>
                <a:spcPct val="0"/>
              </a:spcBef>
            </a:pPr>
            <a:r>
              <a:rPr lang="en-US" sz="6360" b="1" spc="17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 TECHNOLOGIES ACTUELLES ET ÉMERGENTES POUR LE BIG DATA ET LE CLOUD COMPUTING :</a:t>
            </a:r>
            <a:endParaRPr lang="en-US" sz="6360" b="1" spc="178">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3" name="Freeform 13"/>
          <p:cNvSpPr/>
          <p:nvPr/>
        </p:nvSpPr>
        <p:spPr>
          <a:xfrm rot="7221679">
            <a:off x="11357943" y="-1043776"/>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rot="7221679">
            <a:off x="11088946" y="6638421"/>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rot="-3578320">
            <a:off x="12930272" y="4962133"/>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07</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379109" y="1527593"/>
            <a:ext cx="3682067" cy="8124569"/>
            <a:chOff x="0" y="0"/>
            <a:chExt cx="4909423" cy="10832758"/>
          </a:xfrm>
        </p:grpSpPr>
        <p:grpSp>
          <p:nvGrpSpPr>
            <p:cNvPr id="3" name="Group 3"/>
            <p:cNvGrpSpPr/>
            <p:nvPr/>
          </p:nvGrpSpPr>
          <p:grpSpPr>
            <a:xfrm rot="0">
              <a:off x="0" y="2531131"/>
              <a:ext cx="4909423" cy="8301627"/>
              <a:chOff x="0" y="0"/>
              <a:chExt cx="719649" cy="1216896"/>
            </a:xfrm>
          </p:grpSpPr>
          <p:sp>
            <p:nvSpPr>
              <p:cNvPr id="4" name="Freeform 4"/>
              <p:cNvSpPr/>
              <p:nvPr/>
            </p:nvSpPr>
            <p:spPr>
              <a:xfrm>
                <a:off x="0" y="0"/>
                <a:ext cx="719649" cy="1216896"/>
              </a:xfrm>
              <a:custGeom>
                <a:avLst/>
                <a:gdLst/>
                <a:ahLst/>
                <a:cxnLst/>
                <a:rect l="l" t="t" r="r" b="b"/>
                <a:pathLst>
                  <a:path w="719649" h="1216896">
                    <a:moveTo>
                      <a:pt x="0" y="0"/>
                    </a:moveTo>
                    <a:lnTo>
                      <a:pt x="719649" y="0"/>
                    </a:lnTo>
                    <a:lnTo>
                      <a:pt x="719649" y="1216896"/>
                    </a:lnTo>
                    <a:lnTo>
                      <a:pt x="0" y="1216896"/>
                    </a:lnTo>
                    <a:close/>
                  </a:path>
                </a:pathLst>
              </a:custGeom>
              <a:solidFill>
                <a:srgbClr val="004654">
                  <a:alpha val="20784"/>
                </a:srgbClr>
              </a:solidFill>
            </p:spPr>
          </p:sp>
          <p:sp>
            <p:nvSpPr>
              <p:cNvPr id="5" name="TextBox 5"/>
              <p:cNvSpPr txBox="1"/>
              <p:nvPr/>
            </p:nvSpPr>
            <p:spPr>
              <a:xfrm>
                <a:off x="0" y="-9525"/>
                <a:ext cx="719649" cy="1226421"/>
              </a:xfrm>
              <a:prstGeom prst="rect">
                <a:avLst/>
              </a:prstGeom>
            </p:spPr>
            <p:txBody>
              <a:bodyPr lIns="41017" tIns="41017" rIns="41017" bIns="41017" rtlCol="0" anchor="ctr"/>
              <a:lstStyle/>
              <a:p>
                <a:pPr algn="ctr">
                  <a:lnSpc>
                    <a:spcPts val="1440"/>
                  </a:lnSpc>
                </a:pPr>
              </a:p>
            </p:txBody>
          </p:sp>
        </p:grpSp>
        <p:grpSp>
          <p:nvGrpSpPr>
            <p:cNvPr id="6" name="Group 6"/>
            <p:cNvGrpSpPr/>
            <p:nvPr/>
          </p:nvGrpSpPr>
          <p:grpSpPr>
            <a:xfrm rot="0">
              <a:off x="11506" y="0"/>
              <a:ext cx="4897917" cy="3310880"/>
              <a:chOff x="0" y="0"/>
              <a:chExt cx="1166163" cy="788299"/>
            </a:xfrm>
          </p:grpSpPr>
          <p:sp>
            <p:nvSpPr>
              <p:cNvPr id="7" name="Freeform 7"/>
              <p:cNvSpPr/>
              <p:nvPr/>
            </p:nvSpPr>
            <p:spPr>
              <a:xfrm>
                <a:off x="0" y="0"/>
                <a:ext cx="1166163" cy="788299"/>
              </a:xfrm>
              <a:custGeom>
                <a:avLst/>
                <a:gdLst/>
                <a:ahLst/>
                <a:cxnLst/>
                <a:rect l="l" t="t" r="r" b="b"/>
                <a:pathLst>
                  <a:path w="1166163" h="788299">
                    <a:moveTo>
                      <a:pt x="1166163" y="0"/>
                    </a:moveTo>
                    <a:lnTo>
                      <a:pt x="1166163" y="673999"/>
                    </a:lnTo>
                    <a:lnTo>
                      <a:pt x="583081" y="788299"/>
                    </a:lnTo>
                    <a:lnTo>
                      <a:pt x="0" y="673999"/>
                    </a:lnTo>
                    <a:lnTo>
                      <a:pt x="0" y="0"/>
                    </a:lnTo>
                    <a:lnTo>
                      <a:pt x="1166163" y="0"/>
                    </a:lnTo>
                    <a:close/>
                  </a:path>
                </a:pathLst>
              </a:custGeom>
              <a:solidFill>
                <a:srgbClr val="004654"/>
              </a:solidFill>
            </p:spPr>
          </p:sp>
          <p:sp>
            <p:nvSpPr>
              <p:cNvPr id="8" name="TextBox 8"/>
              <p:cNvSpPr txBox="1"/>
              <p:nvPr/>
            </p:nvSpPr>
            <p:spPr>
              <a:xfrm>
                <a:off x="0" y="-9525"/>
                <a:ext cx="1166163" cy="683524"/>
              </a:xfrm>
              <a:prstGeom prst="rect">
                <a:avLst/>
              </a:prstGeom>
            </p:spPr>
            <p:txBody>
              <a:bodyPr lIns="41017" tIns="41017" rIns="41017" bIns="41017" rtlCol="0" anchor="ctr"/>
              <a:lstStyle/>
              <a:p>
                <a:pPr algn="ctr">
                  <a:lnSpc>
                    <a:spcPts val="1440"/>
                  </a:lnSpc>
                </a:pPr>
              </a:p>
            </p:txBody>
          </p:sp>
        </p:grpSp>
      </p:grpSp>
      <p:grpSp>
        <p:nvGrpSpPr>
          <p:cNvPr id="9" name="Group 9"/>
          <p:cNvGrpSpPr/>
          <p:nvPr/>
        </p:nvGrpSpPr>
        <p:grpSpPr>
          <a:xfrm rot="0">
            <a:off x="5328514" y="1527593"/>
            <a:ext cx="3682067" cy="8124569"/>
            <a:chOff x="0" y="0"/>
            <a:chExt cx="4909423" cy="10832758"/>
          </a:xfrm>
        </p:grpSpPr>
        <p:grpSp>
          <p:nvGrpSpPr>
            <p:cNvPr id="10" name="Group 10"/>
            <p:cNvGrpSpPr/>
            <p:nvPr/>
          </p:nvGrpSpPr>
          <p:grpSpPr>
            <a:xfrm rot="0">
              <a:off x="0" y="2531131"/>
              <a:ext cx="4909423" cy="8301627"/>
              <a:chOff x="0" y="0"/>
              <a:chExt cx="719649" cy="1216896"/>
            </a:xfrm>
          </p:grpSpPr>
          <p:sp>
            <p:nvSpPr>
              <p:cNvPr id="11" name="Freeform 11"/>
              <p:cNvSpPr/>
              <p:nvPr/>
            </p:nvSpPr>
            <p:spPr>
              <a:xfrm>
                <a:off x="0" y="0"/>
                <a:ext cx="719649" cy="1216896"/>
              </a:xfrm>
              <a:custGeom>
                <a:avLst/>
                <a:gdLst/>
                <a:ahLst/>
                <a:cxnLst/>
                <a:rect l="l" t="t" r="r" b="b"/>
                <a:pathLst>
                  <a:path w="719649" h="1216896">
                    <a:moveTo>
                      <a:pt x="0" y="0"/>
                    </a:moveTo>
                    <a:lnTo>
                      <a:pt x="719649" y="0"/>
                    </a:lnTo>
                    <a:lnTo>
                      <a:pt x="719649" y="1216896"/>
                    </a:lnTo>
                    <a:lnTo>
                      <a:pt x="0" y="1216896"/>
                    </a:lnTo>
                    <a:close/>
                  </a:path>
                </a:pathLst>
              </a:custGeom>
              <a:solidFill>
                <a:srgbClr val="00A589">
                  <a:alpha val="27843"/>
                </a:srgbClr>
              </a:solidFill>
            </p:spPr>
          </p:sp>
          <p:sp>
            <p:nvSpPr>
              <p:cNvPr id="12" name="TextBox 12"/>
              <p:cNvSpPr txBox="1"/>
              <p:nvPr/>
            </p:nvSpPr>
            <p:spPr>
              <a:xfrm>
                <a:off x="0" y="-9525"/>
                <a:ext cx="719649" cy="1226421"/>
              </a:xfrm>
              <a:prstGeom prst="rect">
                <a:avLst/>
              </a:prstGeom>
            </p:spPr>
            <p:txBody>
              <a:bodyPr lIns="41017" tIns="41017" rIns="41017" bIns="41017" rtlCol="0" anchor="ctr"/>
              <a:lstStyle/>
              <a:p>
                <a:pPr algn="ctr">
                  <a:lnSpc>
                    <a:spcPts val="1440"/>
                  </a:lnSpc>
                </a:pPr>
              </a:p>
            </p:txBody>
          </p:sp>
        </p:grpSp>
        <p:grpSp>
          <p:nvGrpSpPr>
            <p:cNvPr id="13" name="Group 13"/>
            <p:cNvGrpSpPr/>
            <p:nvPr/>
          </p:nvGrpSpPr>
          <p:grpSpPr>
            <a:xfrm rot="0">
              <a:off x="11506" y="0"/>
              <a:ext cx="4897917" cy="3310880"/>
              <a:chOff x="0" y="0"/>
              <a:chExt cx="1166163" cy="788299"/>
            </a:xfrm>
          </p:grpSpPr>
          <p:sp>
            <p:nvSpPr>
              <p:cNvPr id="14" name="Freeform 14"/>
              <p:cNvSpPr/>
              <p:nvPr/>
            </p:nvSpPr>
            <p:spPr>
              <a:xfrm>
                <a:off x="0" y="0"/>
                <a:ext cx="1166163" cy="788299"/>
              </a:xfrm>
              <a:custGeom>
                <a:avLst/>
                <a:gdLst/>
                <a:ahLst/>
                <a:cxnLst/>
                <a:rect l="l" t="t" r="r" b="b"/>
                <a:pathLst>
                  <a:path w="1166163" h="788299">
                    <a:moveTo>
                      <a:pt x="1166163" y="0"/>
                    </a:moveTo>
                    <a:lnTo>
                      <a:pt x="1166163" y="673999"/>
                    </a:lnTo>
                    <a:lnTo>
                      <a:pt x="583081" y="788299"/>
                    </a:lnTo>
                    <a:lnTo>
                      <a:pt x="0" y="673999"/>
                    </a:lnTo>
                    <a:lnTo>
                      <a:pt x="0" y="0"/>
                    </a:lnTo>
                    <a:lnTo>
                      <a:pt x="1166163" y="0"/>
                    </a:lnTo>
                    <a:close/>
                  </a:path>
                </a:pathLst>
              </a:custGeom>
              <a:solidFill>
                <a:srgbClr val="00A589"/>
              </a:solidFill>
            </p:spPr>
          </p:sp>
          <p:sp>
            <p:nvSpPr>
              <p:cNvPr id="15" name="TextBox 15"/>
              <p:cNvSpPr txBox="1"/>
              <p:nvPr/>
            </p:nvSpPr>
            <p:spPr>
              <a:xfrm>
                <a:off x="0" y="-9525"/>
                <a:ext cx="1166163" cy="683524"/>
              </a:xfrm>
              <a:prstGeom prst="rect">
                <a:avLst/>
              </a:prstGeom>
            </p:spPr>
            <p:txBody>
              <a:bodyPr lIns="41017" tIns="41017" rIns="41017" bIns="41017" rtlCol="0" anchor="ctr"/>
              <a:lstStyle/>
              <a:p>
                <a:pPr algn="ctr">
                  <a:lnSpc>
                    <a:spcPts val="1440"/>
                  </a:lnSpc>
                </a:pPr>
              </a:p>
            </p:txBody>
          </p:sp>
        </p:grpSp>
      </p:grpSp>
      <p:grpSp>
        <p:nvGrpSpPr>
          <p:cNvPr id="16" name="Group 16"/>
          <p:cNvGrpSpPr/>
          <p:nvPr/>
        </p:nvGrpSpPr>
        <p:grpSpPr>
          <a:xfrm rot="0">
            <a:off x="9277920" y="1527593"/>
            <a:ext cx="3682067" cy="8124569"/>
            <a:chOff x="0" y="0"/>
            <a:chExt cx="4909423" cy="10832758"/>
          </a:xfrm>
        </p:grpSpPr>
        <p:grpSp>
          <p:nvGrpSpPr>
            <p:cNvPr id="17" name="Group 17"/>
            <p:cNvGrpSpPr/>
            <p:nvPr/>
          </p:nvGrpSpPr>
          <p:grpSpPr>
            <a:xfrm rot="0">
              <a:off x="0" y="2531131"/>
              <a:ext cx="4909423" cy="8301627"/>
              <a:chOff x="0" y="0"/>
              <a:chExt cx="719649" cy="1216896"/>
            </a:xfrm>
          </p:grpSpPr>
          <p:sp>
            <p:nvSpPr>
              <p:cNvPr id="18" name="Freeform 18"/>
              <p:cNvSpPr/>
              <p:nvPr/>
            </p:nvSpPr>
            <p:spPr>
              <a:xfrm>
                <a:off x="0" y="0"/>
                <a:ext cx="719649" cy="1216896"/>
              </a:xfrm>
              <a:custGeom>
                <a:avLst/>
                <a:gdLst/>
                <a:ahLst/>
                <a:cxnLst/>
                <a:rect l="l" t="t" r="r" b="b"/>
                <a:pathLst>
                  <a:path w="719649" h="1216896">
                    <a:moveTo>
                      <a:pt x="0" y="0"/>
                    </a:moveTo>
                    <a:lnTo>
                      <a:pt x="719649" y="0"/>
                    </a:lnTo>
                    <a:lnTo>
                      <a:pt x="719649" y="1216896"/>
                    </a:lnTo>
                    <a:lnTo>
                      <a:pt x="0" y="1216896"/>
                    </a:lnTo>
                    <a:close/>
                  </a:path>
                </a:pathLst>
              </a:custGeom>
              <a:solidFill>
                <a:srgbClr val="FAC541">
                  <a:alpha val="40000"/>
                </a:srgbClr>
              </a:solidFill>
            </p:spPr>
          </p:sp>
          <p:sp>
            <p:nvSpPr>
              <p:cNvPr id="19" name="TextBox 19"/>
              <p:cNvSpPr txBox="1"/>
              <p:nvPr/>
            </p:nvSpPr>
            <p:spPr>
              <a:xfrm>
                <a:off x="0" y="-9525"/>
                <a:ext cx="719649" cy="1226421"/>
              </a:xfrm>
              <a:prstGeom prst="rect">
                <a:avLst/>
              </a:prstGeom>
            </p:spPr>
            <p:txBody>
              <a:bodyPr lIns="41017" tIns="41017" rIns="41017" bIns="41017" rtlCol="0" anchor="ctr"/>
              <a:lstStyle/>
              <a:p>
                <a:pPr algn="ctr">
                  <a:lnSpc>
                    <a:spcPts val="1440"/>
                  </a:lnSpc>
                </a:pPr>
              </a:p>
            </p:txBody>
          </p:sp>
        </p:grpSp>
        <p:grpSp>
          <p:nvGrpSpPr>
            <p:cNvPr id="20" name="Group 20"/>
            <p:cNvGrpSpPr/>
            <p:nvPr/>
          </p:nvGrpSpPr>
          <p:grpSpPr>
            <a:xfrm rot="0">
              <a:off x="11506" y="0"/>
              <a:ext cx="4897917" cy="3310880"/>
              <a:chOff x="0" y="0"/>
              <a:chExt cx="1166163" cy="788299"/>
            </a:xfrm>
          </p:grpSpPr>
          <p:sp>
            <p:nvSpPr>
              <p:cNvPr id="21" name="Freeform 21"/>
              <p:cNvSpPr/>
              <p:nvPr/>
            </p:nvSpPr>
            <p:spPr>
              <a:xfrm>
                <a:off x="0" y="0"/>
                <a:ext cx="1166163" cy="788299"/>
              </a:xfrm>
              <a:custGeom>
                <a:avLst/>
                <a:gdLst/>
                <a:ahLst/>
                <a:cxnLst/>
                <a:rect l="l" t="t" r="r" b="b"/>
                <a:pathLst>
                  <a:path w="1166163" h="788299">
                    <a:moveTo>
                      <a:pt x="1166163" y="0"/>
                    </a:moveTo>
                    <a:lnTo>
                      <a:pt x="1166163" y="673999"/>
                    </a:lnTo>
                    <a:lnTo>
                      <a:pt x="583081" y="788299"/>
                    </a:lnTo>
                    <a:lnTo>
                      <a:pt x="0" y="673999"/>
                    </a:lnTo>
                    <a:lnTo>
                      <a:pt x="0" y="0"/>
                    </a:lnTo>
                    <a:lnTo>
                      <a:pt x="1166163" y="0"/>
                    </a:lnTo>
                    <a:close/>
                  </a:path>
                </a:pathLst>
              </a:custGeom>
              <a:solidFill>
                <a:srgbClr val="E1B441"/>
              </a:solidFill>
            </p:spPr>
          </p:sp>
          <p:sp>
            <p:nvSpPr>
              <p:cNvPr id="22" name="TextBox 22"/>
              <p:cNvSpPr txBox="1"/>
              <p:nvPr/>
            </p:nvSpPr>
            <p:spPr>
              <a:xfrm>
                <a:off x="0" y="-9525"/>
                <a:ext cx="1166163" cy="683524"/>
              </a:xfrm>
              <a:prstGeom prst="rect">
                <a:avLst/>
              </a:prstGeom>
            </p:spPr>
            <p:txBody>
              <a:bodyPr lIns="41017" tIns="41017" rIns="41017" bIns="41017" rtlCol="0" anchor="ctr"/>
              <a:lstStyle/>
              <a:p>
                <a:pPr algn="ctr">
                  <a:lnSpc>
                    <a:spcPts val="1440"/>
                  </a:lnSpc>
                </a:pPr>
              </a:p>
            </p:txBody>
          </p:sp>
        </p:grpSp>
      </p:grpSp>
      <p:grpSp>
        <p:nvGrpSpPr>
          <p:cNvPr id="23" name="Group 23"/>
          <p:cNvGrpSpPr/>
          <p:nvPr/>
        </p:nvGrpSpPr>
        <p:grpSpPr>
          <a:xfrm rot="0">
            <a:off x="13226824" y="1527593"/>
            <a:ext cx="3682067" cy="8124569"/>
            <a:chOff x="0" y="0"/>
            <a:chExt cx="4909423" cy="10832758"/>
          </a:xfrm>
        </p:grpSpPr>
        <p:grpSp>
          <p:nvGrpSpPr>
            <p:cNvPr id="24" name="Group 24"/>
            <p:cNvGrpSpPr/>
            <p:nvPr/>
          </p:nvGrpSpPr>
          <p:grpSpPr>
            <a:xfrm rot="0">
              <a:off x="0" y="2531131"/>
              <a:ext cx="4909423" cy="8301627"/>
              <a:chOff x="0" y="0"/>
              <a:chExt cx="719649" cy="1216896"/>
            </a:xfrm>
          </p:grpSpPr>
          <p:sp>
            <p:nvSpPr>
              <p:cNvPr id="25" name="Freeform 25"/>
              <p:cNvSpPr/>
              <p:nvPr/>
            </p:nvSpPr>
            <p:spPr>
              <a:xfrm>
                <a:off x="0" y="0"/>
                <a:ext cx="719649" cy="1216896"/>
              </a:xfrm>
              <a:custGeom>
                <a:avLst/>
                <a:gdLst/>
                <a:ahLst/>
                <a:cxnLst/>
                <a:rect l="l" t="t" r="r" b="b"/>
                <a:pathLst>
                  <a:path w="719649" h="1216896">
                    <a:moveTo>
                      <a:pt x="0" y="0"/>
                    </a:moveTo>
                    <a:lnTo>
                      <a:pt x="719649" y="0"/>
                    </a:lnTo>
                    <a:lnTo>
                      <a:pt x="719649" y="1216896"/>
                    </a:lnTo>
                    <a:lnTo>
                      <a:pt x="0" y="1216896"/>
                    </a:lnTo>
                    <a:close/>
                  </a:path>
                </a:pathLst>
              </a:custGeom>
              <a:solidFill>
                <a:srgbClr val="FC6C43">
                  <a:alpha val="40000"/>
                </a:srgbClr>
              </a:solidFill>
            </p:spPr>
          </p:sp>
          <p:sp>
            <p:nvSpPr>
              <p:cNvPr id="26" name="TextBox 26"/>
              <p:cNvSpPr txBox="1"/>
              <p:nvPr/>
            </p:nvSpPr>
            <p:spPr>
              <a:xfrm>
                <a:off x="0" y="-9525"/>
                <a:ext cx="719649" cy="1226421"/>
              </a:xfrm>
              <a:prstGeom prst="rect">
                <a:avLst/>
              </a:prstGeom>
            </p:spPr>
            <p:txBody>
              <a:bodyPr lIns="41017" tIns="41017" rIns="41017" bIns="41017" rtlCol="0" anchor="ctr"/>
              <a:lstStyle/>
              <a:p>
                <a:pPr algn="ctr">
                  <a:lnSpc>
                    <a:spcPts val="1440"/>
                  </a:lnSpc>
                </a:pPr>
              </a:p>
            </p:txBody>
          </p:sp>
        </p:grpSp>
        <p:grpSp>
          <p:nvGrpSpPr>
            <p:cNvPr id="27" name="Group 27"/>
            <p:cNvGrpSpPr/>
            <p:nvPr/>
          </p:nvGrpSpPr>
          <p:grpSpPr>
            <a:xfrm rot="0">
              <a:off x="11506" y="0"/>
              <a:ext cx="4897917" cy="3310880"/>
              <a:chOff x="0" y="0"/>
              <a:chExt cx="1166163" cy="788299"/>
            </a:xfrm>
          </p:grpSpPr>
          <p:sp>
            <p:nvSpPr>
              <p:cNvPr id="28" name="Freeform 28"/>
              <p:cNvSpPr/>
              <p:nvPr/>
            </p:nvSpPr>
            <p:spPr>
              <a:xfrm>
                <a:off x="0" y="0"/>
                <a:ext cx="1166163" cy="788299"/>
              </a:xfrm>
              <a:custGeom>
                <a:avLst/>
                <a:gdLst/>
                <a:ahLst/>
                <a:cxnLst/>
                <a:rect l="l" t="t" r="r" b="b"/>
                <a:pathLst>
                  <a:path w="1166163" h="788299">
                    <a:moveTo>
                      <a:pt x="1166163" y="0"/>
                    </a:moveTo>
                    <a:lnTo>
                      <a:pt x="1166163" y="673999"/>
                    </a:lnTo>
                    <a:lnTo>
                      <a:pt x="583081" y="788299"/>
                    </a:lnTo>
                    <a:lnTo>
                      <a:pt x="0" y="673999"/>
                    </a:lnTo>
                    <a:lnTo>
                      <a:pt x="0" y="0"/>
                    </a:lnTo>
                    <a:lnTo>
                      <a:pt x="1166163" y="0"/>
                    </a:lnTo>
                    <a:close/>
                  </a:path>
                </a:pathLst>
              </a:custGeom>
              <a:solidFill>
                <a:srgbClr val="FC6C43"/>
              </a:solidFill>
            </p:spPr>
          </p:sp>
          <p:sp>
            <p:nvSpPr>
              <p:cNvPr id="29" name="TextBox 29"/>
              <p:cNvSpPr txBox="1"/>
              <p:nvPr/>
            </p:nvSpPr>
            <p:spPr>
              <a:xfrm>
                <a:off x="0" y="-9525"/>
                <a:ext cx="1166163" cy="683524"/>
              </a:xfrm>
              <a:prstGeom prst="rect">
                <a:avLst/>
              </a:prstGeom>
            </p:spPr>
            <p:txBody>
              <a:bodyPr lIns="41017" tIns="41017" rIns="41017" bIns="41017" rtlCol="0" anchor="ctr"/>
              <a:lstStyle/>
              <a:p>
                <a:pPr algn="ctr">
                  <a:lnSpc>
                    <a:spcPts val="1440"/>
                  </a:lnSpc>
                </a:pPr>
              </a:p>
            </p:txBody>
          </p:sp>
        </p:grpSp>
      </p:grpSp>
      <p:grpSp>
        <p:nvGrpSpPr>
          <p:cNvPr id="30" name="Group 30"/>
          <p:cNvGrpSpPr/>
          <p:nvPr/>
        </p:nvGrpSpPr>
        <p:grpSpPr>
          <a:xfrm rot="0">
            <a:off x="2327387" y="634838"/>
            <a:ext cx="1785511" cy="1785511"/>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1EC"/>
            </a:solidFill>
            <a:ln w="28575" cap="sq">
              <a:solidFill>
                <a:srgbClr val="004654"/>
              </a:solidFill>
              <a:prstDash val="solid"/>
              <a:miter/>
            </a:ln>
          </p:spPr>
        </p:sp>
        <p:sp>
          <p:nvSpPr>
            <p:cNvPr id="32" name="TextBox 32"/>
            <p:cNvSpPr txBox="1"/>
            <p:nvPr/>
          </p:nvSpPr>
          <p:spPr>
            <a:xfrm>
              <a:off x="76200" y="66675"/>
              <a:ext cx="660400" cy="669925"/>
            </a:xfrm>
            <a:prstGeom prst="rect">
              <a:avLst/>
            </a:prstGeom>
          </p:spPr>
          <p:txBody>
            <a:bodyPr lIns="50800" tIns="50800" rIns="50800" bIns="50800" rtlCol="0" anchor="ctr"/>
            <a:lstStyle/>
            <a:p>
              <a:pPr algn="ctr">
                <a:lnSpc>
                  <a:spcPts val="1440"/>
                </a:lnSpc>
              </a:pPr>
            </a:p>
          </p:txBody>
        </p:sp>
      </p:grpSp>
      <p:grpSp>
        <p:nvGrpSpPr>
          <p:cNvPr id="33" name="Group 33"/>
          <p:cNvGrpSpPr/>
          <p:nvPr/>
        </p:nvGrpSpPr>
        <p:grpSpPr>
          <a:xfrm rot="0">
            <a:off x="6276792" y="634838"/>
            <a:ext cx="1785511" cy="178551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1EC"/>
            </a:solidFill>
            <a:ln w="28575" cap="sq">
              <a:solidFill>
                <a:srgbClr val="2DA994"/>
              </a:solidFill>
              <a:prstDash val="solid"/>
              <a:miter/>
            </a:ln>
          </p:spPr>
        </p:sp>
        <p:sp>
          <p:nvSpPr>
            <p:cNvPr id="35" name="TextBox 35"/>
            <p:cNvSpPr txBox="1"/>
            <p:nvPr/>
          </p:nvSpPr>
          <p:spPr>
            <a:xfrm>
              <a:off x="76200" y="66675"/>
              <a:ext cx="660400" cy="669925"/>
            </a:xfrm>
            <a:prstGeom prst="rect">
              <a:avLst/>
            </a:prstGeom>
          </p:spPr>
          <p:txBody>
            <a:bodyPr lIns="50800" tIns="50800" rIns="50800" bIns="50800" rtlCol="0" anchor="ctr"/>
            <a:lstStyle/>
            <a:p>
              <a:pPr algn="ctr">
                <a:lnSpc>
                  <a:spcPts val="1440"/>
                </a:lnSpc>
              </a:pPr>
            </a:p>
          </p:txBody>
        </p:sp>
      </p:grpSp>
      <p:grpSp>
        <p:nvGrpSpPr>
          <p:cNvPr id="36" name="Group 36"/>
          <p:cNvGrpSpPr/>
          <p:nvPr/>
        </p:nvGrpSpPr>
        <p:grpSpPr>
          <a:xfrm rot="0">
            <a:off x="10225697" y="634838"/>
            <a:ext cx="1785511" cy="178551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1EC"/>
            </a:solidFill>
            <a:ln w="28575" cap="sq">
              <a:solidFill>
                <a:srgbClr val="FAC541"/>
              </a:solidFill>
              <a:prstDash val="solid"/>
              <a:miter/>
            </a:ln>
          </p:spPr>
        </p:sp>
        <p:sp>
          <p:nvSpPr>
            <p:cNvPr id="38" name="TextBox 38"/>
            <p:cNvSpPr txBox="1"/>
            <p:nvPr/>
          </p:nvSpPr>
          <p:spPr>
            <a:xfrm>
              <a:off x="76200" y="66675"/>
              <a:ext cx="660400" cy="669925"/>
            </a:xfrm>
            <a:prstGeom prst="rect">
              <a:avLst/>
            </a:prstGeom>
          </p:spPr>
          <p:txBody>
            <a:bodyPr lIns="50800" tIns="50800" rIns="50800" bIns="50800" rtlCol="0" anchor="ctr"/>
            <a:lstStyle/>
            <a:p>
              <a:pPr algn="ctr">
                <a:lnSpc>
                  <a:spcPts val="1440"/>
                </a:lnSpc>
              </a:pPr>
            </a:p>
          </p:txBody>
        </p:sp>
      </p:grpSp>
      <p:grpSp>
        <p:nvGrpSpPr>
          <p:cNvPr id="39" name="Group 39"/>
          <p:cNvGrpSpPr/>
          <p:nvPr/>
        </p:nvGrpSpPr>
        <p:grpSpPr>
          <a:xfrm rot="0">
            <a:off x="14178645" y="634838"/>
            <a:ext cx="1785511" cy="1785511"/>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1EC"/>
            </a:solidFill>
            <a:ln w="28575" cap="sq">
              <a:solidFill>
                <a:srgbClr val="FC6C43"/>
              </a:solidFill>
              <a:prstDash val="solid"/>
              <a:miter/>
            </a:ln>
          </p:spPr>
        </p:sp>
        <p:sp>
          <p:nvSpPr>
            <p:cNvPr id="41" name="TextBox 41"/>
            <p:cNvSpPr txBox="1"/>
            <p:nvPr/>
          </p:nvSpPr>
          <p:spPr>
            <a:xfrm>
              <a:off x="76200" y="66675"/>
              <a:ext cx="660400" cy="669925"/>
            </a:xfrm>
            <a:prstGeom prst="rect">
              <a:avLst/>
            </a:prstGeom>
          </p:spPr>
          <p:txBody>
            <a:bodyPr lIns="50800" tIns="50800" rIns="50800" bIns="50800" rtlCol="0" anchor="ctr"/>
            <a:lstStyle/>
            <a:p>
              <a:pPr algn="ctr">
                <a:lnSpc>
                  <a:spcPts val="1440"/>
                </a:lnSpc>
              </a:pPr>
            </a:p>
          </p:txBody>
        </p:sp>
      </p:grpSp>
      <p:sp>
        <p:nvSpPr>
          <p:cNvPr id="42" name="Freeform 42"/>
          <p:cNvSpPr/>
          <p:nvPr/>
        </p:nvSpPr>
        <p:spPr>
          <a:xfrm>
            <a:off x="10452899" y="836507"/>
            <a:ext cx="1332109" cy="1332109"/>
          </a:xfrm>
          <a:custGeom>
            <a:avLst/>
            <a:gdLst/>
            <a:ahLst/>
            <a:cxnLst/>
            <a:rect l="l" t="t" r="r" b="b"/>
            <a:pathLst>
              <a:path w="1332109" h="1332109">
                <a:moveTo>
                  <a:pt x="0" y="0"/>
                </a:moveTo>
                <a:lnTo>
                  <a:pt x="1332109" y="0"/>
                </a:lnTo>
                <a:lnTo>
                  <a:pt x="1332109" y="1332109"/>
                </a:lnTo>
                <a:lnTo>
                  <a:pt x="0" y="133210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1297653" y="2742714"/>
            <a:ext cx="3844978" cy="403288"/>
          </a:xfrm>
          <a:prstGeom prst="rect">
            <a:avLst/>
          </a:prstGeom>
        </p:spPr>
        <p:txBody>
          <a:bodyPr lIns="0" tIns="0" rIns="0" bIns="0" rtlCol="0" anchor="t">
            <a:spAutoFit/>
          </a:bodyPr>
          <a:lstStyle/>
          <a:p>
            <a:pPr algn="ctr">
              <a:lnSpc>
                <a:spcPts val="3025"/>
              </a:lnSpc>
            </a:pPr>
            <a:r>
              <a:rPr lang="en-US" sz="2520" b="1">
                <a:solidFill>
                  <a:srgbClr val="FFFFFF"/>
                </a:solidFill>
                <a:latin typeface="Public Sans Bold"/>
                <a:ea typeface="Public Sans Bold"/>
                <a:cs typeface="Public Sans Bold"/>
                <a:sym typeface="Public Sans Bold"/>
              </a:rPr>
              <a:t>EDGE COMPUTING</a:t>
            </a:r>
            <a:endParaRPr lang="en-US" sz="2520" b="1">
              <a:solidFill>
                <a:srgbClr val="FFFFFF"/>
              </a:solidFill>
              <a:latin typeface="Public Sans Bold"/>
              <a:ea typeface="Public Sans Bold"/>
              <a:cs typeface="Public Sans Bold"/>
              <a:sym typeface="Public Sans Bold"/>
            </a:endParaRPr>
          </a:p>
        </p:txBody>
      </p:sp>
      <p:sp>
        <p:nvSpPr>
          <p:cNvPr id="44" name="TextBox 44"/>
          <p:cNvSpPr txBox="1"/>
          <p:nvPr/>
        </p:nvSpPr>
        <p:spPr>
          <a:xfrm>
            <a:off x="5422583" y="2640752"/>
            <a:ext cx="3494569" cy="707966"/>
          </a:xfrm>
          <a:prstGeom prst="rect">
            <a:avLst/>
          </a:prstGeom>
        </p:spPr>
        <p:txBody>
          <a:bodyPr lIns="0" tIns="0" rIns="0" bIns="0" rtlCol="0" anchor="t">
            <a:spAutoFit/>
          </a:bodyPr>
          <a:lstStyle/>
          <a:p>
            <a:pPr algn="ctr">
              <a:lnSpc>
                <a:spcPts val="2750"/>
              </a:lnSpc>
            </a:pPr>
            <a:r>
              <a:rPr lang="en-US" sz="2290" b="1">
                <a:solidFill>
                  <a:srgbClr val="FFFFFF"/>
                </a:solidFill>
                <a:latin typeface="Public Sans Bold"/>
                <a:ea typeface="Public Sans Bold"/>
                <a:cs typeface="Public Sans Bold"/>
                <a:sym typeface="Public Sans Bold"/>
              </a:rPr>
              <a:t>INFORMATIQUE SANS SERVEUR</a:t>
            </a:r>
            <a:endParaRPr lang="en-US" sz="2290" b="1">
              <a:solidFill>
                <a:srgbClr val="FFFFFF"/>
              </a:solidFill>
              <a:latin typeface="Public Sans Bold"/>
              <a:ea typeface="Public Sans Bold"/>
              <a:cs typeface="Public Sans Bold"/>
              <a:sym typeface="Public Sans Bold"/>
            </a:endParaRPr>
          </a:p>
        </p:txBody>
      </p:sp>
      <p:sp>
        <p:nvSpPr>
          <p:cNvPr id="45" name="TextBox 45"/>
          <p:cNvSpPr txBox="1"/>
          <p:nvPr/>
        </p:nvSpPr>
        <p:spPr>
          <a:xfrm>
            <a:off x="9277920" y="2614086"/>
            <a:ext cx="3761406" cy="761298"/>
          </a:xfrm>
          <a:prstGeom prst="rect">
            <a:avLst/>
          </a:prstGeom>
        </p:spPr>
        <p:txBody>
          <a:bodyPr lIns="0" tIns="0" rIns="0" bIns="0" rtlCol="0" anchor="t">
            <a:spAutoFit/>
          </a:bodyPr>
          <a:lstStyle/>
          <a:p>
            <a:pPr algn="ctr">
              <a:lnSpc>
                <a:spcPts val="2960"/>
              </a:lnSpc>
            </a:pPr>
            <a:r>
              <a:rPr lang="en-US" sz="2465" b="1">
                <a:solidFill>
                  <a:srgbClr val="FFFFFF"/>
                </a:solidFill>
                <a:latin typeface="Public Sans Bold"/>
                <a:ea typeface="Public Sans Bold"/>
                <a:cs typeface="Public Sans Bold"/>
                <a:sym typeface="Public Sans Bold"/>
              </a:rPr>
              <a:t>APPRENTISSAGE FÉDÉRÉ</a:t>
            </a:r>
            <a:r>
              <a:rPr lang="en-US" sz="2465" b="1">
                <a:solidFill>
                  <a:srgbClr val="FFFFFF"/>
                </a:solidFill>
                <a:latin typeface="Public Sans Bold"/>
                <a:ea typeface="Public Sans Bold"/>
                <a:cs typeface="Public Sans Bold"/>
                <a:sym typeface="Public Sans Bold"/>
              </a:rPr>
              <a:t> </a:t>
            </a:r>
            <a:endParaRPr lang="en-US" sz="2465" b="1">
              <a:solidFill>
                <a:srgbClr val="FFFFFF"/>
              </a:solidFill>
              <a:latin typeface="Public Sans Bold"/>
              <a:ea typeface="Public Sans Bold"/>
              <a:cs typeface="Public Sans Bold"/>
              <a:sym typeface="Public Sans Bold"/>
            </a:endParaRPr>
          </a:p>
        </p:txBody>
      </p:sp>
      <p:sp>
        <p:nvSpPr>
          <p:cNvPr id="46" name="TextBox 46"/>
          <p:cNvSpPr txBox="1"/>
          <p:nvPr/>
        </p:nvSpPr>
        <p:spPr>
          <a:xfrm>
            <a:off x="13096948" y="2732329"/>
            <a:ext cx="3948904" cy="413673"/>
          </a:xfrm>
          <a:prstGeom prst="rect">
            <a:avLst/>
          </a:prstGeom>
        </p:spPr>
        <p:txBody>
          <a:bodyPr lIns="0" tIns="0" rIns="0" bIns="0" rtlCol="0" anchor="t">
            <a:spAutoFit/>
          </a:bodyPr>
          <a:lstStyle/>
          <a:p>
            <a:pPr algn="ctr">
              <a:lnSpc>
                <a:spcPts val="3105"/>
              </a:lnSpc>
            </a:pPr>
            <a:r>
              <a:rPr lang="en-US" sz="2590" b="1">
                <a:solidFill>
                  <a:srgbClr val="FFFFFF"/>
                </a:solidFill>
                <a:latin typeface="Public Sans Bold"/>
                <a:ea typeface="Public Sans Bold"/>
                <a:cs typeface="Public Sans Bold"/>
                <a:sym typeface="Public Sans Bold"/>
              </a:rPr>
              <a:t>BLOCKCHAIN</a:t>
            </a:r>
            <a:endParaRPr lang="en-US" sz="2590" b="1">
              <a:solidFill>
                <a:srgbClr val="FFFFFF"/>
              </a:solidFill>
              <a:latin typeface="Public Sans Bold"/>
              <a:ea typeface="Public Sans Bold"/>
              <a:cs typeface="Public Sans Bold"/>
              <a:sym typeface="Public Sans Bold"/>
            </a:endParaRPr>
          </a:p>
        </p:txBody>
      </p:sp>
      <p:sp>
        <p:nvSpPr>
          <p:cNvPr id="47" name="TextBox 47"/>
          <p:cNvSpPr txBox="1"/>
          <p:nvPr/>
        </p:nvSpPr>
        <p:spPr>
          <a:xfrm>
            <a:off x="1432130" y="4562252"/>
            <a:ext cx="3576024" cy="4655214"/>
          </a:xfrm>
          <a:prstGeom prst="rect">
            <a:avLst/>
          </a:prstGeom>
        </p:spPr>
        <p:txBody>
          <a:bodyPr lIns="0" tIns="0" rIns="0" bIns="0" rtlCol="0" anchor="t">
            <a:spAutoFit/>
          </a:bodyPr>
          <a:lstStyle/>
          <a:p>
            <a:pPr algn="ctr">
              <a:lnSpc>
                <a:spcPts val="2815"/>
              </a:lnSpc>
            </a:pPr>
            <a:r>
              <a:rPr lang="en-US" sz="2345">
                <a:solidFill>
                  <a:srgbClr val="000000"/>
                </a:solidFill>
                <a:latin typeface="Public Sans"/>
                <a:ea typeface="Public Sans"/>
                <a:cs typeface="Public Sans"/>
                <a:sym typeface="Public Sans"/>
              </a:rPr>
              <a:t>architecture qui permet de stocker les donnees plus proche de leurs sources , permettant ainsi de</a:t>
            </a:r>
            <a:r>
              <a:rPr lang="en-US" sz="2345">
                <a:solidFill>
                  <a:srgbClr val="000000"/>
                </a:solidFill>
                <a:latin typeface="Public Sans"/>
                <a:ea typeface="Public Sans"/>
                <a:cs typeface="Public Sans"/>
                <a:sym typeface="Public Sans"/>
              </a:rPr>
              <a:t> </a:t>
            </a:r>
            <a:endParaRPr lang="en-US" sz="2345">
              <a:solidFill>
                <a:srgbClr val="000000"/>
              </a:solidFill>
              <a:latin typeface="Public Sans"/>
              <a:ea typeface="Public Sans"/>
              <a:cs typeface="Public Sans"/>
              <a:sym typeface="Public Sans"/>
            </a:endParaRPr>
          </a:p>
          <a:p>
            <a:pPr algn="ctr">
              <a:lnSpc>
                <a:spcPts val="2815"/>
              </a:lnSpc>
            </a:pPr>
            <a:r>
              <a:rPr lang="en-US" sz="2345">
                <a:solidFill>
                  <a:srgbClr val="000000"/>
                </a:solidFill>
                <a:latin typeface="Public Sans"/>
                <a:ea typeface="Public Sans"/>
                <a:cs typeface="Public Sans"/>
                <a:sym typeface="Public Sans"/>
              </a:rPr>
              <a:t>reduire la latence des donnees et d’assurer la sécurité,</a:t>
            </a:r>
            <a:endParaRPr lang="en-US" sz="2345">
              <a:solidFill>
                <a:srgbClr val="000000"/>
              </a:solidFill>
              <a:latin typeface="Public Sans"/>
              <a:ea typeface="Public Sans"/>
              <a:cs typeface="Public Sans"/>
              <a:sym typeface="Public Sans"/>
            </a:endParaRPr>
          </a:p>
          <a:p>
            <a:pPr algn="ctr">
              <a:lnSpc>
                <a:spcPts val="2815"/>
              </a:lnSpc>
            </a:pPr>
            <a:r>
              <a:rPr lang="en-US" sz="2345">
                <a:solidFill>
                  <a:srgbClr val="000000"/>
                </a:solidFill>
                <a:latin typeface="Public Sans"/>
                <a:ea typeface="Public Sans"/>
                <a:cs typeface="Public Sans"/>
                <a:sym typeface="Public Sans"/>
              </a:rPr>
              <a:t> la confidentialité et la fiabilité de la transmission et du traitement des données.</a:t>
            </a:r>
            <a:endParaRPr lang="en-US" sz="2345">
              <a:solidFill>
                <a:srgbClr val="000000"/>
              </a:solidFill>
              <a:latin typeface="Public Sans"/>
              <a:ea typeface="Public Sans"/>
              <a:cs typeface="Public Sans"/>
              <a:sym typeface="Public Sans"/>
            </a:endParaRPr>
          </a:p>
          <a:p>
            <a:pPr algn="ctr">
              <a:lnSpc>
                <a:spcPts val="2815"/>
              </a:lnSpc>
            </a:pPr>
          </a:p>
        </p:txBody>
      </p:sp>
      <p:sp>
        <p:nvSpPr>
          <p:cNvPr id="48" name="TextBox 48"/>
          <p:cNvSpPr txBox="1"/>
          <p:nvPr/>
        </p:nvSpPr>
        <p:spPr>
          <a:xfrm>
            <a:off x="5330768" y="4562252"/>
            <a:ext cx="3680452" cy="4055285"/>
          </a:xfrm>
          <a:prstGeom prst="rect">
            <a:avLst/>
          </a:prstGeom>
        </p:spPr>
        <p:txBody>
          <a:bodyPr lIns="0" tIns="0" rIns="0" bIns="0" rtlCol="0" anchor="t">
            <a:spAutoFit/>
          </a:bodyPr>
          <a:lstStyle/>
          <a:p>
            <a:pPr algn="ctr">
              <a:lnSpc>
                <a:spcPts val="2895"/>
              </a:lnSpc>
            </a:pPr>
            <a:r>
              <a:rPr lang="en-US" sz="2415">
                <a:solidFill>
                  <a:srgbClr val="000000"/>
                </a:solidFill>
                <a:latin typeface="Public Sans"/>
                <a:ea typeface="Public Sans"/>
                <a:cs typeface="Public Sans"/>
                <a:sym typeface="Public Sans"/>
              </a:rPr>
              <a:t> un modèle qui soustrait la gestion des serveurs de l'infrastructure et des ressources aux développeurs et aux utilisateurs d'applications, et leur permet de se concentrer sur la logique et les fonctionnalités métier de leurs applications</a:t>
            </a:r>
            <a:endParaRPr lang="en-US" sz="2415">
              <a:solidFill>
                <a:srgbClr val="000000"/>
              </a:solidFill>
              <a:latin typeface="Public Sans"/>
              <a:ea typeface="Public Sans"/>
              <a:cs typeface="Public Sans"/>
              <a:sym typeface="Public Sans"/>
            </a:endParaRPr>
          </a:p>
        </p:txBody>
      </p:sp>
      <p:sp>
        <p:nvSpPr>
          <p:cNvPr id="49" name="TextBox 49"/>
          <p:cNvSpPr txBox="1"/>
          <p:nvPr/>
        </p:nvSpPr>
        <p:spPr>
          <a:xfrm>
            <a:off x="9303188" y="4562252"/>
            <a:ext cx="3631530" cy="4001507"/>
          </a:xfrm>
          <a:prstGeom prst="rect">
            <a:avLst/>
          </a:prstGeom>
        </p:spPr>
        <p:txBody>
          <a:bodyPr lIns="0" tIns="0" rIns="0" bIns="0" rtlCol="0" anchor="t">
            <a:spAutoFit/>
          </a:bodyPr>
          <a:lstStyle/>
          <a:p>
            <a:pPr algn="ctr">
              <a:lnSpc>
                <a:spcPts val="2855"/>
              </a:lnSpc>
            </a:pPr>
            <a:r>
              <a:rPr lang="en-US" sz="2380">
                <a:solidFill>
                  <a:srgbClr val="000000"/>
                </a:solidFill>
                <a:latin typeface="Public Sans"/>
                <a:ea typeface="Public Sans"/>
                <a:cs typeface="Public Sans"/>
                <a:sym typeface="Public Sans"/>
              </a:rPr>
              <a:t> une technique d'apprentissage automatique</a:t>
            </a:r>
            <a:endParaRPr lang="en-US" sz="2380">
              <a:solidFill>
                <a:srgbClr val="000000"/>
              </a:solidFill>
              <a:latin typeface="Public Sans"/>
              <a:ea typeface="Public Sans"/>
              <a:cs typeface="Public Sans"/>
              <a:sym typeface="Public Sans"/>
            </a:endParaRPr>
          </a:p>
          <a:p>
            <a:pPr algn="ctr">
              <a:lnSpc>
                <a:spcPts val="2855"/>
              </a:lnSpc>
            </a:pPr>
            <a:r>
              <a:rPr lang="en-US" sz="2380">
                <a:solidFill>
                  <a:srgbClr val="000000"/>
                </a:solidFill>
                <a:latin typeface="Public Sans"/>
                <a:ea typeface="Public Sans"/>
                <a:cs typeface="Public Sans"/>
                <a:sym typeface="Public Sans"/>
              </a:rPr>
              <a:t> qui permet à plusieurs entités de former de manière collaborative un modèle partagé , </a:t>
            </a:r>
            <a:endParaRPr lang="en-US" sz="2380">
              <a:solidFill>
                <a:srgbClr val="000000"/>
              </a:solidFill>
              <a:latin typeface="Public Sans"/>
              <a:ea typeface="Public Sans"/>
              <a:cs typeface="Public Sans"/>
              <a:sym typeface="Public Sans"/>
            </a:endParaRPr>
          </a:p>
          <a:p>
            <a:pPr algn="ctr">
              <a:lnSpc>
                <a:spcPts val="2855"/>
              </a:lnSpc>
            </a:pPr>
            <a:r>
              <a:rPr lang="en-US" sz="2380">
                <a:solidFill>
                  <a:srgbClr val="000000"/>
                </a:solidFill>
                <a:latin typeface="Public Sans"/>
                <a:ea typeface="Public Sans"/>
                <a:cs typeface="Public Sans"/>
                <a:sym typeface="Public Sans"/>
              </a:rPr>
              <a:t>sans échanger leurs données entre elles ou à un serveur central</a:t>
            </a:r>
            <a:endParaRPr lang="en-US" sz="2380">
              <a:solidFill>
                <a:srgbClr val="000000"/>
              </a:solidFill>
              <a:latin typeface="Public Sans"/>
              <a:ea typeface="Public Sans"/>
              <a:cs typeface="Public Sans"/>
              <a:sym typeface="Public Sans"/>
            </a:endParaRPr>
          </a:p>
          <a:p>
            <a:pPr algn="ctr">
              <a:lnSpc>
                <a:spcPts val="2855"/>
              </a:lnSpc>
            </a:pPr>
          </a:p>
        </p:txBody>
      </p:sp>
      <p:sp>
        <p:nvSpPr>
          <p:cNvPr id="50" name="TextBox 50"/>
          <p:cNvSpPr txBox="1"/>
          <p:nvPr/>
        </p:nvSpPr>
        <p:spPr>
          <a:xfrm>
            <a:off x="13255262" y="4562252"/>
            <a:ext cx="3682067" cy="2905125"/>
          </a:xfrm>
          <a:prstGeom prst="rect">
            <a:avLst/>
          </a:prstGeom>
        </p:spPr>
        <p:txBody>
          <a:bodyPr lIns="0" tIns="0" rIns="0" bIns="0" rtlCol="0" anchor="t">
            <a:spAutoFit/>
          </a:bodyPr>
          <a:lstStyle/>
          <a:p>
            <a:pPr algn="ctr">
              <a:lnSpc>
                <a:spcPts val="2895"/>
              </a:lnSpc>
            </a:pPr>
            <a:r>
              <a:rPr lang="en-US" sz="2415">
                <a:solidFill>
                  <a:srgbClr val="000000"/>
                </a:solidFill>
                <a:latin typeface="Public Sans"/>
                <a:ea typeface="Public Sans"/>
                <a:cs typeface="Public Sans"/>
                <a:sym typeface="Public Sans"/>
              </a:rPr>
              <a:t> </a:t>
            </a:r>
            <a:r>
              <a:rPr lang="en-US" sz="2415">
                <a:solidFill>
                  <a:srgbClr val="000000"/>
                </a:solidFill>
                <a:latin typeface="Public Sans"/>
                <a:ea typeface="Public Sans"/>
                <a:cs typeface="Public Sans"/>
                <a:sym typeface="Public Sans"/>
              </a:rPr>
              <a:t>une technologie qui permet de securise la transaction des donnees</a:t>
            </a:r>
            <a:endParaRPr lang="en-US" sz="2415">
              <a:solidFill>
                <a:srgbClr val="000000"/>
              </a:solidFill>
              <a:latin typeface="Public Sans"/>
              <a:ea typeface="Public Sans"/>
              <a:cs typeface="Public Sans"/>
              <a:sym typeface="Public Sans"/>
            </a:endParaRPr>
          </a:p>
          <a:p>
            <a:pPr algn="ctr">
              <a:lnSpc>
                <a:spcPts val="2895"/>
              </a:lnSpc>
            </a:pPr>
            <a:r>
              <a:rPr lang="en-US" sz="2415">
                <a:solidFill>
                  <a:srgbClr val="000000"/>
                </a:solidFill>
                <a:latin typeface="Public Sans"/>
                <a:ea typeface="Public Sans"/>
                <a:cs typeface="Public Sans"/>
                <a:sym typeface="Public Sans"/>
              </a:rPr>
              <a:t>de maniere transparante et decentralisee sans avoir besoin d’un intermediaire</a:t>
            </a:r>
            <a:endParaRPr lang="en-US" sz="2415">
              <a:solidFill>
                <a:srgbClr val="000000"/>
              </a:solidFill>
              <a:latin typeface="Public Sans"/>
              <a:ea typeface="Public Sans"/>
              <a:cs typeface="Public Sans"/>
              <a:sym typeface="Public Sans"/>
            </a:endParaRPr>
          </a:p>
          <a:p>
            <a:pPr algn="ctr">
              <a:lnSpc>
                <a:spcPts val="2895"/>
              </a:lnSpc>
            </a:pPr>
          </a:p>
        </p:txBody>
      </p:sp>
      <p:sp>
        <p:nvSpPr>
          <p:cNvPr id="51" name="Freeform 51"/>
          <p:cNvSpPr/>
          <p:nvPr/>
        </p:nvSpPr>
        <p:spPr>
          <a:xfrm>
            <a:off x="2659612" y="942600"/>
            <a:ext cx="1144903" cy="1119923"/>
          </a:xfrm>
          <a:custGeom>
            <a:avLst/>
            <a:gdLst/>
            <a:ahLst/>
            <a:cxnLst/>
            <a:rect l="l" t="t" r="r" b="b"/>
            <a:pathLst>
              <a:path w="1144903" h="1119923">
                <a:moveTo>
                  <a:pt x="0" y="0"/>
                </a:moveTo>
                <a:lnTo>
                  <a:pt x="1144902" y="0"/>
                </a:lnTo>
                <a:lnTo>
                  <a:pt x="1144902" y="1119923"/>
                </a:lnTo>
                <a:lnTo>
                  <a:pt x="0" y="11199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2" name="Freeform 52"/>
          <p:cNvSpPr/>
          <p:nvPr/>
        </p:nvSpPr>
        <p:spPr>
          <a:xfrm>
            <a:off x="6504027" y="1048055"/>
            <a:ext cx="1249893" cy="909013"/>
          </a:xfrm>
          <a:custGeom>
            <a:avLst/>
            <a:gdLst/>
            <a:ahLst/>
            <a:cxnLst/>
            <a:rect l="l" t="t" r="r" b="b"/>
            <a:pathLst>
              <a:path w="1249893" h="909013">
                <a:moveTo>
                  <a:pt x="0" y="0"/>
                </a:moveTo>
                <a:lnTo>
                  <a:pt x="1249893" y="0"/>
                </a:lnTo>
                <a:lnTo>
                  <a:pt x="1249893" y="909013"/>
                </a:lnTo>
                <a:lnTo>
                  <a:pt x="0" y="9090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3" name="Freeform 53"/>
          <p:cNvSpPr/>
          <p:nvPr/>
        </p:nvSpPr>
        <p:spPr>
          <a:xfrm>
            <a:off x="14538501" y="852318"/>
            <a:ext cx="1115589" cy="1210205"/>
          </a:xfrm>
          <a:custGeom>
            <a:avLst/>
            <a:gdLst/>
            <a:ahLst/>
            <a:cxnLst/>
            <a:rect l="l" t="t" r="r" b="b"/>
            <a:pathLst>
              <a:path w="1115589" h="1210205">
                <a:moveTo>
                  <a:pt x="0" y="0"/>
                </a:moveTo>
                <a:lnTo>
                  <a:pt x="1115589" y="0"/>
                </a:lnTo>
                <a:lnTo>
                  <a:pt x="1115589" y="1210205"/>
                </a:lnTo>
                <a:lnTo>
                  <a:pt x="0" y="12102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4" name="Freeform 54"/>
          <p:cNvSpPr/>
          <p:nvPr/>
        </p:nvSpPr>
        <p:spPr>
          <a:xfrm rot="-3578320">
            <a:off x="16973630" y="819540"/>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55" name="Freeform 55"/>
          <p:cNvSpPr/>
          <p:nvPr/>
        </p:nvSpPr>
        <p:spPr>
          <a:xfrm rot="-3578320">
            <a:off x="-1423431" y="1408055"/>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6" name="Freeform 56"/>
          <p:cNvSpPr/>
          <p:nvPr/>
        </p:nvSpPr>
        <p:spPr>
          <a:xfrm rot="7221679">
            <a:off x="17058911" y="-1367656"/>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57" name="Freeform 57"/>
          <p:cNvSpPr/>
          <p:nvPr/>
        </p:nvSpPr>
        <p:spPr>
          <a:xfrm rot="-3578320">
            <a:off x="717510" y="9787278"/>
            <a:ext cx="2656890" cy="2299417"/>
          </a:xfrm>
          <a:custGeom>
            <a:avLst/>
            <a:gdLst/>
            <a:ahLst/>
            <a:cxnLst/>
            <a:rect l="l" t="t" r="r" b="b"/>
            <a:pathLst>
              <a:path w="2656890" h="2299417">
                <a:moveTo>
                  <a:pt x="0" y="0"/>
                </a:moveTo>
                <a:lnTo>
                  <a:pt x="2656889" y="0"/>
                </a:lnTo>
                <a:lnTo>
                  <a:pt x="2656889" y="2299418"/>
                </a:lnTo>
                <a:lnTo>
                  <a:pt x="0" y="229941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8" name="Freeform 58"/>
          <p:cNvSpPr/>
          <p:nvPr/>
        </p:nvSpPr>
        <p:spPr>
          <a:xfrm rot="-3578320">
            <a:off x="-1320549" y="8361007"/>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59" name="Freeform 59"/>
          <p:cNvSpPr/>
          <p:nvPr/>
        </p:nvSpPr>
        <p:spPr>
          <a:xfrm rot="7221679">
            <a:off x="-1065156" y="-795784"/>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60" name="Freeform 60"/>
          <p:cNvSpPr/>
          <p:nvPr/>
        </p:nvSpPr>
        <p:spPr>
          <a:xfrm rot="-3578320">
            <a:off x="14870003" y="-1994286"/>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61" name="TextBox 61"/>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08</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rot="0">
            <a:off x="1481051" y="3418152"/>
            <a:ext cx="4715356" cy="1782203"/>
            <a:chOff x="0" y="0"/>
            <a:chExt cx="6287141" cy="2376271"/>
          </a:xfrm>
        </p:grpSpPr>
        <p:grpSp>
          <p:nvGrpSpPr>
            <p:cNvPr id="3" name="Group 3"/>
            <p:cNvGrpSpPr/>
            <p:nvPr/>
          </p:nvGrpSpPr>
          <p:grpSpPr>
            <a:xfrm rot="-5400000">
              <a:off x="1853726" y="-1853726"/>
              <a:ext cx="2376271" cy="6083724"/>
              <a:chOff x="0" y="0"/>
              <a:chExt cx="660400" cy="1690755"/>
            </a:xfrm>
          </p:grpSpPr>
          <p:sp>
            <p:nvSpPr>
              <p:cNvPr id="4" name="Freeform 4"/>
              <p:cNvSpPr/>
              <p:nvPr/>
            </p:nvSpPr>
            <p:spPr>
              <a:xfrm>
                <a:off x="0" y="0"/>
                <a:ext cx="660400" cy="1690755"/>
              </a:xfrm>
              <a:custGeom>
                <a:avLst/>
                <a:gdLst/>
                <a:ahLst/>
                <a:cxnLst/>
                <a:rect l="l" t="t" r="r" b="b"/>
                <a:pathLst>
                  <a:path w="660400" h="169075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8004"/>
                    </a:cubicBezTo>
                    <a:lnTo>
                      <a:pt x="660400" y="1690755"/>
                    </a:lnTo>
                    <a:lnTo>
                      <a:pt x="0" y="1690755"/>
                    </a:lnTo>
                    <a:lnTo>
                      <a:pt x="0" y="349000"/>
                    </a:lnTo>
                    <a:cubicBezTo>
                      <a:pt x="1782" y="185660"/>
                      <a:pt x="93019" y="64045"/>
                      <a:pt x="220252" y="19070"/>
                    </a:cubicBezTo>
                    <a:close/>
                  </a:path>
                </a:pathLst>
              </a:custGeom>
              <a:solidFill>
                <a:srgbClr val="FFCCAB"/>
              </a:solidFill>
            </p:spPr>
          </p:sp>
          <p:sp>
            <p:nvSpPr>
              <p:cNvPr id="5" name="TextBox 5"/>
              <p:cNvSpPr txBox="1"/>
              <p:nvPr/>
            </p:nvSpPr>
            <p:spPr>
              <a:xfrm>
                <a:off x="0" y="117475"/>
                <a:ext cx="660400" cy="1573280"/>
              </a:xfrm>
              <a:prstGeom prst="rect">
                <a:avLst/>
              </a:prstGeom>
            </p:spPr>
            <p:txBody>
              <a:bodyPr lIns="50800" tIns="50800" rIns="50800" bIns="50800" rtlCol="0" anchor="ctr"/>
              <a:lstStyle/>
              <a:p>
                <a:pPr algn="ctr">
                  <a:lnSpc>
                    <a:spcPts val="1700"/>
                  </a:lnSpc>
                </a:pPr>
              </a:p>
            </p:txBody>
          </p:sp>
        </p:grpSp>
        <p:grpSp>
          <p:nvGrpSpPr>
            <p:cNvPr id="6" name="Group 6"/>
            <p:cNvGrpSpPr/>
            <p:nvPr/>
          </p:nvGrpSpPr>
          <p:grpSpPr>
            <a:xfrm rot="0">
              <a:off x="185959" y="244079"/>
              <a:ext cx="1888113" cy="18881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DE2"/>
              </a:solidFill>
            </p:spPr>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1700"/>
                  </a:lnSpc>
                </a:pPr>
              </a:p>
            </p:txBody>
          </p:sp>
        </p:grpSp>
        <p:grpSp>
          <p:nvGrpSpPr>
            <p:cNvPr id="9" name="Group 9"/>
            <p:cNvGrpSpPr/>
            <p:nvPr/>
          </p:nvGrpSpPr>
          <p:grpSpPr>
            <a:xfrm rot="-5400000">
              <a:off x="4986177" y="1075307"/>
              <a:ext cx="2376271" cy="225656"/>
              <a:chOff x="0" y="0"/>
              <a:chExt cx="3597396" cy="341617"/>
            </a:xfrm>
          </p:grpSpPr>
          <p:sp>
            <p:nvSpPr>
              <p:cNvPr id="10" name="Freeform 10"/>
              <p:cNvSpPr/>
              <p:nvPr/>
            </p:nvSpPr>
            <p:spPr>
              <a:xfrm>
                <a:off x="0" y="0"/>
                <a:ext cx="3597396" cy="341617"/>
              </a:xfrm>
              <a:custGeom>
                <a:avLst/>
                <a:gdLst/>
                <a:ahLst/>
                <a:cxnLst/>
                <a:rect l="l" t="t" r="r" b="b"/>
                <a:pathLst>
                  <a:path w="3597396" h="341617">
                    <a:moveTo>
                      <a:pt x="1199780" y="322548"/>
                    </a:moveTo>
                    <a:cubicBezTo>
                      <a:pt x="1384209" y="334062"/>
                      <a:pt x="1593882" y="341617"/>
                      <a:pt x="1799667" y="341617"/>
                    </a:cubicBezTo>
                    <a:cubicBezTo>
                      <a:pt x="2005458" y="341617"/>
                      <a:pt x="2203481" y="335140"/>
                      <a:pt x="2385966" y="323627"/>
                    </a:cubicBezTo>
                    <a:cubicBezTo>
                      <a:pt x="2389854" y="323267"/>
                      <a:pt x="2393735" y="323267"/>
                      <a:pt x="2397616" y="322908"/>
                    </a:cubicBezTo>
                    <a:cubicBezTo>
                      <a:pt x="3082927" y="276852"/>
                      <a:pt x="3587690" y="155239"/>
                      <a:pt x="3597396" y="23582"/>
                    </a:cubicBezTo>
                    <a:lnTo>
                      <a:pt x="3597396" y="0"/>
                    </a:lnTo>
                    <a:lnTo>
                      <a:pt x="0" y="0"/>
                    </a:lnTo>
                    <a:lnTo>
                      <a:pt x="0" y="23564"/>
                    </a:lnTo>
                    <a:cubicBezTo>
                      <a:pt x="9707" y="155957"/>
                      <a:pt x="506703" y="277573"/>
                      <a:pt x="1199780" y="322548"/>
                    </a:cubicBezTo>
                    <a:close/>
                  </a:path>
                </a:pathLst>
              </a:custGeom>
              <a:solidFill>
                <a:srgbClr val="FFEDE2"/>
              </a:solidFill>
            </p:spPr>
          </p:sp>
          <p:sp>
            <p:nvSpPr>
              <p:cNvPr id="11" name="TextBox 11"/>
              <p:cNvSpPr txBox="1"/>
              <p:nvPr/>
            </p:nvSpPr>
            <p:spPr>
              <a:xfrm>
                <a:off x="0" y="-9525"/>
                <a:ext cx="3597396" cy="224142"/>
              </a:xfrm>
              <a:prstGeom prst="rect">
                <a:avLst/>
              </a:prstGeom>
            </p:spPr>
            <p:txBody>
              <a:bodyPr lIns="50800" tIns="50800" rIns="50800" bIns="50800" rtlCol="0" anchor="ctr"/>
              <a:lstStyle/>
              <a:p>
                <a:pPr algn="ctr">
                  <a:lnSpc>
                    <a:spcPts val="1700"/>
                  </a:lnSpc>
                </a:pPr>
              </a:p>
            </p:txBody>
          </p:sp>
        </p:grpSp>
      </p:grpSp>
      <p:sp>
        <p:nvSpPr>
          <p:cNvPr id="12" name="Freeform 12"/>
          <p:cNvSpPr/>
          <p:nvPr/>
        </p:nvSpPr>
        <p:spPr>
          <a:xfrm>
            <a:off x="1787943" y="3871037"/>
            <a:ext cx="1084116" cy="788448"/>
          </a:xfrm>
          <a:custGeom>
            <a:avLst/>
            <a:gdLst/>
            <a:ahLst/>
            <a:cxnLst/>
            <a:rect l="l" t="t" r="r" b="b"/>
            <a:pathLst>
              <a:path w="1084116" h="788448">
                <a:moveTo>
                  <a:pt x="0" y="0"/>
                </a:moveTo>
                <a:lnTo>
                  <a:pt x="1084116" y="0"/>
                </a:lnTo>
                <a:lnTo>
                  <a:pt x="1084116" y="788448"/>
                </a:lnTo>
                <a:lnTo>
                  <a:pt x="0" y="78844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3" name="AutoShape 13"/>
          <p:cNvSpPr/>
          <p:nvPr/>
        </p:nvSpPr>
        <p:spPr>
          <a:xfrm flipV="1">
            <a:off x="6672656" y="3222585"/>
            <a:ext cx="0" cy="2085353"/>
          </a:xfrm>
          <a:prstGeom prst="line">
            <a:avLst/>
          </a:prstGeom>
          <a:ln w="28575" cap="rnd">
            <a:solidFill>
              <a:srgbClr val="767676">
                <a:alpha val="64706"/>
              </a:srgbClr>
            </a:solidFill>
            <a:prstDash val="sysDash"/>
            <a:headEnd type="none" w="sm" len="sm"/>
            <a:tailEnd type="none" w="sm" len="sm"/>
          </a:ln>
        </p:spPr>
      </p:sp>
      <p:sp>
        <p:nvSpPr>
          <p:cNvPr id="14" name="TextBox 14"/>
          <p:cNvSpPr txBox="1"/>
          <p:nvPr/>
        </p:nvSpPr>
        <p:spPr>
          <a:xfrm>
            <a:off x="338159" y="486988"/>
            <a:ext cx="17461057" cy="1478239"/>
          </a:xfrm>
          <a:prstGeom prst="rect">
            <a:avLst/>
          </a:prstGeom>
        </p:spPr>
        <p:txBody>
          <a:bodyPr lIns="0" tIns="0" rIns="0" bIns="0" rtlCol="0" anchor="t">
            <a:spAutoFit/>
          </a:bodyPr>
          <a:lstStyle/>
          <a:p>
            <a:pPr marL="0" lvl="1" indent="0" algn="ctr">
              <a:lnSpc>
                <a:spcPts val="5665"/>
              </a:lnSpc>
              <a:spcBef>
                <a:spcPct val="0"/>
              </a:spcBef>
            </a:pPr>
            <a:r>
              <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BONNES PRATIQUES ET EXEMPLES D'APPLICATIONS BIG DATA ET CLOUD COMPUTING</a:t>
            </a:r>
            <a:endPar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5" name="TextBox 15"/>
          <p:cNvSpPr txBox="1"/>
          <p:nvPr/>
        </p:nvSpPr>
        <p:spPr>
          <a:xfrm>
            <a:off x="1028700" y="2018675"/>
            <a:ext cx="17233366" cy="880002"/>
          </a:xfrm>
          <a:prstGeom prst="rect">
            <a:avLst/>
          </a:prstGeom>
        </p:spPr>
        <p:txBody>
          <a:bodyPr lIns="0" tIns="0" rIns="0" bIns="0" rtlCol="0" anchor="t">
            <a:spAutoFit/>
          </a:bodyPr>
          <a:lstStyle/>
          <a:p>
            <a:pPr algn="l">
              <a:lnSpc>
                <a:spcPts val="3470"/>
              </a:lnSpc>
            </a:pPr>
          </a:p>
          <a:p>
            <a:pPr algn="l">
              <a:lnSpc>
                <a:spcPts val="3470"/>
              </a:lnSpc>
            </a:pPr>
            <a:r>
              <a:rPr lang="en-US" sz="2915">
                <a:solidFill>
                  <a:srgbClr val="000000"/>
                </a:solidFill>
                <a:latin typeface="Glacial Indifference"/>
                <a:ea typeface="Glacial Indifference"/>
                <a:cs typeface="Glacial Indifference"/>
                <a:sym typeface="Glacial Indifference"/>
              </a:rPr>
              <a:t>Certaines des meilleures pratiques et exemples d’applications Big Data et Cloud Computing sont :</a:t>
            </a:r>
            <a:endParaRPr lang="en-US" sz="2915">
              <a:solidFill>
                <a:srgbClr val="000000"/>
              </a:solidFill>
              <a:latin typeface="Glacial Indifference"/>
              <a:ea typeface="Glacial Indifference"/>
              <a:cs typeface="Glacial Indifference"/>
              <a:sym typeface="Glacial Indifference"/>
            </a:endParaRPr>
          </a:p>
        </p:txBody>
      </p:sp>
      <p:sp>
        <p:nvSpPr>
          <p:cNvPr id="16" name="Freeform 16"/>
          <p:cNvSpPr/>
          <p:nvPr/>
        </p:nvSpPr>
        <p:spPr>
          <a:xfrm rot="-3578320">
            <a:off x="-1826367" y="7696242"/>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rot="-3578320">
            <a:off x="17212475" y="57154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Freeform 18"/>
          <p:cNvSpPr/>
          <p:nvPr/>
        </p:nvSpPr>
        <p:spPr>
          <a:xfrm rot="7040216">
            <a:off x="275007" y="9123066"/>
            <a:ext cx="2412087" cy="2087552"/>
          </a:xfrm>
          <a:custGeom>
            <a:avLst/>
            <a:gdLst/>
            <a:ahLst/>
            <a:cxnLst/>
            <a:rect l="l" t="t" r="r" b="b"/>
            <a:pathLst>
              <a:path w="2412087" h="2087552">
                <a:moveTo>
                  <a:pt x="0" y="0"/>
                </a:moveTo>
                <a:lnTo>
                  <a:pt x="2412087" y="0"/>
                </a:lnTo>
                <a:lnTo>
                  <a:pt x="2412087" y="2087551"/>
                </a:lnTo>
                <a:lnTo>
                  <a:pt x="0" y="20875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rot="-3578320">
            <a:off x="15058820" y="-812465"/>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3578320">
            <a:off x="-1479192" y="254658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4527089" y="5497063"/>
            <a:ext cx="8061809" cy="4669778"/>
          </a:xfrm>
          <a:custGeom>
            <a:avLst/>
            <a:gdLst/>
            <a:ahLst/>
            <a:cxnLst/>
            <a:rect l="l" t="t" r="r" b="b"/>
            <a:pathLst>
              <a:path w="8061809" h="4669778">
                <a:moveTo>
                  <a:pt x="0" y="0"/>
                </a:moveTo>
                <a:lnTo>
                  <a:pt x="8061809" y="0"/>
                </a:lnTo>
                <a:lnTo>
                  <a:pt x="8061809" y="4669779"/>
                </a:lnTo>
                <a:lnTo>
                  <a:pt x="0" y="4669779"/>
                </a:lnTo>
                <a:lnTo>
                  <a:pt x="0" y="0"/>
                </a:lnTo>
                <a:close/>
              </a:path>
            </a:pathLst>
          </a:custGeom>
          <a:blipFill>
            <a:blip r:embed="rId7"/>
            <a:stretch>
              <a:fillRect r="-805"/>
            </a:stretch>
          </a:blipFill>
        </p:spPr>
      </p:sp>
      <p:sp>
        <p:nvSpPr>
          <p:cNvPr id="22" name="TextBox 22"/>
          <p:cNvSpPr txBox="1"/>
          <p:nvPr/>
        </p:nvSpPr>
        <p:spPr>
          <a:xfrm>
            <a:off x="3176757" y="3837767"/>
            <a:ext cx="2700664" cy="678204"/>
          </a:xfrm>
          <a:prstGeom prst="rect">
            <a:avLst/>
          </a:prstGeom>
        </p:spPr>
        <p:txBody>
          <a:bodyPr lIns="0" tIns="0" rIns="0" bIns="0" rtlCol="0" anchor="t">
            <a:spAutoFit/>
          </a:bodyPr>
          <a:lstStyle/>
          <a:p>
            <a:pPr algn="ctr">
              <a:lnSpc>
                <a:spcPts val="4620"/>
              </a:lnSpc>
            </a:pPr>
            <a:r>
              <a:rPr lang="en-US" sz="3300"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rPr>
              <a:t>Data Lake</a:t>
            </a:r>
            <a:endParaRPr lang="en-US" sz="3300"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endParaRPr>
          </a:p>
        </p:txBody>
      </p:sp>
      <p:sp>
        <p:nvSpPr>
          <p:cNvPr id="23" name="TextBox 23"/>
          <p:cNvSpPr txBox="1"/>
          <p:nvPr/>
        </p:nvSpPr>
        <p:spPr>
          <a:xfrm>
            <a:off x="7148906" y="3581631"/>
            <a:ext cx="10110394" cy="1561869"/>
          </a:xfrm>
          <a:prstGeom prst="rect">
            <a:avLst/>
          </a:prstGeom>
        </p:spPr>
        <p:txBody>
          <a:bodyPr lIns="0" tIns="0" rIns="0" bIns="0" rtlCol="0" anchor="t">
            <a:spAutoFit/>
          </a:bodyPr>
          <a:lstStyle/>
          <a:p>
            <a:pPr algn="l">
              <a:lnSpc>
                <a:spcPts val="3115"/>
              </a:lnSpc>
            </a:pPr>
            <a:r>
              <a:rPr lang="en-US" sz="2620">
                <a:solidFill>
                  <a:srgbClr val="000000"/>
                </a:solidFill>
                <a:latin typeface="Glacial Indifference"/>
                <a:ea typeface="Glacial Indifference"/>
                <a:cs typeface="Glacial Indifference"/>
                <a:sym typeface="Glacial Indifference"/>
              </a:rPr>
              <a:t>un lac de données est un référentiel centralisé qui stocke des données brutes, </a:t>
            </a:r>
            <a:r>
              <a:rPr lang="en-US" sz="2620">
                <a:solidFill>
                  <a:srgbClr val="000000"/>
                </a:solidFill>
                <a:latin typeface="Glacial Indifference"/>
                <a:ea typeface="Glacial Indifference"/>
                <a:cs typeface="Glacial Indifference"/>
                <a:sym typeface="Glacial Indifference"/>
              </a:rPr>
              <a:t>non structurées et semi-structurées provenant de diverses sources , permet aux utilisateurs d'accéder  et d'analyser les données dans leur format natif</a:t>
            </a:r>
            <a:endParaRPr lang="en-US" sz="2620">
              <a:solidFill>
                <a:srgbClr val="000000"/>
              </a:solidFill>
              <a:latin typeface="Glacial Indifference"/>
              <a:ea typeface="Glacial Indifference"/>
              <a:cs typeface="Glacial Indifference"/>
              <a:sym typeface="Glacial Indifference"/>
            </a:endParaRPr>
          </a:p>
        </p:txBody>
      </p:sp>
      <p:sp>
        <p:nvSpPr>
          <p:cNvPr id="24" name="TextBox 24"/>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09</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rot="0">
            <a:off x="1481051" y="3412876"/>
            <a:ext cx="4961617" cy="1875279"/>
            <a:chOff x="0" y="0"/>
            <a:chExt cx="6615489" cy="2500373"/>
          </a:xfrm>
        </p:grpSpPr>
        <p:grpSp>
          <p:nvGrpSpPr>
            <p:cNvPr id="3" name="Group 3"/>
            <p:cNvGrpSpPr/>
            <p:nvPr/>
          </p:nvGrpSpPr>
          <p:grpSpPr>
            <a:xfrm rot="5400000">
              <a:off x="2164579" y="-1950538"/>
              <a:ext cx="2500373" cy="6401449"/>
              <a:chOff x="0" y="0"/>
              <a:chExt cx="660400" cy="1690755"/>
            </a:xfrm>
          </p:grpSpPr>
          <p:sp>
            <p:nvSpPr>
              <p:cNvPr id="4" name="Freeform 4"/>
              <p:cNvSpPr/>
              <p:nvPr/>
            </p:nvSpPr>
            <p:spPr>
              <a:xfrm>
                <a:off x="0" y="0"/>
                <a:ext cx="660400" cy="1690755"/>
              </a:xfrm>
              <a:custGeom>
                <a:avLst/>
                <a:gdLst/>
                <a:ahLst/>
                <a:cxnLst/>
                <a:rect l="l" t="t" r="r" b="b"/>
                <a:pathLst>
                  <a:path w="660400" h="169075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8004"/>
                    </a:cubicBezTo>
                    <a:lnTo>
                      <a:pt x="660400" y="1690755"/>
                    </a:lnTo>
                    <a:lnTo>
                      <a:pt x="0" y="1690755"/>
                    </a:lnTo>
                    <a:lnTo>
                      <a:pt x="0" y="349000"/>
                    </a:lnTo>
                    <a:cubicBezTo>
                      <a:pt x="1782" y="185660"/>
                      <a:pt x="93019" y="64045"/>
                      <a:pt x="220252" y="19070"/>
                    </a:cubicBezTo>
                    <a:close/>
                  </a:path>
                </a:pathLst>
              </a:custGeom>
              <a:solidFill>
                <a:srgbClr val="D6A7E4"/>
              </a:solidFill>
            </p:spPr>
          </p:sp>
          <p:sp>
            <p:nvSpPr>
              <p:cNvPr id="5" name="TextBox 5"/>
              <p:cNvSpPr txBox="1"/>
              <p:nvPr/>
            </p:nvSpPr>
            <p:spPr>
              <a:xfrm>
                <a:off x="0" y="127000"/>
                <a:ext cx="660400" cy="1563755"/>
              </a:xfrm>
              <a:prstGeom prst="rect">
                <a:avLst/>
              </a:prstGeom>
            </p:spPr>
            <p:txBody>
              <a:bodyPr lIns="50800" tIns="50800" rIns="50800" bIns="50800" rtlCol="0" anchor="ctr"/>
              <a:lstStyle/>
              <a:p>
                <a:pPr algn="ctr">
                  <a:lnSpc>
                    <a:spcPts val="1185"/>
                  </a:lnSpc>
                </a:pPr>
              </a:p>
            </p:txBody>
          </p:sp>
        </p:grpSp>
        <p:grpSp>
          <p:nvGrpSpPr>
            <p:cNvPr id="6" name="Group 6"/>
            <p:cNvGrpSpPr/>
            <p:nvPr/>
          </p:nvGrpSpPr>
          <p:grpSpPr>
            <a:xfrm rot="-10800000">
              <a:off x="4433098" y="256826"/>
              <a:ext cx="1986721" cy="19867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E2FF"/>
              </a:solidFill>
            </p:spPr>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1185"/>
                  </a:lnSpc>
                </a:pPr>
              </a:p>
            </p:txBody>
          </p:sp>
        </p:grpSp>
        <p:grpSp>
          <p:nvGrpSpPr>
            <p:cNvPr id="9" name="Group 9"/>
            <p:cNvGrpSpPr/>
            <p:nvPr/>
          </p:nvGrpSpPr>
          <p:grpSpPr>
            <a:xfrm rot="5400000">
              <a:off x="-1131466" y="1131466"/>
              <a:ext cx="2500373" cy="237441"/>
              <a:chOff x="0" y="0"/>
              <a:chExt cx="3597396" cy="341617"/>
            </a:xfrm>
          </p:grpSpPr>
          <p:sp>
            <p:nvSpPr>
              <p:cNvPr id="10" name="Freeform 10"/>
              <p:cNvSpPr/>
              <p:nvPr/>
            </p:nvSpPr>
            <p:spPr>
              <a:xfrm>
                <a:off x="0" y="0"/>
                <a:ext cx="3597396" cy="341617"/>
              </a:xfrm>
              <a:custGeom>
                <a:avLst/>
                <a:gdLst/>
                <a:ahLst/>
                <a:cxnLst/>
                <a:rect l="l" t="t" r="r" b="b"/>
                <a:pathLst>
                  <a:path w="3597396" h="341617">
                    <a:moveTo>
                      <a:pt x="1199780" y="322548"/>
                    </a:moveTo>
                    <a:cubicBezTo>
                      <a:pt x="1384209" y="334062"/>
                      <a:pt x="1593882" y="341617"/>
                      <a:pt x="1799667" y="341617"/>
                    </a:cubicBezTo>
                    <a:cubicBezTo>
                      <a:pt x="2005458" y="341617"/>
                      <a:pt x="2203481" y="335140"/>
                      <a:pt x="2385966" y="323627"/>
                    </a:cubicBezTo>
                    <a:cubicBezTo>
                      <a:pt x="2389854" y="323267"/>
                      <a:pt x="2393735" y="323267"/>
                      <a:pt x="2397616" y="322908"/>
                    </a:cubicBezTo>
                    <a:cubicBezTo>
                      <a:pt x="3082927" y="276852"/>
                      <a:pt x="3587690" y="155239"/>
                      <a:pt x="3597396" y="23582"/>
                    </a:cubicBezTo>
                    <a:lnTo>
                      <a:pt x="3597396" y="0"/>
                    </a:lnTo>
                    <a:lnTo>
                      <a:pt x="0" y="0"/>
                    </a:lnTo>
                    <a:lnTo>
                      <a:pt x="0" y="23564"/>
                    </a:lnTo>
                    <a:cubicBezTo>
                      <a:pt x="9707" y="155957"/>
                      <a:pt x="506703" y="277573"/>
                      <a:pt x="1199780" y="322548"/>
                    </a:cubicBezTo>
                    <a:close/>
                  </a:path>
                </a:pathLst>
              </a:custGeom>
              <a:solidFill>
                <a:srgbClr val="F8E2FF"/>
              </a:solidFill>
            </p:spPr>
          </p:sp>
          <p:sp>
            <p:nvSpPr>
              <p:cNvPr id="11" name="TextBox 11"/>
              <p:cNvSpPr txBox="1"/>
              <p:nvPr/>
            </p:nvSpPr>
            <p:spPr>
              <a:xfrm>
                <a:off x="0" y="0"/>
                <a:ext cx="3597396" cy="214617"/>
              </a:xfrm>
              <a:prstGeom prst="rect">
                <a:avLst/>
              </a:prstGeom>
            </p:spPr>
            <p:txBody>
              <a:bodyPr lIns="50800" tIns="50800" rIns="50800" bIns="50800" rtlCol="0" anchor="ctr"/>
              <a:lstStyle/>
              <a:p>
                <a:pPr algn="ctr">
                  <a:lnSpc>
                    <a:spcPts val="1185"/>
                  </a:lnSpc>
                </a:pPr>
              </a:p>
            </p:txBody>
          </p:sp>
        </p:grpSp>
      </p:grpSp>
      <p:sp>
        <p:nvSpPr>
          <p:cNvPr id="12" name="Freeform 12"/>
          <p:cNvSpPr/>
          <p:nvPr/>
        </p:nvSpPr>
        <p:spPr>
          <a:xfrm>
            <a:off x="5136387" y="3784057"/>
            <a:ext cx="702863" cy="857150"/>
          </a:xfrm>
          <a:custGeom>
            <a:avLst/>
            <a:gdLst/>
            <a:ahLst/>
            <a:cxnLst/>
            <a:rect l="l" t="t" r="r" b="b"/>
            <a:pathLst>
              <a:path w="702863" h="857150">
                <a:moveTo>
                  <a:pt x="0" y="0"/>
                </a:moveTo>
                <a:lnTo>
                  <a:pt x="702863" y="0"/>
                </a:lnTo>
                <a:lnTo>
                  <a:pt x="702863" y="857150"/>
                </a:lnTo>
                <a:lnTo>
                  <a:pt x="0" y="8571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3" name="TextBox 13"/>
          <p:cNvSpPr txBox="1"/>
          <p:nvPr/>
        </p:nvSpPr>
        <p:spPr>
          <a:xfrm>
            <a:off x="338159" y="486988"/>
            <a:ext cx="17461057" cy="1478239"/>
          </a:xfrm>
          <a:prstGeom prst="rect">
            <a:avLst/>
          </a:prstGeom>
        </p:spPr>
        <p:txBody>
          <a:bodyPr lIns="0" tIns="0" rIns="0" bIns="0" rtlCol="0" anchor="t">
            <a:spAutoFit/>
          </a:bodyPr>
          <a:lstStyle/>
          <a:p>
            <a:pPr marL="0" lvl="1" indent="0" algn="ctr">
              <a:lnSpc>
                <a:spcPts val="5665"/>
              </a:lnSpc>
              <a:spcBef>
                <a:spcPct val="0"/>
              </a:spcBef>
            </a:pPr>
            <a:r>
              <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BONNES PRATIQUES ET EXEMPLES D'APPLICATIONS BIG DATA ET CLOUD COMPUTING</a:t>
            </a:r>
            <a:endPar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4" name="TextBox 14"/>
          <p:cNvSpPr txBox="1"/>
          <p:nvPr/>
        </p:nvSpPr>
        <p:spPr>
          <a:xfrm>
            <a:off x="1028700" y="2018675"/>
            <a:ext cx="17233366" cy="880002"/>
          </a:xfrm>
          <a:prstGeom prst="rect">
            <a:avLst/>
          </a:prstGeom>
        </p:spPr>
        <p:txBody>
          <a:bodyPr lIns="0" tIns="0" rIns="0" bIns="0" rtlCol="0" anchor="t">
            <a:spAutoFit/>
          </a:bodyPr>
          <a:lstStyle/>
          <a:p>
            <a:pPr algn="l">
              <a:lnSpc>
                <a:spcPts val="3470"/>
              </a:lnSpc>
            </a:pPr>
          </a:p>
          <a:p>
            <a:pPr algn="l">
              <a:lnSpc>
                <a:spcPts val="3470"/>
              </a:lnSpc>
            </a:pPr>
            <a:r>
              <a:rPr lang="en-US" sz="2915">
                <a:solidFill>
                  <a:srgbClr val="000000"/>
                </a:solidFill>
                <a:latin typeface="Glacial Indifference"/>
                <a:ea typeface="Glacial Indifference"/>
                <a:cs typeface="Glacial Indifference"/>
                <a:sym typeface="Glacial Indifference"/>
              </a:rPr>
              <a:t>Certaines des meilleures pratiques et exemples d’applications Big Data et Cloud Computing sont :</a:t>
            </a:r>
            <a:endParaRPr lang="en-US" sz="2915">
              <a:solidFill>
                <a:srgbClr val="000000"/>
              </a:solidFill>
              <a:latin typeface="Glacial Indifference"/>
              <a:ea typeface="Glacial Indifference"/>
              <a:cs typeface="Glacial Indifference"/>
              <a:sym typeface="Glacial Indifference"/>
            </a:endParaRPr>
          </a:p>
        </p:txBody>
      </p:sp>
      <p:sp>
        <p:nvSpPr>
          <p:cNvPr id="15" name="Freeform 15"/>
          <p:cNvSpPr/>
          <p:nvPr/>
        </p:nvSpPr>
        <p:spPr>
          <a:xfrm rot="-3578320">
            <a:off x="-1826367" y="7696242"/>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rot="-3578320">
            <a:off x="17212475" y="57154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rot="7040216">
            <a:off x="275007" y="9123066"/>
            <a:ext cx="2412087" cy="2087552"/>
          </a:xfrm>
          <a:custGeom>
            <a:avLst/>
            <a:gdLst/>
            <a:ahLst/>
            <a:cxnLst/>
            <a:rect l="l" t="t" r="r" b="b"/>
            <a:pathLst>
              <a:path w="2412087" h="2087552">
                <a:moveTo>
                  <a:pt x="0" y="0"/>
                </a:moveTo>
                <a:lnTo>
                  <a:pt x="2412087" y="0"/>
                </a:lnTo>
                <a:lnTo>
                  <a:pt x="2412087" y="2087551"/>
                </a:lnTo>
                <a:lnTo>
                  <a:pt x="0" y="20875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rot="-3578320">
            <a:off x="15058820" y="-812465"/>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rot="-3578320">
            <a:off x="-1479192" y="254658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AutoShape 20"/>
          <p:cNvSpPr/>
          <p:nvPr/>
        </p:nvSpPr>
        <p:spPr>
          <a:xfrm flipV="1">
            <a:off x="6995022" y="3307839"/>
            <a:ext cx="0" cy="2085353"/>
          </a:xfrm>
          <a:prstGeom prst="line">
            <a:avLst/>
          </a:prstGeom>
          <a:ln w="28575" cap="rnd">
            <a:solidFill>
              <a:srgbClr val="767676">
                <a:alpha val="64706"/>
              </a:srgbClr>
            </a:solidFill>
            <a:prstDash val="sysDash"/>
            <a:headEnd type="none" w="sm" len="sm"/>
            <a:tailEnd type="none" w="sm" len="sm"/>
          </a:ln>
        </p:spPr>
      </p:sp>
      <p:sp>
        <p:nvSpPr>
          <p:cNvPr id="21" name="Freeform 21"/>
          <p:cNvSpPr/>
          <p:nvPr/>
        </p:nvSpPr>
        <p:spPr>
          <a:xfrm>
            <a:off x="3549211" y="5393192"/>
            <a:ext cx="11038953" cy="4728189"/>
          </a:xfrm>
          <a:custGeom>
            <a:avLst/>
            <a:gdLst/>
            <a:ahLst/>
            <a:cxnLst/>
            <a:rect l="l" t="t" r="r" b="b"/>
            <a:pathLst>
              <a:path w="11038953" h="4728189">
                <a:moveTo>
                  <a:pt x="0" y="0"/>
                </a:moveTo>
                <a:lnTo>
                  <a:pt x="11038953" y="0"/>
                </a:lnTo>
                <a:lnTo>
                  <a:pt x="11038953" y="4728189"/>
                </a:lnTo>
                <a:lnTo>
                  <a:pt x="0" y="4728189"/>
                </a:lnTo>
                <a:lnTo>
                  <a:pt x="0" y="0"/>
                </a:lnTo>
                <a:close/>
              </a:path>
            </a:pathLst>
          </a:custGeom>
          <a:blipFill>
            <a:blip r:embed="rId7"/>
            <a:stretch>
              <a:fillRect/>
            </a:stretch>
          </a:blipFill>
        </p:spPr>
      </p:sp>
      <p:sp>
        <p:nvSpPr>
          <p:cNvPr id="22" name="TextBox 22"/>
          <p:cNvSpPr txBox="1"/>
          <p:nvPr/>
        </p:nvSpPr>
        <p:spPr>
          <a:xfrm>
            <a:off x="2089007" y="3747896"/>
            <a:ext cx="2291526" cy="1088775"/>
          </a:xfrm>
          <a:prstGeom prst="rect">
            <a:avLst/>
          </a:prstGeom>
        </p:spPr>
        <p:txBody>
          <a:bodyPr lIns="0" tIns="0" rIns="0" bIns="0" rtlCol="0" anchor="t">
            <a:spAutoFit/>
          </a:bodyPr>
          <a:lstStyle/>
          <a:p>
            <a:pPr algn="ctr">
              <a:lnSpc>
                <a:spcPts val="3970"/>
              </a:lnSpc>
            </a:pPr>
            <a:r>
              <a:rPr lang="en-US" sz="3075"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rPr>
              <a:t>Data Warehouse</a:t>
            </a:r>
            <a:endParaRPr lang="en-US" sz="3075"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endParaRPr>
          </a:p>
        </p:txBody>
      </p:sp>
      <p:sp>
        <p:nvSpPr>
          <p:cNvPr id="23" name="TextBox 23"/>
          <p:cNvSpPr txBox="1"/>
          <p:nvPr/>
        </p:nvSpPr>
        <p:spPr>
          <a:xfrm>
            <a:off x="7547376" y="3516017"/>
            <a:ext cx="9711924" cy="1668998"/>
          </a:xfrm>
          <a:prstGeom prst="rect">
            <a:avLst/>
          </a:prstGeom>
        </p:spPr>
        <p:txBody>
          <a:bodyPr lIns="0" tIns="0" rIns="0" bIns="0" rtlCol="0" anchor="t">
            <a:spAutoFit/>
          </a:bodyPr>
          <a:lstStyle/>
          <a:p>
            <a:pPr algn="l">
              <a:lnSpc>
                <a:spcPts val="3350"/>
              </a:lnSpc>
            </a:pPr>
            <a:r>
              <a:rPr lang="en-US" sz="2815">
                <a:solidFill>
                  <a:srgbClr val="000000"/>
                </a:solidFill>
                <a:latin typeface="Glacial Indifference"/>
                <a:ea typeface="Glacial Indifference"/>
                <a:cs typeface="Glacial Indifference"/>
                <a:sym typeface="Glacial Indifference"/>
              </a:rPr>
              <a:t>un entrepôt de données est un référentiel centralisé qui stocke </a:t>
            </a:r>
            <a:r>
              <a:rPr lang="en-US" sz="2815">
                <a:solidFill>
                  <a:srgbClr val="000000"/>
                </a:solidFill>
                <a:latin typeface="Glacial Indifference"/>
                <a:ea typeface="Glacial Indifference"/>
                <a:cs typeface="Glacial Indifference"/>
                <a:sym typeface="Glacial Indifference"/>
              </a:rPr>
              <a:t>des données structurées et organisées provenant de diverses sources ,fournissant des capacités de stockage et de traitement évolutives </a:t>
            </a:r>
            <a:endParaRPr lang="en-US" sz="2815">
              <a:solidFill>
                <a:srgbClr val="000000"/>
              </a:solidFill>
              <a:latin typeface="Glacial Indifference"/>
              <a:ea typeface="Glacial Indifference"/>
              <a:cs typeface="Glacial Indifference"/>
              <a:sym typeface="Glacial Indifference"/>
            </a:endParaRPr>
          </a:p>
        </p:txBody>
      </p:sp>
      <p:sp>
        <p:nvSpPr>
          <p:cNvPr id="24" name="TextBox 24"/>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10</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rot="0">
            <a:off x="1481051" y="3515380"/>
            <a:ext cx="4715356" cy="1782203"/>
            <a:chOff x="0" y="0"/>
            <a:chExt cx="6287141" cy="2376271"/>
          </a:xfrm>
        </p:grpSpPr>
        <p:grpSp>
          <p:nvGrpSpPr>
            <p:cNvPr id="3" name="Group 3"/>
            <p:cNvGrpSpPr/>
            <p:nvPr/>
          </p:nvGrpSpPr>
          <p:grpSpPr>
            <a:xfrm rot="-5400000">
              <a:off x="1853726" y="-1853726"/>
              <a:ext cx="2376271" cy="6083724"/>
              <a:chOff x="0" y="0"/>
              <a:chExt cx="660400" cy="1690755"/>
            </a:xfrm>
          </p:grpSpPr>
          <p:sp>
            <p:nvSpPr>
              <p:cNvPr id="4" name="Freeform 4"/>
              <p:cNvSpPr/>
              <p:nvPr/>
            </p:nvSpPr>
            <p:spPr>
              <a:xfrm>
                <a:off x="0" y="0"/>
                <a:ext cx="660400" cy="1690755"/>
              </a:xfrm>
              <a:custGeom>
                <a:avLst/>
                <a:gdLst/>
                <a:ahLst/>
                <a:cxnLst/>
                <a:rect l="l" t="t" r="r" b="b"/>
                <a:pathLst>
                  <a:path w="660400" h="169075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8004"/>
                    </a:cubicBezTo>
                    <a:lnTo>
                      <a:pt x="660400" y="1690755"/>
                    </a:lnTo>
                    <a:lnTo>
                      <a:pt x="0" y="1690755"/>
                    </a:lnTo>
                    <a:lnTo>
                      <a:pt x="0" y="349000"/>
                    </a:lnTo>
                    <a:cubicBezTo>
                      <a:pt x="1782" y="185660"/>
                      <a:pt x="93019" y="64045"/>
                      <a:pt x="220252" y="19070"/>
                    </a:cubicBezTo>
                    <a:close/>
                  </a:path>
                </a:pathLst>
              </a:custGeom>
              <a:solidFill>
                <a:srgbClr val="A8D2D4"/>
              </a:solidFill>
            </p:spPr>
          </p:sp>
          <p:sp>
            <p:nvSpPr>
              <p:cNvPr id="5" name="TextBox 5"/>
              <p:cNvSpPr txBox="1"/>
              <p:nvPr/>
            </p:nvSpPr>
            <p:spPr>
              <a:xfrm>
                <a:off x="0" y="117475"/>
                <a:ext cx="660400" cy="1573280"/>
              </a:xfrm>
              <a:prstGeom prst="rect">
                <a:avLst/>
              </a:prstGeom>
            </p:spPr>
            <p:txBody>
              <a:bodyPr lIns="50800" tIns="50800" rIns="50800" bIns="50800" rtlCol="0" anchor="ctr"/>
              <a:lstStyle/>
              <a:p>
                <a:pPr algn="ctr">
                  <a:lnSpc>
                    <a:spcPts val="1700"/>
                  </a:lnSpc>
                </a:pPr>
              </a:p>
            </p:txBody>
          </p:sp>
        </p:grpSp>
        <p:grpSp>
          <p:nvGrpSpPr>
            <p:cNvPr id="6" name="Group 6"/>
            <p:cNvGrpSpPr/>
            <p:nvPr/>
          </p:nvGrpSpPr>
          <p:grpSpPr>
            <a:xfrm rot="0">
              <a:off x="185959" y="267970"/>
              <a:ext cx="1888113" cy="18881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F2F4"/>
              </a:solidFill>
            </p:spPr>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1700"/>
                  </a:lnSpc>
                </a:pPr>
              </a:p>
            </p:txBody>
          </p:sp>
        </p:grpSp>
        <p:grpSp>
          <p:nvGrpSpPr>
            <p:cNvPr id="9" name="Group 9"/>
            <p:cNvGrpSpPr/>
            <p:nvPr/>
          </p:nvGrpSpPr>
          <p:grpSpPr>
            <a:xfrm rot="-5400000">
              <a:off x="4986177" y="1075307"/>
              <a:ext cx="2376271" cy="225656"/>
              <a:chOff x="0" y="0"/>
              <a:chExt cx="3597396" cy="341617"/>
            </a:xfrm>
          </p:grpSpPr>
          <p:sp>
            <p:nvSpPr>
              <p:cNvPr id="10" name="Freeform 10"/>
              <p:cNvSpPr/>
              <p:nvPr/>
            </p:nvSpPr>
            <p:spPr>
              <a:xfrm>
                <a:off x="0" y="0"/>
                <a:ext cx="3597396" cy="341617"/>
              </a:xfrm>
              <a:custGeom>
                <a:avLst/>
                <a:gdLst/>
                <a:ahLst/>
                <a:cxnLst/>
                <a:rect l="l" t="t" r="r" b="b"/>
                <a:pathLst>
                  <a:path w="3597396" h="341617">
                    <a:moveTo>
                      <a:pt x="1199780" y="322548"/>
                    </a:moveTo>
                    <a:cubicBezTo>
                      <a:pt x="1384209" y="334062"/>
                      <a:pt x="1593882" y="341617"/>
                      <a:pt x="1799667" y="341617"/>
                    </a:cubicBezTo>
                    <a:cubicBezTo>
                      <a:pt x="2005458" y="341617"/>
                      <a:pt x="2203481" y="335140"/>
                      <a:pt x="2385966" y="323627"/>
                    </a:cubicBezTo>
                    <a:cubicBezTo>
                      <a:pt x="2389854" y="323267"/>
                      <a:pt x="2393735" y="323267"/>
                      <a:pt x="2397616" y="322908"/>
                    </a:cubicBezTo>
                    <a:cubicBezTo>
                      <a:pt x="3082927" y="276852"/>
                      <a:pt x="3587690" y="155239"/>
                      <a:pt x="3597396" y="23582"/>
                    </a:cubicBezTo>
                    <a:lnTo>
                      <a:pt x="3597396" y="0"/>
                    </a:lnTo>
                    <a:lnTo>
                      <a:pt x="0" y="0"/>
                    </a:lnTo>
                    <a:lnTo>
                      <a:pt x="0" y="23564"/>
                    </a:lnTo>
                    <a:cubicBezTo>
                      <a:pt x="9707" y="155957"/>
                      <a:pt x="506703" y="277573"/>
                      <a:pt x="1199780" y="322548"/>
                    </a:cubicBezTo>
                    <a:close/>
                  </a:path>
                </a:pathLst>
              </a:custGeom>
              <a:solidFill>
                <a:srgbClr val="DAF2F4"/>
              </a:solidFill>
            </p:spPr>
          </p:sp>
          <p:sp>
            <p:nvSpPr>
              <p:cNvPr id="11" name="TextBox 11"/>
              <p:cNvSpPr txBox="1"/>
              <p:nvPr/>
            </p:nvSpPr>
            <p:spPr>
              <a:xfrm>
                <a:off x="0" y="-9525"/>
                <a:ext cx="3597396" cy="224142"/>
              </a:xfrm>
              <a:prstGeom prst="rect">
                <a:avLst/>
              </a:prstGeom>
            </p:spPr>
            <p:txBody>
              <a:bodyPr lIns="50800" tIns="50800" rIns="50800" bIns="50800" rtlCol="0" anchor="ctr"/>
              <a:lstStyle/>
              <a:p>
                <a:pPr algn="ctr">
                  <a:lnSpc>
                    <a:spcPts val="1700"/>
                  </a:lnSpc>
                </a:pPr>
              </a:p>
            </p:txBody>
          </p:sp>
        </p:grpSp>
      </p:grpSp>
      <p:sp>
        <p:nvSpPr>
          <p:cNvPr id="12" name="Freeform 12"/>
          <p:cNvSpPr/>
          <p:nvPr/>
        </p:nvSpPr>
        <p:spPr>
          <a:xfrm>
            <a:off x="1878986" y="4017759"/>
            <a:ext cx="858624" cy="777445"/>
          </a:xfrm>
          <a:custGeom>
            <a:avLst/>
            <a:gdLst/>
            <a:ahLst/>
            <a:cxnLst/>
            <a:rect l="l" t="t" r="r" b="b"/>
            <a:pathLst>
              <a:path w="858624" h="777445">
                <a:moveTo>
                  <a:pt x="0" y="0"/>
                </a:moveTo>
                <a:lnTo>
                  <a:pt x="858624" y="0"/>
                </a:lnTo>
                <a:lnTo>
                  <a:pt x="858624" y="777445"/>
                </a:lnTo>
                <a:lnTo>
                  <a:pt x="0" y="77744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3" name="TextBox 13"/>
          <p:cNvSpPr txBox="1"/>
          <p:nvPr/>
        </p:nvSpPr>
        <p:spPr>
          <a:xfrm>
            <a:off x="338159" y="486988"/>
            <a:ext cx="17461057" cy="1478239"/>
          </a:xfrm>
          <a:prstGeom prst="rect">
            <a:avLst/>
          </a:prstGeom>
        </p:spPr>
        <p:txBody>
          <a:bodyPr lIns="0" tIns="0" rIns="0" bIns="0" rtlCol="0" anchor="t">
            <a:spAutoFit/>
          </a:bodyPr>
          <a:lstStyle/>
          <a:p>
            <a:pPr marL="0" lvl="1" indent="0" algn="ctr">
              <a:lnSpc>
                <a:spcPts val="5665"/>
              </a:lnSpc>
              <a:spcBef>
                <a:spcPct val="0"/>
              </a:spcBef>
            </a:pPr>
            <a:r>
              <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BONNES PRATIQUES ET EXEMPLES D'APPLICATIONS BIG DATA ET CLOUD COMPUTING</a:t>
            </a:r>
            <a:endPar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4" name="TextBox 14"/>
          <p:cNvSpPr txBox="1"/>
          <p:nvPr/>
        </p:nvSpPr>
        <p:spPr>
          <a:xfrm>
            <a:off x="1028700" y="2018675"/>
            <a:ext cx="17233366" cy="880002"/>
          </a:xfrm>
          <a:prstGeom prst="rect">
            <a:avLst/>
          </a:prstGeom>
        </p:spPr>
        <p:txBody>
          <a:bodyPr lIns="0" tIns="0" rIns="0" bIns="0" rtlCol="0" anchor="t">
            <a:spAutoFit/>
          </a:bodyPr>
          <a:lstStyle/>
          <a:p>
            <a:pPr algn="l">
              <a:lnSpc>
                <a:spcPts val="3470"/>
              </a:lnSpc>
            </a:pPr>
          </a:p>
          <a:p>
            <a:pPr algn="l">
              <a:lnSpc>
                <a:spcPts val="3470"/>
              </a:lnSpc>
            </a:pPr>
            <a:r>
              <a:rPr lang="en-US" sz="2915">
                <a:solidFill>
                  <a:srgbClr val="000000"/>
                </a:solidFill>
                <a:latin typeface="Glacial Indifference"/>
                <a:ea typeface="Glacial Indifference"/>
                <a:cs typeface="Glacial Indifference"/>
                <a:sym typeface="Glacial Indifference"/>
              </a:rPr>
              <a:t>Certaines des meilleures pratiques et exemples d’applications Big Data et Cloud Computing sont :</a:t>
            </a:r>
            <a:endParaRPr lang="en-US" sz="2915">
              <a:solidFill>
                <a:srgbClr val="000000"/>
              </a:solidFill>
              <a:latin typeface="Glacial Indifference"/>
              <a:ea typeface="Glacial Indifference"/>
              <a:cs typeface="Glacial Indifference"/>
              <a:sym typeface="Glacial Indifference"/>
            </a:endParaRPr>
          </a:p>
        </p:txBody>
      </p:sp>
      <p:sp>
        <p:nvSpPr>
          <p:cNvPr id="15" name="Freeform 15"/>
          <p:cNvSpPr/>
          <p:nvPr/>
        </p:nvSpPr>
        <p:spPr>
          <a:xfrm rot="-3578320">
            <a:off x="-1826367" y="7696242"/>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rot="-3578320">
            <a:off x="17212475" y="57154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rot="7040216">
            <a:off x="275007" y="9123066"/>
            <a:ext cx="2412087" cy="2087552"/>
          </a:xfrm>
          <a:custGeom>
            <a:avLst/>
            <a:gdLst/>
            <a:ahLst/>
            <a:cxnLst/>
            <a:rect l="l" t="t" r="r" b="b"/>
            <a:pathLst>
              <a:path w="2412087" h="2087552">
                <a:moveTo>
                  <a:pt x="0" y="0"/>
                </a:moveTo>
                <a:lnTo>
                  <a:pt x="2412087" y="0"/>
                </a:lnTo>
                <a:lnTo>
                  <a:pt x="2412087" y="2087551"/>
                </a:lnTo>
                <a:lnTo>
                  <a:pt x="0" y="20875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rot="-3578320">
            <a:off x="15058820" y="-812465"/>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rot="-3578320">
            <a:off x="-1479192" y="2546588"/>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AutoShape 20"/>
          <p:cNvSpPr/>
          <p:nvPr/>
        </p:nvSpPr>
        <p:spPr>
          <a:xfrm flipV="1">
            <a:off x="6610744" y="3363805"/>
            <a:ext cx="0" cy="2085353"/>
          </a:xfrm>
          <a:prstGeom prst="line">
            <a:avLst/>
          </a:prstGeom>
          <a:ln w="28575" cap="rnd">
            <a:solidFill>
              <a:srgbClr val="767676">
                <a:alpha val="64706"/>
              </a:srgbClr>
            </a:solidFill>
            <a:prstDash val="sysDash"/>
            <a:headEnd type="none" w="sm" len="sm"/>
            <a:tailEnd type="none" w="sm" len="sm"/>
          </a:ln>
        </p:spPr>
      </p:sp>
      <p:sp>
        <p:nvSpPr>
          <p:cNvPr id="21" name="Freeform 21"/>
          <p:cNvSpPr/>
          <p:nvPr/>
        </p:nvSpPr>
        <p:spPr>
          <a:xfrm>
            <a:off x="3691939" y="5560656"/>
            <a:ext cx="10753498" cy="4330689"/>
          </a:xfrm>
          <a:custGeom>
            <a:avLst/>
            <a:gdLst/>
            <a:ahLst/>
            <a:cxnLst/>
            <a:rect l="l" t="t" r="r" b="b"/>
            <a:pathLst>
              <a:path w="10753498" h="4330689">
                <a:moveTo>
                  <a:pt x="0" y="0"/>
                </a:moveTo>
                <a:lnTo>
                  <a:pt x="10753498" y="0"/>
                </a:lnTo>
                <a:lnTo>
                  <a:pt x="10753498" y="4330689"/>
                </a:lnTo>
                <a:lnTo>
                  <a:pt x="0" y="4330689"/>
                </a:lnTo>
                <a:lnTo>
                  <a:pt x="0" y="0"/>
                </a:lnTo>
                <a:close/>
              </a:path>
            </a:pathLst>
          </a:custGeom>
          <a:blipFill>
            <a:blip r:embed="rId7"/>
            <a:stretch>
              <a:fillRect/>
            </a:stretch>
          </a:blipFill>
        </p:spPr>
      </p:sp>
      <p:sp>
        <p:nvSpPr>
          <p:cNvPr id="22" name="TextBox 22"/>
          <p:cNvSpPr txBox="1"/>
          <p:nvPr/>
        </p:nvSpPr>
        <p:spPr>
          <a:xfrm>
            <a:off x="3026724" y="3749454"/>
            <a:ext cx="3041959" cy="1171967"/>
          </a:xfrm>
          <a:prstGeom prst="rect">
            <a:avLst/>
          </a:prstGeom>
        </p:spPr>
        <p:txBody>
          <a:bodyPr lIns="0" tIns="0" rIns="0" bIns="0" rtlCol="0" anchor="t">
            <a:spAutoFit/>
          </a:bodyPr>
          <a:lstStyle/>
          <a:p>
            <a:pPr algn="ctr">
              <a:lnSpc>
                <a:spcPts val="4255"/>
              </a:lnSpc>
            </a:pPr>
            <a:r>
              <a:rPr lang="en-US" sz="3300"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rPr>
              <a:t>pipeline de données</a:t>
            </a:r>
            <a:endParaRPr lang="en-US" sz="3300" b="1">
              <a:solidFill>
                <a:srgbClr val="000000"/>
              </a:solidFill>
              <a:latin typeface="29LT Bukra Semi Condensed Semi-Bold" panose="020B0706040000000004"/>
              <a:ea typeface="29LT Bukra Semi Condensed Semi-Bold" panose="020B0706040000000004"/>
              <a:cs typeface="29LT Bukra Semi Condensed Semi-Bold" panose="020B0706040000000004"/>
              <a:sym typeface="29LT Bukra Semi Condensed Semi-Bold" panose="020B0706040000000004"/>
            </a:endParaRPr>
          </a:p>
        </p:txBody>
      </p:sp>
      <p:sp>
        <p:nvSpPr>
          <p:cNvPr id="23" name="TextBox 23"/>
          <p:cNvSpPr txBox="1"/>
          <p:nvPr/>
        </p:nvSpPr>
        <p:spPr>
          <a:xfrm>
            <a:off x="6819717" y="3418152"/>
            <a:ext cx="10439583" cy="2085353"/>
          </a:xfrm>
          <a:prstGeom prst="rect">
            <a:avLst/>
          </a:prstGeom>
        </p:spPr>
        <p:txBody>
          <a:bodyPr lIns="0" tIns="0" rIns="0" bIns="0" rtlCol="0" anchor="t">
            <a:spAutoFit/>
          </a:bodyPr>
          <a:lstStyle/>
          <a:p>
            <a:pPr algn="l">
              <a:lnSpc>
                <a:spcPts val="3350"/>
              </a:lnSpc>
            </a:pPr>
            <a:r>
              <a:rPr lang="en-US" sz="2815">
                <a:solidFill>
                  <a:srgbClr val="000000"/>
                </a:solidFill>
                <a:latin typeface="Glacial Indifference"/>
                <a:ea typeface="Glacial Indifference"/>
                <a:cs typeface="Glacial Indifference"/>
                <a:sym typeface="Glacial Indifference"/>
              </a:rPr>
              <a:t>un  pipeline de données est une séquence d'étapes qui ingère, </a:t>
            </a:r>
            <a:r>
              <a:rPr lang="en-US" sz="2815">
                <a:solidFill>
                  <a:srgbClr val="000000"/>
                </a:solidFill>
                <a:latin typeface="Glacial Indifference"/>
                <a:ea typeface="Glacial Indifference"/>
                <a:cs typeface="Glacial Indifference"/>
                <a:sym typeface="Glacial Indifference"/>
              </a:rPr>
              <a:t>transforme et fournit des données provenant de diverses sources vers diverses destinations. Il prend en charge l'intégration des données, la qualité des données, la gouvernance des données et l'analyse des données</a:t>
            </a:r>
            <a:endParaRPr lang="en-US" sz="2815">
              <a:solidFill>
                <a:srgbClr val="000000"/>
              </a:solidFill>
              <a:latin typeface="Glacial Indifference"/>
              <a:ea typeface="Glacial Indifference"/>
              <a:cs typeface="Glacial Indifference"/>
              <a:sym typeface="Glacial Indifference"/>
            </a:endParaRPr>
          </a:p>
        </p:txBody>
      </p:sp>
      <p:sp>
        <p:nvSpPr>
          <p:cNvPr id="24" name="TextBox 24"/>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11</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4712546" y="-256333"/>
            <a:ext cx="4929839" cy="4269018"/>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7220" r="-27220"/>
              </a:stretch>
            </a:blipFill>
            <a:ln cap="sq">
              <a:noFill/>
              <a:prstDash val="solid"/>
              <a:miter/>
            </a:ln>
          </p:spPr>
        </p:sp>
      </p:grpSp>
      <p:grpSp>
        <p:nvGrpSpPr>
          <p:cNvPr id="4" name="Group 4"/>
          <p:cNvGrpSpPr/>
          <p:nvPr/>
        </p:nvGrpSpPr>
        <p:grpSpPr>
          <a:xfrm rot="0">
            <a:off x="13221885" y="1454435"/>
            <a:ext cx="4929839" cy="4269018"/>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957" r="-1957"/>
              </a:stretch>
            </a:blipFill>
            <a:ln cap="sq">
              <a:noFill/>
              <a:prstDash val="solid"/>
              <a:miter/>
            </a:ln>
          </p:spPr>
        </p:sp>
      </p:grpSp>
      <p:grpSp>
        <p:nvGrpSpPr>
          <p:cNvPr id="6" name="Group 6"/>
          <p:cNvGrpSpPr/>
          <p:nvPr/>
        </p:nvGrpSpPr>
        <p:grpSpPr>
          <a:xfrm rot="0">
            <a:off x="14712546" y="4794574"/>
            <a:ext cx="4929839" cy="4269018"/>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t="-7739" b="-7739"/>
              </a:stretch>
            </a:blipFill>
            <a:ln cap="sq">
              <a:noFill/>
              <a:prstDash val="solid"/>
              <a:miter/>
            </a:ln>
          </p:spPr>
        </p:sp>
      </p:grpSp>
      <p:sp>
        <p:nvSpPr>
          <p:cNvPr id="8" name="Freeform 8"/>
          <p:cNvSpPr/>
          <p:nvPr/>
        </p:nvSpPr>
        <p:spPr>
          <a:xfrm rot="7221679">
            <a:off x="17639141" y="7565778"/>
            <a:ext cx="2600981" cy="2251031"/>
          </a:xfrm>
          <a:custGeom>
            <a:avLst/>
            <a:gdLst/>
            <a:ahLst/>
            <a:cxnLst/>
            <a:rect l="l" t="t" r="r" b="b"/>
            <a:pathLst>
              <a:path w="2600981" h="2251031">
                <a:moveTo>
                  <a:pt x="0" y="0"/>
                </a:moveTo>
                <a:lnTo>
                  <a:pt x="2600982" y="0"/>
                </a:lnTo>
                <a:lnTo>
                  <a:pt x="2600982" y="2251031"/>
                </a:lnTo>
                <a:lnTo>
                  <a:pt x="0" y="2251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3578320">
            <a:off x="15555838" y="8674107"/>
            <a:ext cx="2606369" cy="2255694"/>
          </a:xfrm>
          <a:custGeom>
            <a:avLst/>
            <a:gdLst/>
            <a:ahLst/>
            <a:cxnLst/>
            <a:rect l="l" t="t" r="r" b="b"/>
            <a:pathLst>
              <a:path w="2606369" h="2255694">
                <a:moveTo>
                  <a:pt x="0" y="0"/>
                </a:moveTo>
                <a:lnTo>
                  <a:pt x="2606369" y="0"/>
                </a:lnTo>
                <a:lnTo>
                  <a:pt x="2606369" y="2255694"/>
                </a:lnTo>
                <a:lnTo>
                  <a:pt x="0" y="22556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3578320">
            <a:off x="13588171" y="-585493"/>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3578320">
            <a:off x="12930272" y="7631784"/>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0" y="3925178"/>
            <a:ext cx="13293099" cy="2188801"/>
          </a:xfrm>
          <a:prstGeom prst="rect">
            <a:avLst/>
          </a:prstGeom>
        </p:spPr>
        <p:txBody>
          <a:bodyPr lIns="0" tIns="0" rIns="0" bIns="0" rtlCol="0" anchor="t">
            <a:spAutoFit/>
          </a:bodyPr>
          <a:lstStyle/>
          <a:p>
            <a:pPr marL="0" lvl="1" indent="0" algn="ctr">
              <a:lnSpc>
                <a:spcPts val="5665"/>
              </a:lnSpc>
              <a:spcBef>
                <a:spcPct val="0"/>
              </a:spcBef>
            </a:pPr>
            <a:r>
              <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AVANTAGES ET RISQUES DU BIG DATA ET DU CLOUD COMPUTING POUR LES ENTREPRISES ET LA SOCIÉTÉ</a:t>
            </a:r>
            <a:endPar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3" name="Freeform 13"/>
          <p:cNvSpPr/>
          <p:nvPr/>
        </p:nvSpPr>
        <p:spPr>
          <a:xfrm rot="7221679">
            <a:off x="11357943" y="-1043776"/>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rot="7221679">
            <a:off x="11088946" y="6638421"/>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rot="-3578320">
            <a:off x="12930272" y="4962133"/>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12</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490524" y="2324746"/>
            <a:ext cx="5724825" cy="5724825"/>
            <a:chOff x="0" y="0"/>
            <a:chExt cx="7633100" cy="7633100"/>
          </a:xfrm>
        </p:grpSpPr>
        <p:grpSp>
          <p:nvGrpSpPr>
            <p:cNvPr id="3" name="Group 3"/>
            <p:cNvGrpSpPr/>
            <p:nvPr/>
          </p:nvGrpSpPr>
          <p:grpSpPr>
            <a:xfrm rot="-5400000">
              <a:off x="0" y="0"/>
              <a:ext cx="7633100" cy="76331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14300" cap="sq">
                <a:solidFill>
                  <a:srgbClr val="000000"/>
                </a:solidFill>
                <a:prstDash val="solid"/>
                <a:miter/>
              </a:ln>
            </p:spPr>
          </p:sp>
          <p:sp>
            <p:nvSpPr>
              <p:cNvPr id="5" name="TextBox 5"/>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6" name="Group 6"/>
            <p:cNvGrpSpPr/>
            <p:nvPr/>
          </p:nvGrpSpPr>
          <p:grpSpPr>
            <a:xfrm rot="-5400000">
              <a:off x="402157" y="419639"/>
              <a:ext cx="6828787" cy="682878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28575" cap="sq">
                <a:solidFill>
                  <a:srgbClr val="000000"/>
                </a:solidFill>
                <a:prstDash val="dash"/>
                <a:miter/>
              </a:ln>
            </p:spPr>
          </p:sp>
          <p:sp>
            <p:nvSpPr>
              <p:cNvPr id="8" name="TextBox 8"/>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grpSp>
        <p:nvGrpSpPr>
          <p:cNvPr id="9" name="Group 9"/>
          <p:cNvGrpSpPr/>
          <p:nvPr/>
        </p:nvGrpSpPr>
        <p:grpSpPr>
          <a:xfrm rot="-5400000">
            <a:off x="6371164" y="6652721"/>
            <a:ext cx="367509" cy="36750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11" name="TextBox 11"/>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2" name="Group 12"/>
          <p:cNvGrpSpPr/>
          <p:nvPr/>
        </p:nvGrpSpPr>
        <p:grpSpPr>
          <a:xfrm rot="-5400000">
            <a:off x="6936310" y="4961843"/>
            <a:ext cx="367509" cy="36750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00"/>
            </a:solidFill>
          </p:spPr>
        </p:sp>
        <p:sp>
          <p:nvSpPr>
            <p:cNvPr id="14" name="TextBox 14"/>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5" name="Group 15"/>
          <p:cNvGrpSpPr/>
          <p:nvPr/>
        </p:nvGrpSpPr>
        <p:grpSpPr>
          <a:xfrm rot="-5400000">
            <a:off x="6328158" y="3235001"/>
            <a:ext cx="367509" cy="36750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5B3"/>
            </a:solidFill>
          </p:spPr>
        </p:sp>
        <p:sp>
          <p:nvSpPr>
            <p:cNvPr id="17" name="TextBox 17"/>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8" name="Group 18"/>
          <p:cNvGrpSpPr/>
          <p:nvPr/>
        </p:nvGrpSpPr>
        <p:grpSpPr>
          <a:xfrm rot="0">
            <a:off x="8483416" y="2356521"/>
            <a:ext cx="4315923" cy="878480"/>
            <a:chOff x="0" y="0"/>
            <a:chExt cx="1996620" cy="406400"/>
          </a:xfrm>
        </p:grpSpPr>
        <p:sp>
          <p:nvSpPr>
            <p:cNvPr id="19" name="Freeform 19"/>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0" name="TextBox 20"/>
            <p:cNvSpPr txBox="1"/>
            <p:nvPr/>
          </p:nvSpPr>
          <p:spPr>
            <a:xfrm>
              <a:off x="0" y="-28575"/>
              <a:ext cx="1996620" cy="434975"/>
            </a:xfrm>
            <a:prstGeom prst="rect">
              <a:avLst/>
            </a:prstGeom>
          </p:spPr>
          <p:txBody>
            <a:bodyPr lIns="45673" tIns="45673" rIns="45673" bIns="45673" rtlCol="0" anchor="ctr"/>
            <a:lstStyle/>
            <a:p>
              <a:pPr algn="ctr">
                <a:lnSpc>
                  <a:spcPts val="2390"/>
                </a:lnSpc>
              </a:pPr>
            </a:p>
          </p:txBody>
        </p:sp>
      </p:grpSp>
      <p:grpSp>
        <p:nvGrpSpPr>
          <p:cNvPr id="21" name="Group 21"/>
          <p:cNvGrpSpPr/>
          <p:nvPr/>
        </p:nvGrpSpPr>
        <p:grpSpPr>
          <a:xfrm rot="0">
            <a:off x="9074623" y="4661103"/>
            <a:ext cx="4072199" cy="904766"/>
            <a:chOff x="0" y="0"/>
            <a:chExt cx="1829137" cy="406400"/>
          </a:xfrm>
        </p:grpSpPr>
        <p:sp>
          <p:nvSpPr>
            <p:cNvPr id="22" name="Freeform 22"/>
            <p:cNvSpPr/>
            <p:nvPr/>
          </p:nvSpPr>
          <p:spPr>
            <a:xfrm>
              <a:off x="0" y="0"/>
              <a:ext cx="1829137" cy="406400"/>
            </a:xfrm>
            <a:custGeom>
              <a:avLst/>
              <a:gdLst/>
              <a:ahLst/>
              <a:cxnLst/>
              <a:rect l="l" t="t" r="r" b="b"/>
              <a:pathLst>
                <a:path w="1829137" h="406400">
                  <a:moveTo>
                    <a:pt x="1625937" y="0"/>
                  </a:moveTo>
                  <a:cubicBezTo>
                    <a:pt x="1738161" y="0"/>
                    <a:pt x="1829137" y="90976"/>
                    <a:pt x="1829137" y="203200"/>
                  </a:cubicBezTo>
                  <a:cubicBezTo>
                    <a:pt x="1829137" y="315424"/>
                    <a:pt x="1738161" y="406400"/>
                    <a:pt x="162593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3" name="TextBox 23"/>
            <p:cNvSpPr txBox="1"/>
            <p:nvPr/>
          </p:nvSpPr>
          <p:spPr>
            <a:xfrm>
              <a:off x="0" y="-28575"/>
              <a:ext cx="1829137" cy="434975"/>
            </a:xfrm>
            <a:prstGeom prst="rect">
              <a:avLst/>
            </a:prstGeom>
          </p:spPr>
          <p:txBody>
            <a:bodyPr lIns="45673" tIns="45673" rIns="45673" bIns="45673" rtlCol="0" anchor="ctr"/>
            <a:lstStyle/>
            <a:p>
              <a:pPr algn="ctr">
                <a:lnSpc>
                  <a:spcPts val="2390"/>
                </a:lnSpc>
              </a:pPr>
            </a:p>
          </p:txBody>
        </p:sp>
      </p:grpSp>
      <p:grpSp>
        <p:nvGrpSpPr>
          <p:cNvPr id="24" name="Group 24"/>
          <p:cNvGrpSpPr/>
          <p:nvPr/>
        </p:nvGrpSpPr>
        <p:grpSpPr>
          <a:xfrm rot="-5400000">
            <a:off x="7738703" y="2119256"/>
            <a:ext cx="1429581" cy="142958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5B3"/>
            </a:solidFill>
          </p:spPr>
        </p:sp>
        <p:sp>
          <p:nvSpPr>
            <p:cNvPr id="26" name="TextBox 26"/>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27" name="Group 27"/>
          <p:cNvGrpSpPr/>
          <p:nvPr/>
        </p:nvGrpSpPr>
        <p:grpSpPr>
          <a:xfrm rot="-5400000">
            <a:off x="8359833" y="4426423"/>
            <a:ext cx="1429581" cy="142958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046"/>
            </a:solidFill>
          </p:spPr>
        </p:sp>
        <p:sp>
          <p:nvSpPr>
            <p:cNvPr id="29" name="TextBox 29"/>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30" name="Group 30"/>
          <p:cNvGrpSpPr/>
          <p:nvPr/>
        </p:nvGrpSpPr>
        <p:grpSpPr>
          <a:xfrm rot="0">
            <a:off x="8453493" y="6930128"/>
            <a:ext cx="4693329" cy="1032805"/>
            <a:chOff x="0" y="0"/>
            <a:chExt cx="1846786" cy="406400"/>
          </a:xfrm>
        </p:grpSpPr>
        <p:sp>
          <p:nvSpPr>
            <p:cNvPr id="31" name="Freeform 31"/>
            <p:cNvSpPr/>
            <p:nvPr/>
          </p:nvSpPr>
          <p:spPr>
            <a:xfrm>
              <a:off x="0" y="0"/>
              <a:ext cx="1846786" cy="406400"/>
            </a:xfrm>
            <a:custGeom>
              <a:avLst/>
              <a:gdLst/>
              <a:ahLst/>
              <a:cxnLst/>
              <a:rect l="l" t="t" r="r" b="b"/>
              <a:pathLst>
                <a:path w="1846786" h="406400">
                  <a:moveTo>
                    <a:pt x="1643586" y="0"/>
                  </a:moveTo>
                  <a:cubicBezTo>
                    <a:pt x="1755810" y="0"/>
                    <a:pt x="1846786" y="90976"/>
                    <a:pt x="1846786" y="203200"/>
                  </a:cubicBezTo>
                  <a:cubicBezTo>
                    <a:pt x="1846786" y="315424"/>
                    <a:pt x="1755810" y="406400"/>
                    <a:pt x="1643586"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32" name="TextBox 32"/>
            <p:cNvSpPr txBox="1"/>
            <p:nvPr/>
          </p:nvSpPr>
          <p:spPr>
            <a:xfrm>
              <a:off x="0" y="-28575"/>
              <a:ext cx="1846786" cy="434975"/>
            </a:xfrm>
            <a:prstGeom prst="rect">
              <a:avLst/>
            </a:prstGeom>
          </p:spPr>
          <p:txBody>
            <a:bodyPr lIns="45673" tIns="45673" rIns="45673" bIns="45673" rtlCol="0" anchor="ctr"/>
            <a:lstStyle/>
            <a:p>
              <a:pPr algn="ctr">
                <a:lnSpc>
                  <a:spcPts val="2390"/>
                </a:lnSpc>
              </a:pPr>
            </a:p>
          </p:txBody>
        </p:sp>
      </p:grpSp>
      <p:grpSp>
        <p:nvGrpSpPr>
          <p:cNvPr id="33" name="Group 33"/>
          <p:cNvGrpSpPr/>
          <p:nvPr/>
        </p:nvGrpSpPr>
        <p:grpSpPr>
          <a:xfrm rot="-5400000">
            <a:off x="7738703" y="6744521"/>
            <a:ext cx="1429581" cy="142958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35" name="TextBox 35"/>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sp>
        <p:nvSpPr>
          <p:cNvPr id="36" name="Freeform 36"/>
          <p:cNvSpPr/>
          <p:nvPr/>
        </p:nvSpPr>
        <p:spPr>
          <a:xfrm>
            <a:off x="7623429" y="4944162"/>
            <a:ext cx="628257" cy="367849"/>
          </a:xfrm>
          <a:custGeom>
            <a:avLst/>
            <a:gdLst/>
            <a:ahLst/>
            <a:cxnLst/>
            <a:rect l="l" t="t" r="r" b="b"/>
            <a:pathLst>
              <a:path w="628257" h="367849">
                <a:moveTo>
                  <a:pt x="0" y="0"/>
                </a:moveTo>
                <a:lnTo>
                  <a:pt x="628257" y="0"/>
                </a:lnTo>
                <a:lnTo>
                  <a:pt x="628257" y="367848"/>
                </a:lnTo>
                <a:lnTo>
                  <a:pt x="0" y="367848"/>
                </a:lnTo>
                <a:lnTo>
                  <a:pt x="0" y="0"/>
                </a:lnTo>
                <a:close/>
              </a:path>
            </a:pathLst>
          </a:custGeom>
          <a:blipFill>
            <a:blip r:embed="rId1">
              <a:extLst>
                <a:ext uri="{96DAC541-7B7A-43D3-8B79-37D633B846F1}">
                  <asvg:svgBlip xmlns:asvg="http://schemas.microsoft.com/office/drawing/2016/SVG/main" r:embed="rId2"/>
                </a:ext>
              </a:extLst>
            </a:blip>
            <a:stretch>
              <a:fillRect l="-149971"/>
            </a:stretch>
          </a:blipFill>
        </p:spPr>
      </p:sp>
      <p:sp>
        <p:nvSpPr>
          <p:cNvPr id="37" name="TextBox 37"/>
          <p:cNvSpPr txBox="1"/>
          <p:nvPr/>
        </p:nvSpPr>
        <p:spPr>
          <a:xfrm>
            <a:off x="9144000" y="7304300"/>
            <a:ext cx="5139988"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03. Avantages de l'innovation</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38" name="TextBox 38"/>
          <p:cNvSpPr txBox="1"/>
          <p:nvPr/>
        </p:nvSpPr>
        <p:spPr>
          <a:xfrm>
            <a:off x="9789414" y="4927365"/>
            <a:ext cx="3028294"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02.Avantages sociaux</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39" name="TextBox 39"/>
          <p:cNvSpPr txBox="1"/>
          <p:nvPr/>
        </p:nvSpPr>
        <p:spPr>
          <a:xfrm>
            <a:off x="9074623" y="2611539"/>
            <a:ext cx="3564381"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01. Avantages économiques</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40" name="TextBox 40"/>
          <p:cNvSpPr txBox="1"/>
          <p:nvPr/>
        </p:nvSpPr>
        <p:spPr>
          <a:xfrm>
            <a:off x="1970801" y="4431698"/>
            <a:ext cx="4670234" cy="1587133"/>
          </a:xfrm>
          <a:prstGeom prst="rect">
            <a:avLst/>
          </a:prstGeom>
        </p:spPr>
        <p:txBody>
          <a:bodyPr lIns="0" tIns="0" rIns="0" bIns="0" rtlCol="0" anchor="t">
            <a:spAutoFit/>
          </a:bodyPr>
          <a:lstStyle/>
          <a:p>
            <a:pPr algn="ctr">
              <a:lnSpc>
                <a:spcPts val="4150"/>
              </a:lnSpc>
              <a:spcBef>
                <a:spcPct val="0"/>
              </a:spcBef>
            </a:pPr>
            <a:r>
              <a:rPr lang="en-US" sz="3950" b="1">
                <a:solidFill>
                  <a:srgbClr val="000000"/>
                </a:solidFill>
                <a:latin typeface="Oswald Bold" panose="00000800000000000000"/>
                <a:ea typeface="Oswald Bold" panose="00000800000000000000"/>
                <a:cs typeface="Oswald Bold" panose="00000800000000000000"/>
                <a:sym typeface="Oswald Bold" panose="00000800000000000000"/>
              </a:rPr>
              <a:t>Certains des avantages du big data et du cloud computing </a:t>
            </a:r>
            <a:endParaRPr lang="en-US" sz="3950"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41" name="Freeform 41"/>
          <p:cNvSpPr/>
          <p:nvPr/>
        </p:nvSpPr>
        <p:spPr>
          <a:xfrm rot="1820444">
            <a:off x="7062488" y="7033621"/>
            <a:ext cx="599780" cy="367849"/>
          </a:xfrm>
          <a:custGeom>
            <a:avLst/>
            <a:gdLst/>
            <a:ahLst/>
            <a:cxnLst/>
            <a:rect l="l" t="t" r="r" b="b"/>
            <a:pathLst>
              <a:path w="599780" h="367849">
                <a:moveTo>
                  <a:pt x="0" y="0"/>
                </a:moveTo>
                <a:lnTo>
                  <a:pt x="599780" y="0"/>
                </a:lnTo>
                <a:lnTo>
                  <a:pt x="599780" y="367848"/>
                </a:lnTo>
                <a:lnTo>
                  <a:pt x="0" y="367848"/>
                </a:lnTo>
                <a:lnTo>
                  <a:pt x="0" y="0"/>
                </a:lnTo>
                <a:close/>
              </a:path>
            </a:pathLst>
          </a:custGeom>
          <a:blipFill>
            <a:blip r:embed="rId3">
              <a:extLst>
                <a:ext uri="{96DAC541-7B7A-43D3-8B79-37D633B846F1}">
                  <asvg:svgBlip xmlns:asvg="http://schemas.microsoft.com/office/drawing/2016/SVG/main" r:embed="rId4"/>
                </a:ext>
              </a:extLst>
            </a:blip>
            <a:stretch>
              <a:fillRect l="-161840"/>
            </a:stretch>
          </a:blipFill>
        </p:spPr>
      </p:sp>
      <p:sp>
        <p:nvSpPr>
          <p:cNvPr id="42" name="Freeform 42"/>
          <p:cNvSpPr/>
          <p:nvPr/>
        </p:nvSpPr>
        <p:spPr>
          <a:xfrm rot="-1511026">
            <a:off x="6964152" y="2889221"/>
            <a:ext cx="658736" cy="367849"/>
          </a:xfrm>
          <a:custGeom>
            <a:avLst/>
            <a:gdLst/>
            <a:ahLst/>
            <a:cxnLst/>
            <a:rect l="l" t="t" r="r" b="b"/>
            <a:pathLst>
              <a:path w="658736" h="367849">
                <a:moveTo>
                  <a:pt x="0" y="0"/>
                </a:moveTo>
                <a:lnTo>
                  <a:pt x="658736" y="0"/>
                </a:lnTo>
                <a:lnTo>
                  <a:pt x="658736" y="367849"/>
                </a:lnTo>
                <a:lnTo>
                  <a:pt x="0" y="367849"/>
                </a:lnTo>
                <a:lnTo>
                  <a:pt x="0" y="0"/>
                </a:lnTo>
                <a:close/>
              </a:path>
            </a:pathLst>
          </a:custGeom>
          <a:blipFill>
            <a:blip r:embed="rId5">
              <a:extLst>
                <a:ext uri="{96DAC541-7B7A-43D3-8B79-37D633B846F1}">
                  <asvg:svgBlip xmlns:asvg="http://schemas.microsoft.com/office/drawing/2016/SVG/main" r:embed="rId6"/>
                </a:ext>
              </a:extLst>
            </a:blip>
            <a:stretch>
              <a:fillRect l="-138405"/>
            </a:stretch>
          </a:blipFill>
        </p:spPr>
      </p:sp>
      <p:sp>
        <p:nvSpPr>
          <p:cNvPr id="43" name="Freeform 43"/>
          <p:cNvSpPr/>
          <p:nvPr/>
        </p:nvSpPr>
        <p:spPr>
          <a:xfrm>
            <a:off x="7937557" y="7046629"/>
            <a:ext cx="943808" cy="746466"/>
          </a:xfrm>
          <a:custGeom>
            <a:avLst/>
            <a:gdLst/>
            <a:ahLst/>
            <a:cxnLst/>
            <a:rect l="l" t="t" r="r" b="b"/>
            <a:pathLst>
              <a:path w="943808" h="746466">
                <a:moveTo>
                  <a:pt x="0" y="0"/>
                </a:moveTo>
                <a:lnTo>
                  <a:pt x="943808" y="0"/>
                </a:lnTo>
                <a:lnTo>
                  <a:pt x="943808" y="746466"/>
                </a:lnTo>
                <a:lnTo>
                  <a:pt x="0" y="746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4" name="Freeform 44"/>
          <p:cNvSpPr/>
          <p:nvPr/>
        </p:nvSpPr>
        <p:spPr>
          <a:xfrm>
            <a:off x="8575536" y="4680844"/>
            <a:ext cx="974189" cy="894483"/>
          </a:xfrm>
          <a:custGeom>
            <a:avLst/>
            <a:gdLst/>
            <a:ahLst/>
            <a:cxnLst/>
            <a:rect l="l" t="t" r="r" b="b"/>
            <a:pathLst>
              <a:path w="974189" h="894483">
                <a:moveTo>
                  <a:pt x="0" y="0"/>
                </a:moveTo>
                <a:lnTo>
                  <a:pt x="974189" y="0"/>
                </a:lnTo>
                <a:lnTo>
                  <a:pt x="974189" y="894483"/>
                </a:lnTo>
                <a:lnTo>
                  <a:pt x="0" y="8944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5" name="Freeform 45"/>
          <p:cNvSpPr/>
          <p:nvPr/>
        </p:nvSpPr>
        <p:spPr>
          <a:xfrm>
            <a:off x="8086832" y="2397883"/>
            <a:ext cx="733322" cy="675989"/>
          </a:xfrm>
          <a:custGeom>
            <a:avLst/>
            <a:gdLst/>
            <a:ahLst/>
            <a:cxnLst/>
            <a:rect l="l" t="t" r="r" b="b"/>
            <a:pathLst>
              <a:path w="733322" h="675989">
                <a:moveTo>
                  <a:pt x="0" y="0"/>
                </a:moveTo>
                <a:lnTo>
                  <a:pt x="733322" y="0"/>
                </a:lnTo>
                <a:lnTo>
                  <a:pt x="733322" y="675990"/>
                </a:lnTo>
                <a:lnTo>
                  <a:pt x="0" y="67599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6" name="Freeform 46"/>
          <p:cNvSpPr/>
          <p:nvPr/>
        </p:nvSpPr>
        <p:spPr>
          <a:xfrm rot="-3578320">
            <a:off x="436149" y="9545378"/>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47" name="Freeform 47"/>
          <p:cNvSpPr/>
          <p:nvPr/>
        </p:nvSpPr>
        <p:spPr>
          <a:xfrm rot="-3578320">
            <a:off x="-1601909" y="8119107"/>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8" name="Freeform 48"/>
          <p:cNvSpPr/>
          <p:nvPr/>
        </p:nvSpPr>
        <p:spPr>
          <a:xfrm rot="7221679">
            <a:off x="558550" y="7177164"/>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9" name="Freeform 49"/>
          <p:cNvSpPr/>
          <p:nvPr/>
        </p:nvSpPr>
        <p:spPr>
          <a:xfrm rot="-3578320">
            <a:off x="16216650" y="1000558"/>
            <a:ext cx="2656890" cy="2299417"/>
          </a:xfrm>
          <a:custGeom>
            <a:avLst/>
            <a:gdLst/>
            <a:ahLst/>
            <a:cxnLst/>
            <a:rect l="l" t="t" r="r" b="b"/>
            <a:pathLst>
              <a:path w="2656890" h="2299417">
                <a:moveTo>
                  <a:pt x="0" y="0"/>
                </a:moveTo>
                <a:lnTo>
                  <a:pt x="2656889" y="0"/>
                </a:lnTo>
                <a:lnTo>
                  <a:pt x="2656889" y="2299417"/>
                </a:lnTo>
                <a:lnTo>
                  <a:pt x="0" y="22994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50" name="Freeform 50"/>
          <p:cNvSpPr/>
          <p:nvPr/>
        </p:nvSpPr>
        <p:spPr>
          <a:xfrm rot="-3578320">
            <a:off x="14178591" y="-425713"/>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1" name="Freeform 51"/>
          <p:cNvSpPr/>
          <p:nvPr/>
        </p:nvSpPr>
        <p:spPr>
          <a:xfrm rot="7221679">
            <a:off x="16339051" y="-1367656"/>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2" name="TextBox 52"/>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13</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490524" y="2324746"/>
            <a:ext cx="5724825" cy="5724825"/>
            <a:chOff x="0" y="0"/>
            <a:chExt cx="7633100" cy="7633100"/>
          </a:xfrm>
        </p:grpSpPr>
        <p:grpSp>
          <p:nvGrpSpPr>
            <p:cNvPr id="3" name="Group 3"/>
            <p:cNvGrpSpPr/>
            <p:nvPr/>
          </p:nvGrpSpPr>
          <p:grpSpPr>
            <a:xfrm rot="-5400000">
              <a:off x="0" y="0"/>
              <a:ext cx="7633100" cy="76331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14300" cap="sq">
                <a:solidFill>
                  <a:srgbClr val="000000"/>
                </a:solidFill>
                <a:prstDash val="solid"/>
                <a:miter/>
              </a:ln>
            </p:spPr>
          </p:sp>
          <p:sp>
            <p:nvSpPr>
              <p:cNvPr id="5" name="TextBox 5"/>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6" name="Group 6"/>
            <p:cNvGrpSpPr/>
            <p:nvPr/>
          </p:nvGrpSpPr>
          <p:grpSpPr>
            <a:xfrm rot="-5400000">
              <a:off x="402157" y="419639"/>
              <a:ext cx="6828787" cy="682878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28575" cap="sq">
                <a:solidFill>
                  <a:srgbClr val="000000"/>
                </a:solidFill>
                <a:prstDash val="dash"/>
                <a:miter/>
              </a:ln>
            </p:spPr>
          </p:sp>
          <p:sp>
            <p:nvSpPr>
              <p:cNvPr id="8" name="TextBox 8"/>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grpSp>
        <p:nvGrpSpPr>
          <p:cNvPr id="9" name="Group 9"/>
          <p:cNvGrpSpPr/>
          <p:nvPr/>
        </p:nvGrpSpPr>
        <p:grpSpPr>
          <a:xfrm rot="-5400000">
            <a:off x="5960648" y="7152879"/>
            <a:ext cx="367509" cy="36750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11" name="TextBox 11"/>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2" name="Group 12"/>
          <p:cNvGrpSpPr/>
          <p:nvPr/>
        </p:nvGrpSpPr>
        <p:grpSpPr>
          <a:xfrm rot="-5400000">
            <a:off x="6966851" y="5644522"/>
            <a:ext cx="367509" cy="36750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00"/>
            </a:solidFill>
          </p:spPr>
        </p:sp>
        <p:sp>
          <p:nvSpPr>
            <p:cNvPr id="14" name="TextBox 14"/>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5" name="Group 15"/>
          <p:cNvGrpSpPr/>
          <p:nvPr/>
        </p:nvGrpSpPr>
        <p:grpSpPr>
          <a:xfrm rot="-5400000">
            <a:off x="6532667" y="3785204"/>
            <a:ext cx="367509" cy="36750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5B3"/>
            </a:solidFill>
          </p:spPr>
        </p:sp>
        <p:sp>
          <p:nvSpPr>
            <p:cNvPr id="17" name="TextBox 17"/>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18" name="Group 18"/>
          <p:cNvGrpSpPr/>
          <p:nvPr/>
        </p:nvGrpSpPr>
        <p:grpSpPr>
          <a:xfrm rot="-5400000">
            <a:off x="5776894" y="2596272"/>
            <a:ext cx="367509" cy="36750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EDC6"/>
            </a:solidFill>
          </p:spPr>
        </p:sp>
        <p:sp>
          <p:nvSpPr>
            <p:cNvPr id="20" name="TextBox 20"/>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21" name="Group 21"/>
          <p:cNvGrpSpPr/>
          <p:nvPr/>
        </p:nvGrpSpPr>
        <p:grpSpPr>
          <a:xfrm rot="0">
            <a:off x="7541515" y="808794"/>
            <a:ext cx="4783121" cy="973575"/>
            <a:chOff x="0" y="0"/>
            <a:chExt cx="1996620" cy="406400"/>
          </a:xfrm>
        </p:grpSpPr>
        <p:sp>
          <p:nvSpPr>
            <p:cNvPr id="22" name="Freeform 22"/>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3" name="TextBox 23"/>
            <p:cNvSpPr txBox="1"/>
            <p:nvPr/>
          </p:nvSpPr>
          <p:spPr>
            <a:xfrm>
              <a:off x="0" y="-28575"/>
              <a:ext cx="1996620" cy="434975"/>
            </a:xfrm>
            <a:prstGeom prst="rect">
              <a:avLst/>
            </a:prstGeom>
          </p:spPr>
          <p:txBody>
            <a:bodyPr lIns="45673" tIns="45673" rIns="45673" bIns="45673" rtlCol="0" anchor="ctr"/>
            <a:lstStyle/>
            <a:p>
              <a:pPr algn="ctr">
                <a:lnSpc>
                  <a:spcPts val="2390"/>
                </a:lnSpc>
              </a:pPr>
            </a:p>
          </p:txBody>
        </p:sp>
      </p:grpSp>
      <p:grpSp>
        <p:nvGrpSpPr>
          <p:cNvPr id="24" name="Group 24"/>
          <p:cNvGrpSpPr/>
          <p:nvPr/>
        </p:nvGrpSpPr>
        <p:grpSpPr>
          <a:xfrm rot="0">
            <a:off x="8529832" y="3071311"/>
            <a:ext cx="4315923" cy="878480"/>
            <a:chOff x="0" y="0"/>
            <a:chExt cx="1996620" cy="406400"/>
          </a:xfrm>
        </p:grpSpPr>
        <p:sp>
          <p:nvSpPr>
            <p:cNvPr id="25" name="Freeform 25"/>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6" name="TextBox 26"/>
            <p:cNvSpPr txBox="1"/>
            <p:nvPr/>
          </p:nvSpPr>
          <p:spPr>
            <a:xfrm>
              <a:off x="0" y="-28575"/>
              <a:ext cx="1996620" cy="434975"/>
            </a:xfrm>
            <a:prstGeom prst="rect">
              <a:avLst/>
            </a:prstGeom>
          </p:spPr>
          <p:txBody>
            <a:bodyPr lIns="45673" tIns="45673" rIns="45673" bIns="45673" rtlCol="0" anchor="ctr"/>
            <a:lstStyle/>
            <a:p>
              <a:pPr algn="ctr">
                <a:lnSpc>
                  <a:spcPts val="2390"/>
                </a:lnSpc>
              </a:pPr>
            </a:p>
          </p:txBody>
        </p:sp>
      </p:grpSp>
      <p:grpSp>
        <p:nvGrpSpPr>
          <p:cNvPr id="27" name="Group 27"/>
          <p:cNvGrpSpPr/>
          <p:nvPr/>
        </p:nvGrpSpPr>
        <p:grpSpPr>
          <a:xfrm rot="0">
            <a:off x="9121039" y="5375893"/>
            <a:ext cx="4072199" cy="904766"/>
            <a:chOff x="0" y="0"/>
            <a:chExt cx="1829137" cy="406400"/>
          </a:xfrm>
        </p:grpSpPr>
        <p:sp>
          <p:nvSpPr>
            <p:cNvPr id="28" name="Freeform 28"/>
            <p:cNvSpPr/>
            <p:nvPr/>
          </p:nvSpPr>
          <p:spPr>
            <a:xfrm>
              <a:off x="0" y="0"/>
              <a:ext cx="1829137" cy="406400"/>
            </a:xfrm>
            <a:custGeom>
              <a:avLst/>
              <a:gdLst/>
              <a:ahLst/>
              <a:cxnLst/>
              <a:rect l="l" t="t" r="r" b="b"/>
              <a:pathLst>
                <a:path w="1829137" h="406400">
                  <a:moveTo>
                    <a:pt x="1625937" y="0"/>
                  </a:moveTo>
                  <a:cubicBezTo>
                    <a:pt x="1738161" y="0"/>
                    <a:pt x="1829137" y="90976"/>
                    <a:pt x="1829137" y="203200"/>
                  </a:cubicBezTo>
                  <a:cubicBezTo>
                    <a:pt x="1829137" y="315424"/>
                    <a:pt x="1738161" y="406400"/>
                    <a:pt x="162593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9" name="TextBox 29"/>
            <p:cNvSpPr txBox="1"/>
            <p:nvPr/>
          </p:nvSpPr>
          <p:spPr>
            <a:xfrm>
              <a:off x="0" y="-28575"/>
              <a:ext cx="1829137" cy="434975"/>
            </a:xfrm>
            <a:prstGeom prst="rect">
              <a:avLst/>
            </a:prstGeom>
          </p:spPr>
          <p:txBody>
            <a:bodyPr lIns="45673" tIns="45673" rIns="45673" bIns="45673" rtlCol="0" anchor="ctr"/>
            <a:lstStyle/>
            <a:p>
              <a:pPr algn="ctr">
                <a:lnSpc>
                  <a:spcPts val="2390"/>
                </a:lnSpc>
              </a:pPr>
            </a:p>
          </p:txBody>
        </p:sp>
      </p:grpSp>
      <p:grpSp>
        <p:nvGrpSpPr>
          <p:cNvPr id="30" name="Group 30"/>
          <p:cNvGrpSpPr/>
          <p:nvPr/>
        </p:nvGrpSpPr>
        <p:grpSpPr>
          <a:xfrm rot="-5400000">
            <a:off x="6669674" y="673443"/>
            <a:ext cx="1429581" cy="1429581"/>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EDC6"/>
            </a:solidFill>
          </p:spPr>
        </p:sp>
        <p:sp>
          <p:nvSpPr>
            <p:cNvPr id="32" name="TextBox 32"/>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33" name="Group 33"/>
          <p:cNvGrpSpPr/>
          <p:nvPr/>
        </p:nvGrpSpPr>
        <p:grpSpPr>
          <a:xfrm rot="-5400000">
            <a:off x="7785119" y="2834046"/>
            <a:ext cx="1429581" cy="142958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5B3"/>
            </a:solidFill>
          </p:spPr>
        </p:sp>
        <p:sp>
          <p:nvSpPr>
            <p:cNvPr id="35" name="TextBox 35"/>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36" name="Group 36"/>
          <p:cNvGrpSpPr/>
          <p:nvPr/>
        </p:nvGrpSpPr>
        <p:grpSpPr>
          <a:xfrm rot="-5400000">
            <a:off x="8406249" y="5141213"/>
            <a:ext cx="1429581" cy="142958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046"/>
            </a:solidFill>
          </p:spPr>
        </p:sp>
        <p:sp>
          <p:nvSpPr>
            <p:cNvPr id="38" name="TextBox 38"/>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grpSp>
        <p:nvGrpSpPr>
          <p:cNvPr id="39" name="Group 39"/>
          <p:cNvGrpSpPr/>
          <p:nvPr/>
        </p:nvGrpSpPr>
        <p:grpSpPr>
          <a:xfrm rot="0">
            <a:off x="7954752" y="7520389"/>
            <a:ext cx="5231566" cy="1151248"/>
            <a:chOff x="0" y="0"/>
            <a:chExt cx="1846786" cy="406400"/>
          </a:xfrm>
        </p:grpSpPr>
        <p:sp>
          <p:nvSpPr>
            <p:cNvPr id="40" name="Freeform 40"/>
            <p:cNvSpPr/>
            <p:nvPr/>
          </p:nvSpPr>
          <p:spPr>
            <a:xfrm>
              <a:off x="0" y="0"/>
              <a:ext cx="1846786" cy="406400"/>
            </a:xfrm>
            <a:custGeom>
              <a:avLst/>
              <a:gdLst/>
              <a:ahLst/>
              <a:cxnLst/>
              <a:rect l="l" t="t" r="r" b="b"/>
              <a:pathLst>
                <a:path w="1846786" h="406400">
                  <a:moveTo>
                    <a:pt x="1643586" y="0"/>
                  </a:moveTo>
                  <a:cubicBezTo>
                    <a:pt x="1755810" y="0"/>
                    <a:pt x="1846786" y="90976"/>
                    <a:pt x="1846786" y="203200"/>
                  </a:cubicBezTo>
                  <a:cubicBezTo>
                    <a:pt x="1846786" y="315424"/>
                    <a:pt x="1755810" y="406400"/>
                    <a:pt x="1643586"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41" name="TextBox 41"/>
            <p:cNvSpPr txBox="1"/>
            <p:nvPr/>
          </p:nvSpPr>
          <p:spPr>
            <a:xfrm>
              <a:off x="0" y="-28575"/>
              <a:ext cx="1846786" cy="434975"/>
            </a:xfrm>
            <a:prstGeom prst="rect">
              <a:avLst/>
            </a:prstGeom>
          </p:spPr>
          <p:txBody>
            <a:bodyPr lIns="45673" tIns="45673" rIns="45673" bIns="45673" rtlCol="0" anchor="ctr"/>
            <a:lstStyle/>
            <a:p>
              <a:pPr algn="ctr">
                <a:lnSpc>
                  <a:spcPts val="2390"/>
                </a:lnSpc>
              </a:pPr>
            </a:p>
          </p:txBody>
        </p:sp>
      </p:grpSp>
      <p:grpSp>
        <p:nvGrpSpPr>
          <p:cNvPr id="42" name="Group 42"/>
          <p:cNvGrpSpPr/>
          <p:nvPr/>
        </p:nvGrpSpPr>
        <p:grpSpPr>
          <a:xfrm rot="-5400000">
            <a:off x="7239961" y="7334781"/>
            <a:ext cx="1429581" cy="1429581"/>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44" name="TextBox 44"/>
            <p:cNvSpPr txBox="1"/>
            <p:nvPr/>
          </p:nvSpPr>
          <p:spPr>
            <a:xfrm>
              <a:off x="76200" y="76200"/>
              <a:ext cx="660400" cy="660400"/>
            </a:xfrm>
            <a:prstGeom prst="rect">
              <a:avLst/>
            </a:prstGeom>
          </p:spPr>
          <p:txBody>
            <a:bodyPr lIns="22969" tIns="22969" rIns="22969" bIns="22969" rtlCol="0" anchor="ctr"/>
            <a:lstStyle/>
            <a:p>
              <a:pPr algn="ctr">
                <a:lnSpc>
                  <a:spcPts val="1245"/>
                </a:lnSpc>
              </a:pPr>
            </a:p>
          </p:txBody>
        </p:sp>
      </p:grpSp>
      <p:sp>
        <p:nvSpPr>
          <p:cNvPr id="45" name="Freeform 45"/>
          <p:cNvSpPr/>
          <p:nvPr/>
        </p:nvSpPr>
        <p:spPr>
          <a:xfrm>
            <a:off x="6897370" y="889704"/>
            <a:ext cx="974189" cy="894483"/>
          </a:xfrm>
          <a:custGeom>
            <a:avLst/>
            <a:gdLst/>
            <a:ahLst/>
            <a:cxnLst/>
            <a:rect l="l" t="t" r="r" b="b"/>
            <a:pathLst>
              <a:path w="974189" h="894483">
                <a:moveTo>
                  <a:pt x="0" y="0"/>
                </a:moveTo>
                <a:lnTo>
                  <a:pt x="974189" y="0"/>
                </a:lnTo>
                <a:lnTo>
                  <a:pt x="974189" y="894482"/>
                </a:lnTo>
                <a:lnTo>
                  <a:pt x="0" y="89448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Freeform 46"/>
          <p:cNvSpPr/>
          <p:nvPr/>
        </p:nvSpPr>
        <p:spPr>
          <a:xfrm>
            <a:off x="7669845" y="5658952"/>
            <a:ext cx="628257" cy="367849"/>
          </a:xfrm>
          <a:custGeom>
            <a:avLst/>
            <a:gdLst/>
            <a:ahLst/>
            <a:cxnLst/>
            <a:rect l="l" t="t" r="r" b="b"/>
            <a:pathLst>
              <a:path w="628257" h="367849">
                <a:moveTo>
                  <a:pt x="0" y="0"/>
                </a:moveTo>
                <a:lnTo>
                  <a:pt x="628257" y="0"/>
                </a:lnTo>
                <a:lnTo>
                  <a:pt x="628257" y="367849"/>
                </a:lnTo>
                <a:lnTo>
                  <a:pt x="0" y="367849"/>
                </a:lnTo>
                <a:lnTo>
                  <a:pt x="0" y="0"/>
                </a:lnTo>
                <a:close/>
              </a:path>
            </a:pathLst>
          </a:custGeom>
          <a:blipFill>
            <a:blip r:embed="rId3">
              <a:extLst>
                <a:ext uri="{96DAC541-7B7A-43D3-8B79-37D633B846F1}">
                  <asvg:svgBlip xmlns:asvg="http://schemas.microsoft.com/office/drawing/2016/SVG/main" r:embed="rId4"/>
                </a:ext>
              </a:extLst>
            </a:blip>
            <a:stretch>
              <a:fillRect l="-149971"/>
            </a:stretch>
          </a:blipFill>
        </p:spPr>
      </p:sp>
      <p:sp>
        <p:nvSpPr>
          <p:cNvPr id="47" name="TextBox 47"/>
          <p:cNvSpPr txBox="1"/>
          <p:nvPr/>
        </p:nvSpPr>
        <p:spPr>
          <a:xfrm>
            <a:off x="8777729" y="7905882"/>
            <a:ext cx="5139988"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04. Risques environnementaux</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48" name="TextBox 48"/>
          <p:cNvSpPr txBox="1"/>
          <p:nvPr/>
        </p:nvSpPr>
        <p:spPr>
          <a:xfrm>
            <a:off x="10010224" y="5746040"/>
            <a:ext cx="3028294"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03. Risques éthiques</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49" name="TextBox 49"/>
          <p:cNvSpPr txBox="1"/>
          <p:nvPr/>
        </p:nvSpPr>
        <p:spPr>
          <a:xfrm>
            <a:off x="9281375" y="3323766"/>
            <a:ext cx="3564381"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02. Risques de sécurité</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50" name="TextBox 50"/>
          <p:cNvSpPr txBox="1"/>
          <p:nvPr/>
        </p:nvSpPr>
        <p:spPr>
          <a:xfrm>
            <a:off x="8210784" y="1151333"/>
            <a:ext cx="4362902" cy="338597"/>
          </a:xfrm>
          <a:prstGeom prst="rect">
            <a:avLst/>
          </a:prstGeom>
        </p:spPr>
        <p:txBody>
          <a:bodyPr lIns="0" tIns="0" rIns="0" bIns="0" rtlCol="0" anchor="t">
            <a:spAutoFit/>
          </a:bodyPr>
          <a:lstStyle/>
          <a:p>
            <a:pPr algn="l">
              <a:lnSpc>
                <a:spcPts val="2620"/>
              </a:lnSpc>
              <a:spcBef>
                <a:spcPct val="0"/>
              </a:spcBef>
            </a:pPr>
            <a:r>
              <a:rPr lang="en-US" sz="2495" b="1">
                <a:solidFill>
                  <a:srgbClr val="000000"/>
                </a:solidFill>
                <a:latin typeface="Oswald Bold" panose="00000800000000000000"/>
                <a:ea typeface="Oswald Bold" panose="00000800000000000000"/>
                <a:cs typeface="Oswald Bold" panose="00000800000000000000"/>
                <a:sym typeface="Oswald Bold" panose="00000800000000000000"/>
              </a:rPr>
              <a:t>01. Risques liés à la vie privée</a:t>
            </a:r>
            <a:endParaRPr lang="en-US" sz="2495"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51" name="TextBox 51"/>
          <p:cNvSpPr txBox="1"/>
          <p:nvPr/>
        </p:nvSpPr>
        <p:spPr>
          <a:xfrm>
            <a:off x="1970801" y="4431698"/>
            <a:ext cx="4670234" cy="1587133"/>
          </a:xfrm>
          <a:prstGeom prst="rect">
            <a:avLst/>
          </a:prstGeom>
        </p:spPr>
        <p:txBody>
          <a:bodyPr lIns="0" tIns="0" rIns="0" bIns="0" rtlCol="0" anchor="t">
            <a:spAutoFit/>
          </a:bodyPr>
          <a:lstStyle/>
          <a:p>
            <a:pPr algn="ctr">
              <a:lnSpc>
                <a:spcPts val="4150"/>
              </a:lnSpc>
              <a:spcBef>
                <a:spcPct val="0"/>
              </a:spcBef>
            </a:pPr>
            <a:r>
              <a:rPr lang="en-US" sz="3950" b="1">
                <a:solidFill>
                  <a:srgbClr val="000000"/>
                </a:solidFill>
                <a:latin typeface="Oswald Bold" panose="00000800000000000000"/>
                <a:ea typeface="Oswald Bold" panose="00000800000000000000"/>
                <a:cs typeface="Oswald Bold" panose="00000800000000000000"/>
                <a:sym typeface="Oswald Bold" panose="00000800000000000000"/>
              </a:rPr>
              <a:t>Certains des risques liés au Big Data et au Cloud Computing</a:t>
            </a:r>
            <a:endParaRPr lang="en-US" sz="3950" b="1">
              <a:solidFill>
                <a:srgbClr val="000000"/>
              </a:solidFill>
              <a:latin typeface="Oswald Bold" panose="00000800000000000000"/>
              <a:ea typeface="Oswald Bold" panose="00000800000000000000"/>
              <a:cs typeface="Oswald Bold" panose="00000800000000000000"/>
              <a:sym typeface="Oswald Bold" panose="00000800000000000000"/>
            </a:endParaRPr>
          </a:p>
        </p:txBody>
      </p:sp>
      <p:sp>
        <p:nvSpPr>
          <p:cNvPr id="52" name="Freeform 52"/>
          <p:cNvSpPr/>
          <p:nvPr/>
        </p:nvSpPr>
        <p:spPr>
          <a:xfrm rot="1820444">
            <a:off x="6563746" y="7623881"/>
            <a:ext cx="599780" cy="367849"/>
          </a:xfrm>
          <a:custGeom>
            <a:avLst/>
            <a:gdLst/>
            <a:ahLst/>
            <a:cxnLst/>
            <a:rect l="l" t="t" r="r" b="b"/>
            <a:pathLst>
              <a:path w="599780" h="367849">
                <a:moveTo>
                  <a:pt x="0" y="0"/>
                </a:moveTo>
                <a:lnTo>
                  <a:pt x="599780" y="0"/>
                </a:lnTo>
                <a:lnTo>
                  <a:pt x="599780" y="367849"/>
                </a:lnTo>
                <a:lnTo>
                  <a:pt x="0" y="367849"/>
                </a:lnTo>
                <a:lnTo>
                  <a:pt x="0" y="0"/>
                </a:lnTo>
                <a:close/>
              </a:path>
            </a:pathLst>
          </a:custGeom>
          <a:blipFill>
            <a:blip r:embed="rId5">
              <a:extLst>
                <a:ext uri="{96DAC541-7B7A-43D3-8B79-37D633B846F1}">
                  <asvg:svgBlip xmlns:asvg="http://schemas.microsoft.com/office/drawing/2016/SVG/main" r:embed="rId6"/>
                </a:ext>
              </a:extLst>
            </a:blip>
            <a:stretch>
              <a:fillRect l="-161840"/>
            </a:stretch>
          </a:blipFill>
        </p:spPr>
      </p:sp>
      <p:sp>
        <p:nvSpPr>
          <p:cNvPr id="53" name="Freeform 53"/>
          <p:cNvSpPr/>
          <p:nvPr/>
        </p:nvSpPr>
        <p:spPr>
          <a:xfrm rot="-1511026">
            <a:off x="7013808" y="3478439"/>
            <a:ext cx="658736" cy="367849"/>
          </a:xfrm>
          <a:custGeom>
            <a:avLst/>
            <a:gdLst/>
            <a:ahLst/>
            <a:cxnLst/>
            <a:rect l="l" t="t" r="r" b="b"/>
            <a:pathLst>
              <a:path w="658736" h="367849">
                <a:moveTo>
                  <a:pt x="0" y="0"/>
                </a:moveTo>
                <a:lnTo>
                  <a:pt x="658736" y="0"/>
                </a:lnTo>
                <a:lnTo>
                  <a:pt x="658736" y="367848"/>
                </a:lnTo>
                <a:lnTo>
                  <a:pt x="0" y="367848"/>
                </a:lnTo>
                <a:lnTo>
                  <a:pt x="0" y="0"/>
                </a:lnTo>
                <a:close/>
              </a:path>
            </a:pathLst>
          </a:custGeom>
          <a:blipFill>
            <a:blip r:embed="rId7">
              <a:extLst>
                <a:ext uri="{96DAC541-7B7A-43D3-8B79-37D633B846F1}">
                  <asvg:svgBlip xmlns:asvg="http://schemas.microsoft.com/office/drawing/2016/SVG/main" r:embed="rId8"/>
                </a:ext>
              </a:extLst>
            </a:blip>
            <a:stretch>
              <a:fillRect l="-138405"/>
            </a:stretch>
          </a:blipFill>
        </p:spPr>
      </p:sp>
      <p:sp>
        <p:nvSpPr>
          <p:cNvPr id="54" name="Freeform 54"/>
          <p:cNvSpPr/>
          <p:nvPr/>
        </p:nvSpPr>
        <p:spPr>
          <a:xfrm rot="-3190806">
            <a:off x="6158095" y="1938777"/>
            <a:ext cx="666557" cy="367849"/>
          </a:xfrm>
          <a:custGeom>
            <a:avLst/>
            <a:gdLst/>
            <a:ahLst/>
            <a:cxnLst/>
            <a:rect l="l" t="t" r="r" b="b"/>
            <a:pathLst>
              <a:path w="666557" h="367849">
                <a:moveTo>
                  <a:pt x="0" y="0"/>
                </a:moveTo>
                <a:lnTo>
                  <a:pt x="666556" y="0"/>
                </a:lnTo>
                <a:lnTo>
                  <a:pt x="666556" y="367849"/>
                </a:lnTo>
                <a:lnTo>
                  <a:pt x="0" y="367849"/>
                </a:lnTo>
                <a:lnTo>
                  <a:pt x="0" y="0"/>
                </a:lnTo>
                <a:close/>
              </a:path>
            </a:pathLst>
          </a:custGeom>
          <a:blipFill>
            <a:blip r:embed="rId9">
              <a:extLst>
                <a:ext uri="{96DAC541-7B7A-43D3-8B79-37D633B846F1}">
                  <asvg:svgBlip xmlns:asvg="http://schemas.microsoft.com/office/drawing/2016/SVG/main" r:embed="rId10"/>
                </a:ext>
              </a:extLst>
            </a:blip>
            <a:stretch>
              <a:fillRect l="-135608"/>
            </a:stretch>
          </a:blipFill>
        </p:spPr>
      </p:sp>
      <p:sp>
        <p:nvSpPr>
          <p:cNvPr id="55" name="Freeform 55"/>
          <p:cNvSpPr/>
          <p:nvPr/>
        </p:nvSpPr>
        <p:spPr>
          <a:xfrm>
            <a:off x="7926367" y="2963782"/>
            <a:ext cx="1144903" cy="1119923"/>
          </a:xfrm>
          <a:custGeom>
            <a:avLst/>
            <a:gdLst/>
            <a:ahLst/>
            <a:cxnLst/>
            <a:rect l="l" t="t" r="r" b="b"/>
            <a:pathLst>
              <a:path w="1144903" h="1119923">
                <a:moveTo>
                  <a:pt x="0" y="0"/>
                </a:moveTo>
                <a:lnTo>
                  <a:pt x="1144902" y="0"/>
                </a:lnTo>
                <a:lnTo>
                  <a:pt x="1144902" y="1119923"/>
                </a:lnTo>
                <a:lnTo>
                  <a:pt x="0" y="11199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6" name="Freeform 56"/>
          <p:cNvSpPr/>
          <p:nvPr/>
        </p:nvSpPr>
        <p:spPr>
          <a:xfrm>
            <a:off x="8498818" y="5375893"/>
            <a:ext cx="1249893" cy="909013"/>
          </a:xfrm>
          <a:custGeom>
            <a:avLst/>
            <a:gdLst/>
            <a:ahLst/>
            <a:cxnLst/>
            <a:rect l="l" t="t" r="r" b="b"/>
            <a:pathLst>
              <a:path w="1249893" h="909013">
                <a:moveTo>
                  <a:pt x="0" y="0"/>
                </a:moveTo>
                <a:lnTo>
                  <a:pt x="1249893" y="0"/>
                </a:lnTo>
                <a:lnTo>
                  <a:pt x="1249893" y="909014"/>
                </a:lnTo>
                <a:lnTo>
                  <a:pt x="0" y="90901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57" name="Freeform 57"/>
          <p:cNvSpPr/>
          <p:nvPr/>
        </p:nvSpPr>
        <p:spPr>
          <a:xfrm>
            <a:off x="7438816" y="7636890"/>
            <a:ext cx="943808" cy="746466"/>
          </a:xfrm>
          <a:custGeom>
            <a:avLst/>
            <a:gdLst/>
            <a:ahLst/>
            <a:cxnLst/>
            <a:rect l="l" t="t" r="r" b="b"/>
            <a:pathLst>
              <a:path w="943808" h="746466">
                <a:moveTo>
                  <a:pt x="0" y="0"/>
                </a:moveTo>
                <a:lnTo>
                  <a:pt x="943808" y="0"/>
                </a:lnTo>
                <a:lnTo>
                  <a:pt x="943808" y="746466"/>
                </a:lnTo>
                <a:lnTo>
                  <a:pt x="0" y="74646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8" name="Freeform 58"/>
          <p:cNvSpPr/>
          <p:nvPr/>
        </p:nvSpPr>
        <p:spPr>
          <a:xfrm rot="-3578320">
            <a:off x="436149" y="9822785"/>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9" name="Freeform 59"/>
          <p:cNvSpPr/>
          <p:nvPr/>
        </p:nvSpPr>
        <p:spPr>
          <a:xfrm rot="-3578320">
            <a:off x="-1601909" y="8396514"/>
            <a:ext cx="2628741" cy="2275056"/>
          </a:xfrm>
          <a:custGeom>
            <a:avLst/>
            <a:gdLst/>
            <a:ahLst/>
            <a:cxnLst/>
            <a:rect l="l" t="t" r="r" b="b"/>
            <a:pathLst>
              <a:path w="2628741" h="2275056">
                <a:moveTo>
                  <a:pt x="0" y="0"/>
                </a:moveTo>
                <a:lnTo>
                  <a:pt x="2628740" y="0"/>
                </a:lnTo>
                <a:lnTo>
                  <a:pt x="2628740" y="2275055"/>
                </a:lnTo>
                <a:lnTo>
                  <a:pt x="0" y="227505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60" name="Freeform 60"/>
          <p:cNvSpPr/>
          <p:nvPr/>
        </p:nvSpPr>
        <p:spPr>
          <a:xfrm rot="7221679">
            <a:off x="558550" y="7454571"/>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61" name="Freeform 61"/>
          <p:cNvSpPr/>
          <p:nvPr/>
        </p:nvSpPr>
        <p:spPr>
          <a:xfrm rot="-3578320">
            <a:off x="-1195648" y="-1137528"/>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62" name="Freeform 62"/>
          <p:cNvSpPr/>
          <p:nvPr/>
        </p:nvSpPr>
        <p:spPr>
          <a:xfrm rot="-3578320">
            <a:off x="2798539" y="-1131408"/>
            <a:ext cx="2656890" cy="2299417"/>
          </a:xfrm>
          <a:custGeom>
            <a:avLst/>
            <a:gdLst/>
            <a:ahLst/>
            <a:cxnLst/>
            <a:rect l="l" t="t" r="r" b="b"/>
            <a:pathLst>
              <a:path w="2656890" h="2299417">
                <a:moveTo>
                  <a:pt x="0" y="0"/>
                </a:moveTo>
                <a:lnTo>
                  <a:pt x="2656889" y="0"/>
                </a:lnTo>
                <a:lnTo>
                  <a:pt x="2656889" y="2299418"/>
                </a:lnTo>
                <a:lnTo>
                  <a:pt x="0" y="229941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63" name="Freeform 63"/>
          <p:cNvSpPr/>
          <p:nvPr/>
        </p:nvSpPr>
        <p:spPr>
          <a:xfrm rot="3663319">
            <a:off x="897844" y="229726"/>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64" name="TextBox 64"/>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14</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578320">
            <a:off x="6418642" y="-485952"/>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271562" y="3821498"/>
            <a:ext cx="14016438" cy="2517935"/>
          </a:xfrm>
          <a:prstGeom prst="rect">
            <a:avLst/>
          </a:prstGeom>
        </p:spPr>
        <p:txBody>
          <a:bodyPr lIns="0" tIns="0" rIns="0" bIns="0" rtlCol="0" anchor="t">
            <a:spAutoFit/>
          </a:bodyPr>
          <a:lstStyle/>
          <a:p>
            <a:pPr marL="0" lvl="1" indent="0" algn="ctr">
              <a:lnSpc>
                <a:spcPts val="6495"/>
              </a:lnSpc>
            </a:pPr>
            <a:r>
              <a:rPr lang="en-US" sz="7060" b="1" spc="197">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 TENDANCES ET ORIENTATIONS FUTURES DU BIG DATA ET DU CLOUD COMPUTING</a:t>
            </a:r>
            <a:endParaRPr lang="en-US" sz="7060" b="1" spc="197">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grpSp>
        <p:nvGrpSpPr>
          <p:cNvPr id="4" name="Group 4"/>
          <p:cNvGrpSpPr/>
          <p:nvPr/>
        </p:nvGrpSpPr>
        <p:grpSpPr>
          <a:xfrm rot="0">
            <a:off x="108332" y="4184496"/>
            <a:ext cx="4687407" cy="4059083"/>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t="-7739" b="-7739"/>
              </a:stretch>
            </a:blipFill>
            <a:ln cap="sq">
              <a:noFill/>
              <a:prstDash val="solid"/>
              <a:miter/>
            </a:ln>
          </p:spPr>
        </p:sp>
      </p:grpSp>
      <p:grpSp>
        <p:nvGrpSpPr>
          <p:cNvPr id="6" name="Group 6"/>
          <p:cNvGrpSpPr/>
          <p:nvPr/>
        </p:nvGrpSpPr>
        <p:grpSpPr>
          <a:xfrm rot="0">
            <a:off x="-1011345" y="895358"/>
            <a:ext cx="4449951" cy="3853457"/>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27317" r="-27317"/>
              </a:stretch>
            </a:blipFill>
            <a:ln cap="sq">
              <a:noFill/>
              <a:prstDash val="solid"/>
              <a:miter/>
            </a:ln>
          </p:spPr>
        </p:sp>
      </p:grpSp>
      <p:sp>
        <p:nvSpPr>
          <p:cNvPr id="8" name="Freeform 8"/>
          <p:cNvSpPr/>
          <p:nvPr/>
        </p:nvSpPr>
        <p:spPr>
          <a:xfrm rot="-3578320">
            <a:off x="4005792" y="9499691"/>
            <a:ext cx="2656890" cy="2299417"/>
          </a:xfrm>
          <a:custGeom>
            <a:avLst/>
            <a:gdLst/>
            <a:ahLst/>
            <a:cxnLst/>
            <a:rect l="l" t="t" r="r" b="b"/>
            <a:pathLst>
              <a:path w="2656890" h="2299417">
                <a:moveTo>
                  <a:pt x="0" y="0"/>
                </a:moveTo>
                <a:lnTo>
                  <a:pt x="2656890" y="0"/>
                </a:lnTo>
                <a:lnTo>
                  <a:pt x="2656890" y="2299418"/>
                </a:lnTo>
                <a:lnTo>
                  <a:pt x="0" y="22994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3578320">
            <a:off x="-831041" y="4202547"/>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rot="-3578320">
            <a:off x="1967734" y="8073420"/>
            <a:ext cx="2628741" cy="2275056"/>
          </a:xfrm>
          <a:custGeom>
            <a:avLst/>
            <a:gdLst/>
            <a:ahLst/>
            <a:cxnLst/>
            <a:rect l="l" t="t" r="r" b="b"/>
            <a:pathLst>
              <a:path w="2628741" h="2275056">
                <a:moveTo>
                  <a:pt x="0" y="0"/>
                </a:moveTo>
                <a:lnTo>
                  <a:pt x="2628741" y="0"/>
                </a:lnTo>
                <a:lnTo>
                  <a:pt x="2628741" y="2275056"/>
                </a:lnTo>
                <a:lnTo>
                  <a:pt x="0" y="22750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p:cNvSpPr/>
          <p:nvPr/>
        </p:nvSpPr>
        <p:spPr>
          <a:xfrm rot="7221679">
            <a:off x="4128194" y="7131478"/>
            <a:ext cx="2412087" cy="2087552"/>
          </a:xfrm>
          <a:custGeom>
            <a:avLst/>
            <a:gdLst/>
            <a:ahLst/>
            <a:cxnLst/>
            <a:rect l="l" t="t" r="r" b="b"/>
            <a:pathLst>
              <a:path w="2412087" h="2087552">
                <a:moveTo>
                  <a:pt x="0" y="0"/>
                </a:moveTo>
                <a:lnTo>
                  <a:pt x="2412087" y="0"/>
                </a:lnTo>
                <a:lnTo>
                  <a:pt x="2412087" y="2087551"/>
                </a:lnTo>
                <a:lnTo>
                  <a:pt x="0" y="20875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Freeform 12"/>
          <p:cNvSpPr/>
          <p:nvPr/>
        </p:nvSpPr>
        <p:spPr>
          <a:xfrm rot="5458650">
            <a:off x="1336797" y="-344741"/>
            <a:ext cx="2656890" cy="2299417"/>
          </a:xfrm>
          <a:custGeom>
            <a:avLst/>
            <a:gdLst/>
            <a:ahLst/>
            <a:cxnLst/>
            <a:rect l="l" t="t" r="r" b="b"/>
            <a:pathLst>
              <a:path w="2656890" h="2299417">
                <a:moveTo>
                  <a:pt x="0" y="0"/>
                </a:moveTo>
                <a:lnTo>
                  <a:pt x="2656889" y="0"/>
                </a:lnTo>
                <a:lnTo>
                  <a:pt x="2656889" y="2299418"/>
                </a:lnTo>
                <a:lnTo>
                  <a:pt x="0" y="22994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rot="-5341349">
            <a:off x="2673157" y="1917045"/>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4" name="Group 14"/>
          <p:cNvGrpSpPr/>
          <p:nvPr/>
        </p:nvGrpSpPr>
        <p:grpSpPr>
          <a:xfrm rot="0">
            <a:off x="-1485377" y="6470443"/>
            <a:ext cx="3937412" cy="3409622"/>
            <a:chOff x="0" y="0"/>
            <a:chExt cx="4282440" cy="3708400"/>
          </a:xfrm>
        </p:grpSpPr>
        <p:sp>
          <p:nvSpPr>
            <p:cNvPr id="15" name="Freeform 1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3"/>
              <a:stretch>
                <a:fillRect l="-1957" r="-1957"/>
              </a:stretch>
            </a:blipFill>
            <a:ln cap="sq">
              <a:noFill/>
              <a:prstDash val="solid"/>
              <a:miter/>
            </a:ln>
          </p:spPr>
        </p:sp>
      </p:grpSp>
      <p:sp>
        <p:nvSpPr>
          <p:cNvPr id="16" name="TextBox 16"/>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15</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460412" y="300531"/>
            <a:ext cx="12827588" cy="2298885"/>
            <a:chOff x="0" y="0"/>
            <a:chExt cx="2683697" cy="480957"/>
          </a:xfrm>
        </p:grpSpPr>
        <p:sp>
          <p:nvSpPr>
            <p:cNvPr id="3" name="Freeform 3"/>
            <p:cNvSpPr/>
            <p:nvPr/>
          </p:nvSpPr>
          <p:spPr>
            <a:xfrm>
              <a:off x="0" y="0"/>
              <a:ext cx="2683697" cy="480957"/>
            </a:xfrm>
            <a:custGeom>
              <a:avLst/>
              <a:gdLst/>
              <a:ahLst/>
              <a:cxnLst/>
              <a:rect l="l" t="t" r="r" b="b"/>
              <a:pathLst>
                <a:path w="2683697" h="480957">
                  <a:moveTo>
                    <a:pt x="0" y="0"/>
                  </a:moveTo>
                  <a:lnTo>
                    <a:pt x="2683697" y="0"/>
                  </a:lnTo>
                  <a:lnTo>
                    <a:pt x="2683697" y="480957"/>
                  </a:lnTo>
                  <a:lnTo>
                    <a:pt x="0" y="480957"/>
                  </a:lnTo>
                  <a:close/>
                </a:path>
              </a:pathLst>
            </a:custGeom>
            <a:solidFill>
              <a:srgbClr val="FAC6C6"/>
            </a:solidFill>
          </p:spPr>
        </p:sp>
        <p:sp>
          <p:nvSpPr>
            <p:cNvPr id="4" name="TextBox 4"/>
            <p:cNvSpPr txBox="1"/>
            <p:nvPr/>
          </p:nvSpPr>
          <p:spPr>
            <a:xfrm>
              <a:off x="0" y="-28575"/>
              <a:ext cx="2683697" cy="509532"/>
            </a:xfrm>
            <a:prstGeom prst="rect">
              <a:avLst/>
            </a:prstGeom>
          </p:spPr>
          <p:txBody>
            <a:bodyPr lIns="50800" tIns="50800" rIns="50800" bIns="50800" rtlCol="0" anchor="ctr"/>
            <a:lstStyle/>
            <a:p>
              <a:pPr algn="ctr">
                <a:lnSpc>
                  <a:spcPts val="1960"/>
                </a:lnSpc>
                <a:spcBef>
                  <a:spcPct val="0"/>
                </a:spcBef>
              </a:pPr>
            </a:p>
          </p:txBody>
        </p:sp>
      </p:grpSp>
      <p:sp>
        <p:nvSpPr>
          <p:cNvPr id="5" name="Freeform 5"/>
          <p:cNvSpPr/>
          <p:nvPr/>
        </p:nvSpPr>
        <p:spPr>
          <a:xfrm>
            <a:off x="4165668" y="300531"/>
            <a:ext cx="2589489" cy="3086671"/>
          </a:xfrm>
          <a:custGeom>
            <a:avLst/>
            <a:gdLst/>
            <a:ahLst/>
            <a:cxnLst/>
            <a:rect l="l" t="t" r="r" b="b"/>
            <a:pathLst>
              <a:path w="2589489" h="3086671">
                <a:moveTo>
                  <a:pt x="0" y="0"/>
                </a:moveTo>
                <a:lnTo>
                  <a:pt x="2589489" y="0"/>
                </a:lnTo>
                <a:lnTo>
                  <a:pt x="2589489" y="3086671"/>
                </a:lnTo>
                <a:lnTo>
                  <a:pt x="0" y="308667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0">
            <a:off x="6755157" y="2602558"/>
            <a:ext cx="11532843" cy="2298885"/>
            <a:chOff x="0" y="0"/>
            <a:chExt cx="2412820" cy="480957"/>
          </a:xfrm>
        </p:grpSpPr>
        <p:sp>
          <p:nvSpPr>
            <p:cNvPr id="7" name="Freeform 7"/>
            <p:cNvSpPr/>
            <p:nvPr/>
          </p:nvSpPr>
          <p:spPr>
            <a:xfrm>
              <a:off x="0" y="0"/>
              <a:ext cx="2412820" cy="480957"/>
            </a:xfrm>
            <a:custGeom>
              <a:avLst/>
              <a:gdLst/>
              <a:ahLst/>
              <a:cxnLst/>
              <a:rect l="l" t="t" r="r" b="b"/>
              <a:pathLst>
                <a:path w="2412820" h="480957">
                  <a:moveTo>
                    <a:pt x="0" y="0"/>
                  </a:moveTo>
                  <a:lnTo>
                    <a:pt x="2412820" y="0"/>
                  </a:lnTo>
                  <a:lnTo>
                    <a:pt x="2412820" y="480957"/>
                  </a:lnTo>
                  <a:lnTo>
                    <a:pt x="0" y="480957"/>
                  </a:lnTo>
                  <a:close/>
                </a:path>
              </a:pathLst>
            </a:custGeom>
            <a:solidFill>
              <a:srgbClr val="FDF7D0"/>
            </a:solidFill>
          </p:spPr>
        </p:sp>
        <p:sp>
          <p:nvSpPr>
            <p:cNvPr id="8" name="TextBox 8"/>
            <p:cNvSpPr txBox="1"/>
            <p:nvPr/>
          </p:nvSpPr>
          <p:spPr>
            <a:xfrm>
              <a:off x="0" y="-28575"/>
              <a:ext cx="2412820" cy="509532"/>
            </a:xfrm>
            <a:prstGeom prst="rect">
              <a:avLst/>
            </a:prstGeom>
          </p:spPr>
          <p:txBody>
            <a:bodyPr lIns="50800" tIns="50800" rIns="50800" bIns="50800" rtlCol="0" anchor="ctr"/>
            <a:lstStyle/>
            <a:p>
              <a:pPr algn="ctr">
                <a:lnSpc>
                  <a:spcPts val="1960"/>
                </a:lnSpc>
                <a:spcBef>
                  <a:spcPct val="0"/>
                </a:spcBef>
              </a:pPr>
            </a:p>
          </p:txBody>
        </p:sp>
      </p:grpSp>
      <p:grpSp>
        <p:nvGrpSpPr>
          <p:cNvPr id="9" name="Group 9"/>
          <p:cNvGrpSpPr/>
          <p:nvPr/>
        </p:nvGrpSpPr>
        <p:grpSpPr>
          <a:xfrm rot="0">
            <a:off x="5460412" y="4901444"/>
            <a:ext cx="12827588" cy="2498903"/>
            <a:chOff x="0" y="0"/>
            <a:chExt cx="2683697" cy="522803"/>
          </a:xfrm>
        </p:grpSpPr>
        <p:sp>
          <p:nvSpPr>
            <p:cNvPr id="10" name="Freeform 10"/>
            <p:cNvSpPr/>
            <p:nvPr/>
          </p:nvSpPr>
          <p:spPr>
            <a:xfrm>
              <a:off x="0" y="0"/>
              <a:ext cx="2683697" cy="522803"/>
            </a:xfrm>
            <a:custGeom>
              <a:avLst/>
              <a:gdLst/>
              <a:ahLst/>
              <a:cxnLst/>
              <a:rect l="l" t="t" r="r" b="b"/>
              <a:pathLst>
                <a:path w="2683697" h="522803">
                  <a:moveTo>
                    <a:pt x="0" y="0"/>
                  </a:moveTo>
                  <a:lnTo>
                    <a:pt x="2683697" y="0"/>
                  </a:lnTo>
                  <a:lnTo>
                    <a:pt x="2683697" y="522803"/>
                  </a:lnTo>
                  <a:lnTo>
                    <a:pt x="0" y="522803"/>
                  </a:lnTo>
                  <a:close/>
                </a:path>
              </a:pathLst>
            </a:custGeom>
            <a:solidFill>
              <a:srgbClr val="EDF6F6"/>
            </a:solidFill>
          </p:spPr>
        </p:sp>
        <p:sp>
          <p:nvSpPr>
            <p:cNvPr id="11" name="TextBox 11"/>
            <p:cNvSpPr txBox="1"/>
            <p:nvPr/>
          </p:nvSpPr>
          <p:spPr>
            <a:xfrm>
              <a:off x="0" y="-28575"/>
              <a:ext cx="2683697" cy="551378"/>
            </a:xfrm>
            <a:prstGeom prst="rect">
              <a:avLst/>
            </a:prstGeom>
          </p:spPr>
          <p:txBody>
            <a:bodyPr lIns="50800" tIns="50800" rIns="50800" bIns="50800" rtlCol="0" anchor="ctr"/>
            <a:lstStyle/>
            <a:p>
              <a:pPr algn="ctr">
                <a:lnSpc>
                  <a:spcPts val="1960"/>
                </a:lnSpc>
                <a:spcBef>
                  <a:spcPct val="0"/>
                </a:spcBef>
              </a:pPr>
            </a:p>
          </p:txBody>
        </p:sp>
      </p:grpSp>
      <p:grpSp>
        <p:nvGrpSpPr>
          <p:cNvPr id="12" name="Group 12"/>
          <p:cNvGrpSpPr/>
          <p:nvPr/>
        </p:nvGrpSpPr>
        <p:grpSpPr>
          <a:xfrm rot="0">
            <a:off x="6574200" y="7439104"/>
            <a:ext cx="11713800" cy="2598226"/>
            <a:chOff x="0" y="0"/>
            <a:chExt cx="2412820" cy="535185"/>
          </a:xfrm>
        </p:grpSpPr>
        <p:sp>
          <p:nvSpPr>
            <p:cNvPr id="13" name="Freeform 13"/>
            <p:cNvSpPr/>
            <p:nvPr/>
          </p:nvSpPr>
          <p:spPr>
            <a:xfrm>
              <a:off x="0" y="0"/>
              <a:ext cx="2412820" cy="535185"/>
            </a:xfrm>
            <a:custGeom>
              <a:avLst/>
              <a:gdLst/>
              <a:ahLst/>
              <a:cxnLst/>
              <a:rect l="l" t="t" r="r" b="b"/>
              <a:pathLst>
                <a:path w="2412820" h="535185">
                  <a:moveTo>
                    <a:pt x="0" y="0"/>
                  </a:moveTo>
                  <a:lnTo>
                    <a:pt x="2412820" y="0"/>
                  </a:lnTo>
                  <a:lnTo>
                    <a:pt x="2412820" y="535185"/>
                  </a:lnTo>
                  <a:lnTo>
                    <a:pt x="0" y="535185"/>
                  </a:lnTo>
                  <a:close/>
                </a:path>
              </a:pathLst>
            </a:custGeom>
            <a:solidFill>
              <a:srgbClr val="DAF2F4"/>
            </a:solidFill>
          </p:spPr>
        </p:sp>
        <p:sp>
          <p:nvSpPr>
            <p:cNvPr id="14" name="TextBox 14"/>
            <p:cNvSpPr txBox="1"/>
            <p:nvPr/>
          </p:nvSpPr>
          <p:spPr>
            <a:xfrm>
              <a:off x="0" y="-28575"/>
              <a:ext cx="2412820" cy="563760"/>
            </a:xfrm>
            <a:prstGeom prst="rect">
              <a:avLst/>
            </a:prstGeom>
          </p:spPr>
          <p:txBody>
            <a:bodyPr lIns="50800" tIns="50800" rIns="50800" bIns="50800" rtlCol="0" anchor="ctr"/>
            <a:lstStyle/>
            <a:p>
              <a:pPr algn="ctr">
                <a:lnSpc>
                  <a:spcPts val="1960"/>
                </a:lnSpc>
                <a:spcBef>
                  <a:spcPct val="0"/>
                </a:spcBef>
              </a:pPr>
            </a:p>
          </p:txBody>
        </p:sp>
      </p:grpSp>
      <p:sp>
        <p:nvSpPr>
          <p:cNvPr id="15" name="Freeform 15"/>
          <p:cNvSpPr/>
          <p:nvPr/>
        </p:nvSpPr>
        <p:spPr>
          <a:xfrm>
            <a:off x="5460412" y="2599417"/>
            <a:ext cx="2589489" cy="3086671"/>
          </a:xfrm>
          <a:custGeom>
            <a:avLst/>
            <a:gdLst/>
            <a:ahLst/>
            <a:cxnLst/>
            <a:rect l="l" t="t" r="r" b="b"/>
            <a:pathLst>
              <a:path w="2589489" h="3086671">
                <a:moveTo>
                  <a:pt x="0" y="0"/>
                </a:moveTo>
                <a:lnTo>
                  <a:pt x="2589489" y="0"/>
                </a:lnTo>
                <a:lnTo>
                  <a:pt x="2589489" y="3086670"/>
                </a:lnTo>
                <a:lnTo>
                  <a:pt x="0" y="3086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4165668" y="4901444"/>
            <a:ext cx="2589489" cy="3086671"/>
          </a:xfrm>
          <a:custGeom>
            <a:avLst/>
            <a:gdLst/>
            <a:ahLst/>
            <a:cxnLst/>
            <a:rect l="l" t="t" r="r" b="b"/>
            <a:pathLst>
              <a:path w="2589489" h="3086671">
                <a:moveTo>
                  <a:pt x="0" y="0"/>
                </a:moveTo>
                <a:lnTo>
                  <a:pt x="2589489" y="0"/>
                </a:lnTo>
                <a:lnTo>
                  <a:pt x="2589489" y="3086671"/>
                </a:lnTo>
                <a:lnTo>
                  <a:pt x="0" y="30866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5190999" y="7400346"/>
            <a:ext cx="2630119" cy="3135102"/>
          </a:xfrm>
          <a:custGeom>
            <a:avLst/>
            <a:gdLst/>
            <a:ahLst/>
            <a:cxnLst/>
            <a:rect l="l" t="t" r="r" b="b"/>
            <a:pathLst>
              <a:path w="2630119" h="3135102">
                <a:moveTo>
                  <a:pt x="0" y="0"/>
                </a:moveTo>
                <a:lnTo>
                  <a:pt x="2630120" y="0"/>
                </a:lnTo>
                <a:lnTo>
                  <a:pt x="2630120" y="3135103"/>
                </a:lnTo>
                <a:lnTo>
                  <a:pt x="0" y="313510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16241076" y="890012"/>
            <a:ext cx="1144903" cy="1119923"/>
          </a:xfrm>
          <a:custGeom>
            <a:avLst/>
            <a:gdLst/>
            <a:ahLst/>
            <a:cxnLst/>
            <a:rect l="l" t="t" r="r" b="b"/>
            <a:pathLst>
              <a:path w="1144903" h="1119923">
                <a:moveTo>
                  <a:pt x="0" y="0"/>
                </a:moveTo>
                <a:lnTo>
                  <a:pt x="1144903" y="0"/>
                </a:lnTo>
                <a:lnTo>
                  <a:pt x="1144903" y="1119923"/>
                </a:lnTo>
                <a:lnTo>
                  <a:pt x="0" y="111992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16255733" y="5445784"/>
            <a:ext cx="1115589" cy="1210205"/>
          </a:xfrm>
          <a:custGeom>
            <a:avLst/>
            <a:gdLst/>
            <a:ahLst/>
            <a:cxnLst/>
            <a:rect l="l" t="t" r="r" b="b"/>
            <a:pathLst>
              <a:path w="1115589" h="1210205">
                <a:moveTo>
                  <a:pt x="0" y="0"/>
                </a:moveTo>
                <a:lnTo>
                  <a:pt x="1115589" y="0"/>
                </a:lnTo>
                <a:lnTo>
                  <a:pt x="1115589" y="1210205"/>
                </a:lnTo>
                <a:lnTo>
                  <a:pt x="0" y="12102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TextBox 20"/>
          <p:cNvSpPr txBox="1"/>
          <p:nvPr/>
        </p:nvSpPr>
        <p:spPr>
          <a:xfrm>
            <a:off x="4720947" y="878668"/>
            <a:ext cx="1478931" cy="571306"/>
          </a:xfrm>
          <a:prstGeom prst="rect">
            <a:avLst/>
          </a:prstGeom>
        </p:spPr>
        <p:txBody>
          <a:bodyPr lIns="0" tIns="0" rIns="0" bIns="0" rtlCol="0" anchor="t">
            <a:spAutoFit/>
          </a:bodyPr>
          <a:lstStyle/>
          <a:p>
            <a:pPr algn="ctr">
              <a:lnSpc>
                <a:spcPts val="4250"/>
              </a:lnSpc>
            </a:pPr>
            <a:r>
              <a:rPr lang="en-US" sz="4250" b="1">
                <a:solidFill>
                  <a:srgbClr val="404040"/>
                </a:solidFill>
                <a:latin typeface="Public Sans Bold"/>
                <a:ea typeface="Public Sans Bold"/>
                <a:cs typeface="Public Sans Bold"/>
                <a:sym typeface="Public Sans Bold"/>
              </a:rPr>
              <a:t>01.</a:t>
            </a:r>
            <a:endParaRPr lang="en-US" sz="4250" b="1">
              <a:solidFill>
                <a:srgbClr val="404040"/>
              </a:solidFill>
              <a:latin typeface="Public Sans Bold"/>
              <a:ea typeface="Public Sans Bold"/>
              <a:cs typeface="Public Sans Bold"/>
              <a:sym typeface="Public Sans Bold"/>
            </a:endParaRPr>
          </a:p>
        </p:txBody>
      </p:sp>
      <p:sp>
        <p:nvSpPr>
          <p:cNvPr id="21" name="TextBox 21"/>
          <p:cNvSpPr txBox="1"/>
          <p:nvPr/>
        </p:nvSpPr>
        <p:spPr>
          <a:xfrm>
            <a:off x="6015691" y="3139649"/>
            <a:ext cx="1478931" cy="571306"/>
          </a:xfrm>
          <a:prstGeom prst="rect">
            <a:avLst/>
          </a:prstGeom>
        </p:spPr>
        <p:txBody>
          <a:bodyPr lIns="0" tIns="0" rIns="0" bIns="0" rtlCol="0" anchor="t">
            <a:spAutoFit/>
          </a:bodyPr>
          <a:lstStyle/>
          <a:p>
            <a:pPr algn="ctr">
              <a:lnSpc>
                <a:spcPts val="4250"/>
              </a:lnSpc>
            </a:pPr>
            <a:r>
              <a:rPr lang="en-US" sz="4250" b="1">
                <a:solidFill>
                  <a:srgbClr val="404040"/>
                </a:solidFill>
                <a:latin typeface="Public Sans Bold"/>
                <a:ea typeface="Public Sans Bold"/>
                <a:cs typeface="Public Sans Bold"/>
                <a:sym typeface="Public Sans Bold"/>
              </a:rPr>
              <a:t>02.</a:t>
            </a:r>
            <a:endParaRPr lang="en-US" sz="4250" b="1">
              <a:solidFill>
                <a:srgbClr val="404040"/>
              </a:solidFill>
              <a:latin typeface="Public Sans Bold"/>
              <a:ea typeface="Public Sans Bold"/>
              <a:cs typeface="Public Sans Bold"/>
              <a:sym typeface="Public Sans Bold"/>
            </a:endParaRPr>
          </a:p>
        </p:txBody>
      </p:sp>
      <p:sp>
        <p:nvSpPr>
          <p:cNvPr id="22" name="TextBox 22"/>
          <p:cNvSpPr txBox="1"/>
          <p:nvPr/>
        </p:nvSpPr>
        <p:spPr>
          <a:xfrm>
            <a:off x="4720947" y="5479580"/>
            <a:ext cx="1478931" cy="571306"/>
          </a:xfrm>
          <a:prstGeom prst="rect">
            <a:avLst/>
          </a:prstGeom>
        </p:spPr>
        <p:txBody>
          <a:bodyPr lIns="0" tIns="0" rIns="0" bIns="0" rtlCol="0" anchor="t">
            <a:spAutoFit/>
          </a:bodyPr>
          <a:lstStyle/>
          <a:p>
            <a:pPr algn="ctr">
              <a:lnSpc>
                <a:spcPts val="4250"/>
              </a:lnSpc>
            </a:pPr>
            <a:r>
              <a:rPr lang="en-US" sz="4250" b="1">
                <a:solidFill>
                  <a:srgbClr val="404040"/>
                </a:solidFill>
                <a:latin typeface="Public Sans Bold"/>
                <a:ea typeface="Public Sans Bold"/>
                <a:cs typeface="Public Sans Bold"/>
                <a:sym typeface="Public Sans Bold"/>
              </a:rPr>
              <a:t>03.</a:t>
            </a:r>
            <a:endParaRPr lang="en-US" sz="4250" b="1">
              <a:solidFill>
                <a:srgbClr val="404040"/>
              </a:solidFill>
              <a:latin typeface="Public Sans Bold"/>
              <a:ea typeface="Public Sans Bold"/>
              <a:cs typeface="Public Sans Bold"/>
              <a:sym typeface="Public Sans Bold"/>
            </a:endParaRPr>
          </a:p>
        </p:txBody>
      </p:sp>
      <p:sp>
        <p:nvSpPr>
          <p:cNvPr id="23" name="TextBox 23"/>
          <p:cNvSpPr txBox="1"/>
          <p:nvPr/>
        </p:nvSpPr>
        <p:spPr>
          <a:xfrm>
            <a:off x="5972179" y="7952840"/>
            <a:ext cx="1478931" cy="571306"/>
          </a:xfrm>
          <a:prstGeom prst="rect">
            <a:avLst/>
          </a:prstGeom>
        </p:spPr>
        <p:txBody>
          <a:bodyPr lIns="0" tIns="0" rIns="0" bIns="0" rtlCol="0" anchor="t">
            <a:spAutoFit/>
          </a:bodyPr>
          <a:lstStyle/>
          <a:p>
            <a:pPr algn="ctr">
              <a:lnSpc>
                <a:spcPts val="4250"/>
              </a:lnSpc>
            </a:pPr>
            <a:r>
              <a:rPr lang="en-US" sz="4250" b="1">
                <a:solidFill>
                  <a:srgbClr val="404040"/>
                </a:solidFill>
                <a:latin typeface="Public Sans Bold"/>
                <a:ea typeface="Public Sans Bold"/>
                <a:cs typeface="Public Sans Bold"/>
                <a:sym typeface="Public Sans Bold"/>
              </a:rPr>
              <a:t>04.</a:t>
            </a:r>
            <a:endParaRPr lang="en-US" sz="4250" b="1">
              <a:solidFill>
                <a:srgbClr val="404040"/>
              </a:solidFill>
              <a:latin typeface="Public Sans Bold"/>
              <a:ea typeface="Public Sans Bold"/>
              <a:cs typeface="Public Sans Bold"/>
              <a:sym typeface="Public Sans Bold"/>
            </a:endParaRPr>
          </a:p>
        </p:txBody>
      </p:sp>
      <p:sp>
        <p:nvSpPr>
          <p:cNvPr id="24" name="TextBox 24"/>
          <p:cNvSpPr txBox="1"/>
          <p:nvPr/>
        </p:nvSpPr>
        <p:spPr>
          <a:xfrm>
            <a:off x="7454662" y="308687"/>
            <a:ext cx="8146297" cy="483732"/>
          </a:xfrm>
          <a:prstGeom prst="rect">
            <a:avLst/>
          </a:prstGeom>
        </p:spPr>
        <p:txBody>
          <a:bodyPr lIns="0" tIns="0" rIns="0" bIns="0" rtlCol="0" anchor="t">
            <a:spAutoFit/>
          </a:bodyPr>
          <a:lstStyle/>
          <a:p>
            <a:pPr algn="l">
              <a:lnSpc>
                <a:spcPts val="3965"/>
              </a:lnSpc>
              <a:spcBef>
                <a:spcPct val="0"/>
              </a:spcBef>
            </a:pPr>
            <a:r>
              <a:rPr lang="en-US" sz="2830" b="1">
                <a:solidFill>
                  <a:srgbClr val="404040"/>
                </a:solidFill>
                <a:latin typeface="Public Sans Bold"/>
                <a:ea typeface="Public Sans Bold"/>
                <a:cs typeface="Public Sans Bold"/>
                <a:sym typeface="Public Sans Bold"/>
              </a:rPr>
              <a:t>Convergence du big data et du cloud computing</a:t>
            </a:r>
            <a:endParaRPr lang="en-US" sz="2830" b="1">
              <a:solidFill>
                <a:srgbClr val="404040"/>
              </a:solidFill>
              <a:latin typeface="Public Sans Bold"/>
              <a:ea typeface="Public Sans Bold"/>
              <a:cs typeface="Public Sans Bold"/>
              <a:sym typeface="Public Sans Bold"/>
            </a:endParaRPr>
          </a:p>
        </p:txBody>
      </p:sp>
      <p:sp>
        <p:nvSpPr>
          <p:cNvPr id="25" name="TextBox 25"/>
          <p:cNvSpPr txBox="1"/>
          <p:nvPr/>
        </p:nvSpPr>
        <p:spPr>
          <a:xfrm>
            <a:off x="6792179" y="942067"/>
            <a:ext cx="8986936" cy="1657350"/>
          </a:xfrm>
          <a:prstGeom prst="rect">
            <a:avLst/>
          </a:prstGeom>
        </p:spPr>
        <p:txBody>
          <a:bodyPr lIns="0" tIns="0" rIns="0" bIns="0" rtlCol="0" anchor="t">
            <a:spAutoFit/>
          </a:bodyPr>
          <a:lstStyle/>
          <a:p>
            <a:pPr algn="ctr">
              <a:lnSpc>
                <a:spcPts val="2550"/>
              </a:lnSpc>
            </a:pPr>
            <a:r>
              <a:rPr lang="en-US" sz="2125">
                <a:solidFill>
                  <a:srgbClr val="000000"/>
                </a:solidFill>
                <a:latin typeface="Public Sans"/>
                <a:ea typeface="Public Sans"/>
                <a:cs typeface="Public Sans"/>
                <a:sym typeface="Public Sans"/>
              </a:rPr>
              <a:t>Le Big Data nécessite que le cloud computing fournisse des ressources </a:t>
            </a:r>
            <a:endParaRPr lang="en-US" sz="2125">
              <a:solidFill>
                <a:srgbClr val="000000"/>
              </a:solidFill>
              <a:latin typeface="Public Sans"/>
              <a:ea typeface="Public Sans"/>
              <a:cs typeface="Public Sans"/>
              <a:sym typeface="Public Sans"/>
            </a:endParaRPr>
          </a:p>
          <a:p>
            <a:pPr algn="ctr">
              <a:lnSpc>
                <a:spcPts val="2550"/>
              </a:lnSpc>
            </a:pPr>
            <a:r>
              <a:rPr lang="en-US" sz="2125">
                <a:solidFill>
                  <a:srgbClr val="000000"/>
                </a:solidFill>
                <a:latin typeface="Public Sans"/>
                <a:ea typeface="Public Sans"/>
                <a:cs typeface="Public Sans"/>
                <a:sym typeface="Public Sans"/>
              </a:rPr>
              <a:t>de stockage et de traitement évolutives, élastiques et rentables, tandis que le cloud computing exploite </a:t>
            </a:r>
            <a:endParaRPr lang="en-US" sz="2125">
              <a:solidFill>
                <a:srgbClr val="000000"/>
              </a:solidFill>
              <a:latin typeface="Public Sans"/>
              <a:ea typeface="Public Sans"/>
              <a:cs typeface="Public Sans"/>
              <a:sym typeface="Public Sans"/>
            </a:endParaRPr>
          </a:p>
          <a:p>
            <a:pPr algn="ctr">
              <a:lnSpc>
                <a:spcPts val="2790"/>
              </a:lnSpc>
            </a:pPr>
            <a:r>
              <a:rPr lang="en-US" sz="2325">
                <a:solidFill>
                  <a:srgbClr val="000000"/>
                </a:solidFill>
                <a:latin typeface="Public Sans"/>
                <a:ea typeface="Public Sans"/>
                <a:cs typeface="Public Sans"/>
                <a:sym typeface="Public Sans"/>
              </a:rPr>
              <a:t>le big data pour offrir des services et des solutions à valeur ajoutée</a:t>
            </a:r>
            <a:endParaRPr lang="en-US" sz="2325">
              <a:solidFill>
                <a:srgbClr val="000000"/>
              </a:solidFill>
              <a:latin typeface="Public Sans"/>
              <a:ea typeface="Public Sans"/>
              <a:cs typeface="Public Sans"/>
              <a:sym typeface="Public Sans"/>
            </a:endParaRPr>
          </a:p>
        </p:txBody>
      </p:sp>
      <p:sp>
        <p:nvSpPr>
          <p:cNvPr id="26" name="TextBox 26"/>
          <p:cNvSpPr txBox="1"/>
          <p:nvPr/>
        </p:nvSpPr>
        <p:spPr>
          <a:xfrm>
            <a:off x="8804340" y="2542023"/>
            <a:ext cx="7344279" cy="483732"/>
          </a:xfrm>
          <a:prstGeom prst="rect">
            <a:avLst/>
          </a:prstGeom>
        </p:spPr>
        <p:txBody>
          <a:bodyPr lIns="0" tIns="0" rIns="0" bIns="0" rtlCol="0" anchor="t">
            <a:spAutoFit/>
          </a:bodyPr>
          <a:lstStyle/>
          <a:p>
            <a:pPr algn="l">
              <a:lnSpc>
                <a:spcPts val="3965"/>
              </a:lnSpc>
              <a:spcBef>
                <a:spcPct val="0"/>
              </a:spcBef>
            </a:pPr>
            <a:r>
              <a:rPr lang="en-US" sz="2830" b="1">
                <a:solidFill>
                  <a:srgbClr val="404040"/>
                </a:solidFill>
                <a:latin typeface="Public Sans Bold"/>
                <a:ea typeface="Public Sans Bold"/>
                <a:cs typeface="Public Sans Bold"/>
                <a:sym typeface="Public Sans Bold"/>
              </a:rPr>
              <a:t>Edge computing et fog computing</a:t>
            </a:r>
            <a:endParaRPr lang="en-US" sz="2830" b="1">
              <a:solidFill>
                <a:srgbClr val="404040"/>
              </a:solidFill>
              <a:latin typeface="Public Sans Bold"/>
              <a:ea typeface="Public Sans Bold"/>
              <a:cs typeface="Public Sans Bold"/>
              <a:sym typeface="Public Sans Bold"/>
            </a:endParaRPr>
          </a:p>
        </p:txBody>
      </p:sp>
      <p:sp>
        <p:nvSpPr>
          <p:cNvPr id="27" name="TextBox 27"/>
          <p:cNvSpPr txBox="1"/>
          <p:nvPr/>
        </p:nvSpPr>
        <p:spPr>
          <a:xfrm>
            <a:off x="7982812" y="3378180"/>
            <a:ext cx="7618147" cy="1333500"/>
          </a:xfrm>
          <a:prstGeom prst="rect">
            <a:avLst/>
          </a:prstGeom>
        </p:spPr>
        <p:txBody>
          <a:bodyPr lIns="0" tIns="0" rIns="0" bIns="0" rtlCol="0" anchor="t">
            <a:spAutoFit/>
          </a:bodyPr>
          <a:lstStyle/>
          <a:p>
            <a:pPr algn="ctr">
              <a:lnSpc>
                <a:spcPts val="2670"/>
              </a:lnSpc>
            </a:pPr>
            <a:r>
              <a:rPr lang="en-US" sz="2225">
                <a:solidFill>
                  <a:srgbClr val="000000"/>
                </a:solidFill>
                <a:latin typeface="Public Sans"/>
                <a:ea typeface="Public Sans"/>
                <a:cs typeface="Public Sans"/>
                <a:sym typeface="Public Sans"/>
              </a:rPr>
              <a:t>L’Edge Computing et le Fog Computing visent à réduire la latence,</a:t>
            </a:r>
            <a:endParaRPr lang="en-US" sz="2225">
              <a:solidFill>
                <a:srgbClr val="000000"/>
              </a:solidFill>
              <a:latin typeface="Public Sans"/>
              <a:ea typeface="Public Sans"/>
              <a:cs typeface="Public Sans"/>
              <a:sym typeface="Public Sans"/>
            </a:endParaRPr>
          </a:p>
          <a:p>
            <a:pPr algn="ctr">
              <a:lnSpc>
                <a:spcPts val="2670"/>
              </a:lnSpc>
            </a:pPr>
            <a:r>
              <a:rPr lang="en-US" sz="2225">
                <a:solidFill>
                  <a:srgbClr val="000000"/>
                </a:solidFill>
                <a:latin typeface="Public Sans"/>
                <a:ea typeface="Public Sans"/>
                <a:cs typeface="Public Sans"/>
                <a:sym typeface="Public Sans"/>
              </a:rPr>
              <a:t> la bande passante et la consommation d’énergie de la transmission et du traitement des données.</a:t>
            </a:r>
            <a:endParaRPr lang="en-US" sz="2225">
              <a:solidFill>
                <a:srgbClr val="000000"/>
              </a:solidFill>
              <a:latin typeface="Public Sans"/>
              <a:ea typeface="Public Sans"/>
              <a:cs typeface="Public Sans"/>
              <a:sym typeface="Public Sans"/>
            </a:endParaRPr>
          </a:p>
        </p:txBody>
      </p:sp>
      <p:sp>
        <p:nvSpPr>
          <p:cNvPr id="28" name="TextBox 28"/>
          <p:cNvSpPr txBox="1"/>
          <p:nvPr/>
        </p:nvSpPr>
        <p:spPr>
          <a:xfrm>
            <a:off x="7494622" y="4762847"/>
            <a:ext cx="8287431" cy="995657"/>
          </a:xfrm>
          <a:prstGeom prst="rect">
            <a:avLst/>
          </a:prstGeom>
        </p:spPr>
        <p:txBody>
          <a:bodyPr lIns="0" tIns="0" rIns="0" bIns="0" rtlCol="0" anchor="t">
            <a:spAutoFit/>
          </a:bodyPr>
          <a:lstStyle/>
          <a:p>
            <a:pPr algn="ctr">
              <a:lnSpc>
                <a:spcPts val="3965"/>
              </a:lnSpc>
              <a:spcBef>
                <a:spcPct val="0"/>
              </a:spcBef>
            </a:pPr>
            <a:r>
              <a:rPr lang="en-US" sz="2830" b="1">
                <a:solidFill>
                  <a:srgbClr val="404040"/>
                </a:solidFill>
                <a:latin typeface="Public Sans Bold"/>
                <a:ea typeface="Public Sans Bold"/>
                <a:cs typeface="Public Sans Bold"/>
                <a:sym typeface="Public Sans Bold"/>
              </a:rPr>
              <a:t>Informatique sans serveur et fonction en tant que service (FaaS) </a:t>
            </a:r>
            <a:endParaRPr lang="en-US" sz="2830" b="1">
              <a:solidFill>
                <a:srgbClr val="404040"/>
              </a:solidFill>
              <a:latin typeface="Public Sans Bold"/>
              <a:ea typeface="Public Sans Bold"/>
              <a:cs typeface="Public Sans Bold"/>
              <a:sym typeface="Public Sans Bold"/>
            </a:endParaRPr>
          </a:p>
        </p:txBody>
      </p:sp>
      <p:sp>
        <p:nvSpPr>
          <p:cNvPr id="29" name="TextBox 29"/>
          <p:cNvSpPr txBox="1"/>
          <p:nvPr/>
        </p:nvSpPr>
        <p:spPr>
          <a:xfrm>
            <a:off x="6829201" y="5876346"/>
            <a:ext cx="8912891" cy="1333500"/>
          </a:xfrm>
          <a:prstGeom prst="rect">
            <a:avLst/>
          </a:prstGeom>
        </p:spPr>
        <p:txBody>
          <a:bodyPr lIns="0" tIns="0" rIns="0" bIns="0" rtlCol="0" anchor="t">
            <a:spAutoFit/>
          </a:bodyPr>
          <a:lstStyle/>
          <a:p>
            <a:pPr algn="ctr">
              <a:lnSpc>
                <a:spcPts val="2670"/>
              </a:lnSpc>
            </a:pPr>
            <a:r>
              <a:rPr lang="en-US" sz="2225">
                <a:solidFill>
                  <a:srgbClr val="000000"/>
                </a:solidFill>
                <a:latin typeface="Public Sans"/>
                <a:ea typeface="Public Sans"/>
                <a:cs typeface="Public Sans"/>
                <a:sym typeface="Public Sans"/>
              </a:rPr>
              <a:t>permettent aux utilisateurs de se concentrer sur </a:t>
            </a:r>
            <a:endParaRPr lang="en-US" sz="2225">
              <a:solidFill>
                <a:srgbClr val="000000"/>
              </a:solidFill>
              <a:latin typeface="Public Sans"/>
              <a:ea typeface="Public Sans"/>
              <a:cs typeface="Public Sans"/>
              <a:sym typeface="Public Sans"/>
            </a:endParaRPr>
          </a:p>
          <a:p>
            <a:pPr algn="ctr">
              <a:lnSpc>
                <a:spcPts val="2670"/>
              </a:lnSpc>
            </a:pPr>
            <a:r>
              <a:rPr lang="en-US" sz="2225">
                <a:solidFill>
                  <a:srgbClr val="000000"/>
                </a:solidFill>
                <a:latin typeface="Public Sans"/>
                <a:ea typeface="Public Sans"/>
                <a:cs typeface="Public Sans"/>
                <a:sym typeface="Public Sans"/>
              </a:rPr>
              <a:t>les fonctionnalités et logique de leurs applications, bénéficient de  la haute disponibilité, des performances et </a:t>
            </a:r>
            <a:endParaRPr lang="en-US" sz="2225">
              <a:solidFill>
                <a:srgbClr val="000000"/>
              </a:solidFill>
              <a:latin typeface="Public Sans"/>
              <a:ea typeface="Public Sans"/>
              <a:cs typeface="Public Sans"/>
              <a:sym typeface="Public Sans"/>
            </a:endParaRPr>
          </a:p>
          <a:p>
            <a:pPr algn="ctr">
              <a:lnSpc>
                <a:spcPts val="2670"/>
              </a:lnSpc>
            </a:pPr>
            <a:r>
              <a:rPr lang="en-US" sz="2225">
                <a:solidFill>
                  <a:srgbClr val="000000"/>
                </a:solidFill>
                <a:latin typeface="Public Sans"/>
                <a:ea typeface="Public Sans"/>
                <a:cs typeface="Public Sans"/>
                <a:sym typeface="Public Sans"/>
              </a:rPr>
              <a:t>de l'évolutivité du cloud computing.</a:t>
            </a:r>
            <a:endParaRPr lang="en-US" sz="2225">
              <a:solidFill>
                <a:srgbClr val="000000"/>
              </a:solidFill>
              <a:latin typeface="Public Sans"/>
              <a:ea typeface="Public Sans"/>
              <a:cs typeface="Public Sans"/>
              <a:sym typeface="Public Sans"/>
            </a:endParaRPr>
          </a:p>
        </p:txBody>
      </p:sp>
      <p:sp>
        <p:nvSpPr>
          <p:cNvPr id="30" name="TextBox 30"/>
          <p:cNvSpPr txBox="1"/>
          <p:nvPr/>
        </p:nvSpPr>
        <p:spPr>
          <a:xfrm>
            <a:off x="8804340" y="7530195"/>
            <a:ext cx="6367545" cy="387950"/>
          </a:xfrm>
          <a:prstGeom prst="rect">
            <a:avLst/>
          </a:prstGeom>
        </p:spPr>
        <p:txBody>
          <a:bodyPr lIns="0" tIns="0" rIns="0" bIns="0" rtlCol="0" anchor="t">
            <a:spAutoFit/>
          </a:bodyPr>
          <a:lstStyle/>
          <a:p>
            <a:pPr algn="l">
              <a:lnSpc>
                <a:spcPts val="2830"/>
              </a:lnSpc>
            </a:pPr>
            <a:r>
              <a:rPr lang="en-US" sz="2830" b="1">
                <a:solidFill>
                  <a:srgbClr val="404040"/>
                </a:solidFill>
                <a:latin typeface="Public Sans Bold"/>
                <a:ea typeface="Public Sans Bold"/>
                <a:cs typeface="Public Sans Bold"/>
                <a:sym typeface="Public Sans Bold"/>
              </a:rPr>
              <a:t>Multi-cloud et cloud hybride</a:t>
            </a:r>
            <a:endParaRPr lang="en-US" sz="2830" b="1">
              <a:solidFill>
                <a:srgbClr val="404040"/>
              </a:solidFill>
              <a:latin typeface="Public Sans Bold"/>
              <a:ea typeface="Public Sans Bold"/>
              <a:cs typeface="Public Sans Bold"/>
              <a:sym typeface="Public Sans Bold"/>
            </a:endParaRPr>
          </a:p>
        </p:txBody>
      </p:sp>
      <p:sp>
        <p:nvSpPr>
          <p:cNvPr id="31" name="TextBox 31"/>
          <p:cNvSpPr txBox="1"/>
          <p:nvPr/>
        </p:nvSpPr>
        <p:spPr>
          <a:xfrm>
            <a:off x="7769498" y="8190868"/>
            <a:ext cx="7972594" cy="1381125"/>
          </a:xfrm>
          <a:prstGeom prst="rect">
            <a:avLst/>
          </a:prstGeom>
        </p:spPr>
        <p:txBody>
          <a:bodyPr lIns="0" tIns="0" rIns="0" bIns="0" rtlCol="0" anchor="t">
            <a:spAutoFit/>
          </a:bodyPr>
          <a:lstStyle/>
          <a:p>
            <a:pPr algn="ctr">
              <a:lnSpc>
                <a:spcPts val="2710"/>
              </a:lnSpc>
            </a:pPr>
            <a:r>
              <a:rPr lang="en-US" sz="2255">
                <a:solidFill>
                  <a:srgbClr val="000000"/>
                </a:solidFill>
                <a:latin typeface="Public Sans"/>
                <a:ea typeface="Public Sans"/>
                <a:cs typeface="Public Sans"/>
                <a:sym typeface="Public Sans"/>
              </a:rPr>
              <a:t>le multi-cloud et le cloud hybride sont deux stratégies qui impliquent l'utilisation </a:t>
            </a:r>
            <a:endParaRPr lang="en-US" sz="2255">
              <a:solidFill>
                <a:srgbClr val="000000"/>
              </a:solidFill>
              <a:latin typeface="Public Sans"/>
              <a:ea typeface="Public Sans"/>
              <a:cs typeface="Public Sans"/>
              <a:sym typeface="Public Sans"/>
            </a:endParaRPr>
          </a:p>
          <a:p>
            <a:pPr algn="ctr">
              <a:lnSpc>
                <a:spcPts val="2710"/>
              </a:lnSpc>
            </a:pPr>
            <a:r>
              <a:rPr lang="en-US" sz="2255">
                <a:solidFill>
                  <a:srgbClr val="000000"/>
                </a:solidFill>
                <a:latin typeface="Public Sans"/>
                <a:ea typeface="Public Sans"/>
                <a:cs typeface="Public Sans"/>
                <a:sym typeface="Public Sans"/>
              </a:rPr>
              <a:t>de plusieurs fournisseurs ou plateformes cloud, simultanément ou de manière interchangeable </a:t>
            </a:r>
            <a:endParaRPr lang="en-US" sz="2255">
              <a:solidFill>
                <a:srgbClr val="000000"/>
              </a:solidFill>
              <a:latin typeface="Public Sans"/>
              <a:ea typeface="Public Sans"/>
              <a:cs typeface="Public Sans"/>
              <a:sym typeface="Public Sans"/>
            </a:endParaRPr>
          </a:p>
        </p:txBody>
      </p:sp>
      <p:sp>
        <p:nvSpPr>
          <p:cNvPr id="32" name="AutoShape 32"/>
          <p:cNvSpPr/>
          <p:nvPr/>
        </p:nvSpPr>
        <p:spPr>
          <a:xfrm>
            <a:off x="15841027" y="792420"/>
            <a:ext cx="0" cy="1315109"/>
          </a:xfrm>
          <a:prstGeom prst="line">
            <a:avLst/>
          </a:prstGeom>
          <a:ln w="47625" cap="rnd">
            <a:solidFill>
              <a:srgbClr val="404040"/>
            </a:solidFill>
            <a:prstDash val="sysDot"/>
            <a:headEnd type="none" w="sm" len="sm"/>
            <a:tailEnd type="none" w="sm" len="sm"/>
          </a:ln>
        </p:spPr>
      </p:sp>
      <p:sp>
        <p:nvSpPr>
          <p:cNvPr id="33" name="AutoShape 33"/>
          <p:cNvSpPr/>
          <p:nvPr/>
        </p:nvSpPr>
        <p:spPr>
          <a:xfrm>
            <a:off x="15742092" y="3094447"/>
            <a:ext cx="0" cy="1315109"/>
          </a:xfrm>
          <a:prstGeom prst="line">
            <a:avLst/>
          </a:prstGeom>
          <a:ln w="47625" cap="rnd">
            <a:solidFill>
              <a:srgbClr val="404040"/>
            </a:solidFill>
            <a:prstDash val="sysDot"/>
            <a:headEnd type="none" w="sm" len="sm"/>
            <a:tailEnd type="none" w="sm" len="sm"/>
          </a:ln>
        </p:spPr>
      </p:sp>
      <p:sp>
        <p:nvSpPr>
          <p:cNvPr id="34" name="AutoShape 34"/>
          <p:cNvSpPr/>
          <p:nvPr/>
        </p:nvSpPr>
        <p:spPr>
          <a:xfrm>
            <a:off x="15742092" y="5393332"/>
            <a:ext cx="0" cy="1315109"/>
          </a:xfrm>
          <a:prstGeom prst="line">
            <a:avLst/>
          </a:prstGeom>
          <a:ln w="47625" cap="rnd">
            <a:solidFill>
              <a:srgbClr val="404040"/>
            </a:solidFill>
            <a:prstDash val="sysDot"/>
            <a:headEnd type="none" w="sm" len="sm"/>
            <a:tailEnd type="none" w="sm" len="sm"/>
          </a:ln>
        </p:spPr>
      </p:sp>
      <p:sp>
        <p:nvSpPr>
          <p:cNvPr id="35" name="AutoShape 35"/>
          <p:cNvSpPr/>
          <p:nvPr/>
        </p:nvSpPr>
        <p:spPr>
          <a:xfrm>
            <a:off x="15702146" y="7938711"/>
            <a:ext cx="0" cy="1335744"/>
          </a:xfrm>
          <a:prstGeom prst="line">
            <a:avLst/>
          </a:prstGeom>
          <a:ln w="47625" cap="rnd">
            <a:solidFill>
              <a:srgbClr val="404040"/>
            </a:solidFill>
            <a:prstDash val="sysDot"/>
            <a:headEnd type="none" w="sm" len="sm"/>
            <a:tailEnd type="none" w="sm" len="sm"/>
          </a:ln>
        </p:spPr>
      </p:sp>
      <p:sp>
        <p:nvSpPr>
          <p:cNvPr id="36" name="Freeform 36"/>
          <p:cNvSpPr/>
          <p:nvPr/>
        </p:nvSpPr>
        <p:spPr>
          <a:xfrm>
            <a:off x="16241076" y="3297494"/>
            <a:ext cx="1249893" cy="909013"/>
          </a:xfrm>
          <a:custGeom>
            <a:avLst/>
            <a:gdLst/>
            <a:ahLst/>
            <a:cxnLst/>
            <a:rect l="l" t="t" r="r" b="b"/>
            <a:pathLst>
              <a:path w="1249893" h="909013">
                <a:moveTo>
                  <a:pt x="0" y="0"/>
                </a:moveTo>
                <a:lnTo>
                  <a:pt x="1249893" y="0"/>
                </a:lnTo>
                <a:lnTo>
                  <a:pt x="1249893" y="909014"/>
                </a:lnTo>
                <a:lnTo>
                  <a:pt x="0" y="90901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7" name="Freeform 37"/>
          <p:cNvSpPr/>
          <p:nvPr/>
        </p:nvSpPr>
        <p:spPr>
          <a:xfrm>
            <a:off x="16382412" y="8200393"/>
            <a:ext cx="1003567" cy="925106"/>
          </a:xfrm>
          <a:custGeom>
            <a:avLst/>
            <a:gdLst/>
            <a:ahLst/>
            <a:cxnLst/>
            <a:rect l="l" t="t" r="r" b="b"/>
            <a:pathLst>
              <a:path w="1003567" h="925106">
                <a:moveTo>
                  <a:pt x="0" y="0"/>
                </a:moveTo>
                <a:lnTo>
                  <a:pt x="1003567" y="0"/>
                </a:lnTo>
                <a:lnTo>
                  <a:pt x="1003567" y="925106"/>
                </a:lnTo>
                <a:lnTo>
                  <a:pt x="0" y="92510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8" name="Freeform 38"/>
          <p:cNvSpPr/>
          <p:nvPr/>
        </p:nvSpPr>
        <p:spPr>
          <a:xfrm rot="-3578320">
            <a:off x="436149" y="9822785"/>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9" name="Freeform 39"/>
          <p:cNvSpPr/>
          <p:nvPr/>
        </p:nvSpPr>
        <p:spPr>
          <a:xfrm rot="-3578320">
            <a:off x="-1601909" y="8396514"/>
            <a:ext cx="2628741" cy="2275056"/>
          </a:xfrm>
          <a:custGeom>
            <a:avLst/>
            <a:gdLst/>
            <a:ahLst/>
            <a:cxnLst/>
            <a:rect l="l" t="t" r="r" b="b"/>
            <a:pathLst>
              <a:path w="2628741" h="2275056">
                <a:moveTo>
                  <a:pt x="0" y="0"/>
                </a:moveTo>
                <a:lnTo>
                  <a:pt x="2628740" y="0"/>
                </a:lnTo>
                <a:lnTo>
                  <a:pt x="2628740" y="2275055"/>
                </a:lnTo>
                <a:lnTo>
                  <a:pt x="0" y="227505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0" name="Freeform 40"/>
          <p:cNvSpPr/>
          <p:nvPr/>
        </p:nvSpPr>
        <p:spPr>
          <a:xfrm rot="7221679">
            <a:off x="558550" y="7454571"/>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41" name="Freeform 41"/>
          <p:cNvSpPr/>
          <p:nvPr/>
        </p:nvSpPr>
        <p:spPr>
          <a:xfrm rot="-3578320">
            <a:off x="-1195648" y="-1137528"/>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2" name="Freeform 42"/>
          <p:cNvSpPr/>
          <p:nvPr/>
        </p:nvSpPr>
        <p:spPr>
          <a:xfrm rot="-3578320">
            <a:off x="2798539" y="-1131408"/>
            <a:ext cx="2656890" cy="2299417"/>
          </a:xfrm>
          <a:custGeom>
            <a:avLst/>
            <a:gdLst/>
            <a:ahLst/>
            <a:cxnLst/>
            <a:rect l="l" t="t" r="r" b="b"/>
            <a:pathLst>
              <a:path w="2656890" h="2299417">
                <a:moveTo>
                  <a:pt x="0" y="0"/>
                </a:moveTo>
                <a:lnTo>
                  <a:pt x="2656889" y="0"/>
                </a:lnTo>
                <a:lnTo>
                  <a:pt x="2656889" y="2299418"/>
                </a:lnTo>
                <a:lnTo>
                  <a:pt x="0" y="229941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3" name="Freeform 43"/>
          <p:cNvSpPr/>
          <p:nvPr/>
        </p:nvSpPr>
        <p:spPr>
          <a:xfrm rot="3663319">
            <a:off x="897844" y="229726"/>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44" name="TextBox 44"/>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16</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4712546" y="-256333"/>
            <a:ext cx="4929839" cy="4269018"/>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7220" r="-27220"/>
              </a:stretch>
            </a:blipFill>
            <a:ln cap="sq">
              <a:noFill/>
              <a:prstDash val="solid"/>
              <a:miter/>
            </a:ln>
          </p:spPr>
        </p:sp>
      </p:grpSp>
      <p:grpSp>
        <p:nvGrpSpPr>
          <p:cNvPr id="4" name="Group 4"/>
          <p:cNvGrpSpPr/>
          <p:nvPr/>
        </p:nvGrpSpPr>
        <p:grpSpPr>
          <a:xfrm rot="0">
            <a:off x="11917636" y="2149733"/>
            <a:ext cx="4929839" cy="4269018"/>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957" r="-1957"/>
              </a:stretch>
            </a:blipFill>
            <a:ln cap="sq">
              <a:noFill/>
              <a:prstDash val="solid"/>
              <a:miter/>
            </a:ln>
          </p:spPr>
        </p:sp>
      </p:grpSp>
      <p:grpSp>
        <p:nvGrpSpPr>
          <p:cNvPr id="6" name="Group 6"/>
          <p:cNvGrpSpPr/>
          <p:nvPr/>
        </p:nvGrpSpPr>
        <p:grpSpPr>
          <a:xfrm rot="0">
            <a:off x="14712546" y="4794574"/>
            <a:ext cx="4929839" cy="4269018"/>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t="-7739" b="-7739"/>
              </a:stretch>
            </a:blipFill>
            <a:ln cap="sq">
              <a:noFill/>
              <a:prstDash val="solid"/>
              <a:miter/>
            </a:ln>
          </p:spPr>
        </p:sp>
      </p:grpSp>
      <p:sp>
        <p:nvSpPr>
          <p:cNvPr id="8" name="Freeform 8"/>
          <p:cNvSpPr/>
          <p:nvPr/>
        </p:nvSpPr>
        <p:spPr>
          <a:xfrm rot="7221679">
            <a:off x="17639141" y="7565778"/>
            <a:ext cx="2600981" cy="2251031"/>
          </a:xfrm>
          <a:custGeom>
            <a:avLst/>
            <a:gdLst/>
            <a:ahLst/>
            <a:cxnLst/>
            <a:rect l="l" t="t" r="r" b="b"/>
            <a:pathLst>
              <a:path w="2600981" h="2251031">
                <a:moveTo>
                  <a:pt x="0" y="0"/>
                </a:moveTo>
                <a:lnTo>
                  <a:pt x="2600982" y="0"/>
                </a:lnTo>
                <a:lnTo>
                  <a:pt x="2600982" y="2251031"/>
                </a:lnTo>
                <a:lnTo>
                  <a:pt x="0" y="2251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3578320">
            <a:off x="15555838" y="8674107"/>
            <a:ext cx="2606369" cy="2255694"/>
          </a:xfrm>
          <a:custGeom>
            <a:avLst/>
            <a:gdLst/>
            <a:ahLst/>
            <a:cxnLst/>
            <a:rect l="l" t="t" r="r" b="b"/>
            <a:pathLst>
              <a:path w="2606369" h="2255694">
                <a:moveTo>
                  <a:pt x="0" y="0"/>
                </a:moveTo>
                <a:lnTo>
                  <a:pt x="2606369" y="0"/>
                </a:lnTo>
                <a:lnTo>
                  <a:pt x="2606369" y="2255694"/>
                </a:lnTo>
                <a:lnTo>
                  <a:pt x="0" y="22556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3578320">
            <a:off x="13588171" y="-585493"/>
            <a:ext cx="2904567" cy="2513771"/>
          </a:xfrm>
          <a:custGeom>
            <a:avLst/>
            <a:gdLst/>
            <a:ahLst/>
            <a:cxnLst/>
            <a:rect l="l" t="t" r="r" b="b"/>
            <a:pathLst>
              <a:path w="2904567" h="2513771">
                <a:moveTo>
                  <a:pt x="0" y="0"/>
                </a:moveTo>
                <a:lnTo>
                  <a:pt x="2904566" y="0"/>
                </a:lnTo>
                <a:lnTo>
                  <a:pt x="2904566"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3578320">
            <a:off x="12930272" y="7631784"/>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71214" y="3925178"/>
            <a:ext cx="12366203" cy="2188801"/>
          </a:xfrm>
          <a:prstGeom prst="rect">
            <a:avLst/>
          </a:prstGeom>
        </p:spPr>
        <p:txBody>
          <a:bodyPr lIns="0" tIns="0" rIns="0" bIns="0" rtlCol="0" anchor="t">
            <a:spAutoFit/>
          </a:bodyPr>
          <a:lstStyle/>
          <a:p>
            <a:pPr marL="0" lvl="1" indent="0" algn="ctr">
              <a:lnSpc>
                <a:spcPts val="5665"/>
              </a:lnSpc>
              <a:spcBef>
                <a:spcPct val="0"/>
              </a:spcBef>
            </a:pPr>
            <a:r>
              <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rPr>
              <a:t>COMMENT LE BIG DATA ET LE CLOUD COMPUTING TRANSFORMENT L'ANALYSE DES DONNÉES</a:t>
            </a:r>
            <a:endParaRPr lang="en-US" sz="6160" b="1" spc="172">
              <a:solidFill>
                <a:srgbClr val="4F6A92"/>
              </a:solidFill>
              <a:latin typeface="Barlow Condensed Bold" panose="00000806000000000000"/>
              <a:ea typeface="Barlow Condensed Bold" panose="00000806000000000000"/>
              <a:cs typeface="Barlow Condensed Bold" panose="00000806000000000000"/>
              <a:sym typeface="Barlow Condensed Bold" panose="00000806000000000000"/>
            </a:endParaRPr>
          </a:p>
        </p:txBody>
      </p:sp>
      <p:sp>
        <p:nvSpPr>
          <p:cNvPr id="13" name="Freeform 13"/>
          <p:cNvSpPr/>
          <p:nvPr/>
        </p:nvSpPr>
        <p:spPr>
          <a:xfrm rot="7221679">
            <a:off x="11357943" y="-1043776"/>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rot="7221679">
            <a:off x="11088946" y="6638421"/>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rot="-3578320">
            <a:off x="12930272" y="4962133"/>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17</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425219" y="5066120"/>
            <a:ext cx="10068944" cy="1113085"/>
          </a:xfrm>
          <a:custGeom>
            <a:avLst/>
            <a:gdLst/>
            <a:ahLst/>
            <a:cxnLst/>
            <a:rect l="l" t="t" r="r" b="b"/>
            <a:pathLst>
              <a:path w="10068944" h="1113085">
                <a:moveTo>
                  <a:pt x="0" y="0"/>
                </a:moveTo>
                <a:lnTo>
                  <a:pt x="10068945" y="0"/>
                </a:lnTo>
                <a:lnTo>
                  <a:pt x="10068945" y="1113086"/>
                </a:lnTo>
                <a:lnTo>
                  <a:pt x="0" y="111308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7774230" y="390585"/>
            <a:ext cx="514004" cy="514004"/>
            <a:chOff x="0" y="0"/>
            <a:chExt cx="685339" cy="685339"/>
          </a:xfrm>
        </p:grpSpPr>
        <p:grpSp>
          <p:nvGrpSpPr>
            <p:cNvPr id="4" name="Group 4"/>
            <p:cNvGrpSpPr/>
            <p:nvPr/>
          </p:nvGrpSpPr>
          <p:grpSpPr>
            <a:xfrm rot="-5400000">
              <a:off x="0" y="0"/>
              <a:ext cx="685339" cy="68533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 name="TextBox 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7" name="Group 7"/>
            <p:cNvGrpSpPr/>
            <p:nvPr/>
          </p:nvGrpSpPr>
          <p:grpSpPr>
            <a:xfrm rot="-5400000">
              <a:off x="76271" y="76271"/>
              <a:ext cx="532797" cy="5327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9" name="TextBox 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0" name="Group 10"/>
            <p:cNvGrpSpPr/>
            <p:nvPr/>
          </p:nvGrpSpPr>
          <p:grpSpPr>
            <a:xfrm rot="-5400000">
              <a:off x="139298" y="139298"/>
              <a:ext cx="406743" cy="406743"/>
              <a:chOff x="0" y="0"/>
              <a:chExt cx="108388" cy="108388"/>
            </a:xfrm>
          </p:grpSpPr>
          <p:sp>
            <p:nvSpPr>
              <p:cNvPr id="11" name="Freeform 1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FC030"/>
              </a:solidFill>
            </p:spPr>
          </p:sp>
          <p:sp>
            <p:nvSpPr>
              <p:cNvPr id="12" name="TextBox 1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13" name="Group 13"/>
          <p:cNvGrpSpPr/>
          <p:nvPr/>
        </p:nvGrpSpPr>
        <p:grpSpPr>
          <a:xfrm rot="0">
            <a:off x="7774230" y="5305211"/>
            <a:ext cx="514004" cy="514004"/>
            <a:chOff x="0" y="0"/>
            <a:chExt cx="685339" cy="685339"/>
          </a:xfrm>
        </p:grpSpPr>
        <p:grpSp>
          <p:nvGrpSpPr>
            <p:cNvPr id="14" name="Group 14"/>
            <p:cNvGrpSpPr/>
            <p:nvPr/>
          </p:nvGrpSpPr>
          <p:grpSpPr>
            <a:xfrm rot="-5400000">
              <a:off x="0" y="0"/>
              <a:ext cx="685339" cy="68533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6" name="TextBox 1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7" name="Group 17"/>
            <p:cNvGrpSpPr/>
            <p:nvPr/>
          </p:nvGrpSpPr>
          <p:grpSpPr>
            <a:xfrm rot="-5400000">
              <a:off x="76271" y="76271"/>
              <a:ext cx="532797" cy="53279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9" name="TextBox 1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20" name="Group 20"/>
            <p:cNvGrpSpPr/>
            <p:nvPr/>
          </p:nvGrpSpPr>
          <p:grpSpPr>
            <a:xfrm rot="-5400000">
              <a:off x="139298" y="139298"/>
              <a:ext cx="406743" cy="406743"/>
              <a:chOff x="0" y="0"/>
              <a:chExt cx="108388" cy="108388"/>
            </a:xfrm>
          </p:grpSpPr>
          <p:sp>
            <p:nvSpPr>
              <p:cNvPr id="21" name="Freeform 2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BC9FF1"/>
              </a:solidFill>
            </p:spPr>
          </p:sp>
          <p:sp>
            <p:nvSpPr>
              <p:cNvPr id="22" name="TextBox 2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23" name="Group 23"/>
          <p:cNvGrpSpPr/>
          <p:nvPr/>
        </p:nvGrpSpPr>
        <p:grpSpPr>
          <a:xfrm rot="0">
            <a:off x="8629996" y="1646843"/>
            <a:ext cx="514004" cy="514004"/>
            <a:chOff x="0" y="0"/>
            <a:chExt cx="685339" cy="685339"/>
          </a:xfrm>
        </p:grpSpPr>
        <p:grpSp>
          <p:nvGrpSpPr>
            <p:cNvPr id="24" name="Group 24"/>
            <p:cNvGrpSpPr/>
            <p:nvPr/>
          </p:nvGrpSpPr>
          <p:grpSpPr>
            <a:xfrm rot="-5400000">
              <a:off x="0" y="0"/>
              <a:ext cx="685339" cy="68533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6" name="TextBox 2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27" name="Group 27"/>
            <p:cNvGrpSpPr/>
            <p:nvPr/>
          </p:nvGrpSpPr>
          <p:grpSpPr>
            <a:xfrm rot="-5400000">
              <a:off x="76271" y="76271"/>
              <a:ext cx="532797" cy="53279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29" name="TextBox 2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30" name="Group 30"/>
            <p:cNvGrpSpPr/>
            <p:nvPr/>
          </p:nvGrpSpPr>
          <p:grpSpPr>
            <a:xfrm rot="-5400000">
              <a:off x="139298" y="139298"/>
              <a:ext cx="406743" cy="406743"/>
              <a:chOff x="0" y="0"/>
              <a:chExt cx="108388" cy="108388"/>
            </a:xfrm>
          </p:grpSpPr>
          <p:sp>
            <p:nvSpPr>
              <p:cNvPr id="31" name="Freeform 3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EB978"/>
              </a:solidFill>
            </p:spPr>
          </p:sp>
          <p:sp>
            <p:nvSpPr>
              <p:cNvPr id="32" name="TextBox 3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33" name="Group 33"/>
          <p:cNvGrpSpPr/>
          <p:nvPr/>
        </p:nvGrpSpPr>
        <p:grpSpPr>
          <a:xfrm rot="0">
            <a:off x="8629996" y="6561469"/>
            <a:ext cx="514004" cy="514004"/>
            <a:chOff x="0" y="0"/>
            <a:chExt cx="685339" cy="685339"/>
          </a:xfrm>
        </p:grpSpPr>
        <p:grpSp>
          <p:nvGrpSpPr>
            <p:cNvPr id="34" name="Group 34"/>
            <p:cNvGrpSpPr/>
            <p:nvPr/>
          </p:nvGrpSpPr>
          <p:grpSpPr>
            <a:xfrm rot="-5400000">
              <a:off x="0" y="0"/>
              <a:ext cx="685339" cy="685339"/>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6" name="TextBox 3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37" name="Group 37"/>
            <p:cNvGrpSpPr/>
            <p:nvPr/>
          </p:nvGrpSpPr>
          <p:grpSpPr>
            <a:xfrm rot="-5400000">
              <a:off x="76271" y="76271"/>
              <a:ext cx="532797" cy="532797"/>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39" name="TextBox 3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40" name="Group 40"/>
            <p:cNvGrpSpPr/>
            <p:nvPr/>
          </p:nvGrpSpPr>
          <p:grpSpPr>
            <a:xfrm rot="-5400000">
              <a:off x="139298" y="139298"/>
              <a:ext cx="406743" cy="406743"/>
              <a:chOff x="0" y="0"/>
              <a:chExt cx="108388" cy="108388"/>
            </a:xfrm>
          </p:grpSpPr>
          <p:sp>
            <p:nvSpPr>
              <p:cNvPr id="41" name="Freeform 4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5B9FB"/>
              </a:solidFill>
            </p:spPr>
          </p:sp>
          <p:sp>
            <p:nvSpPr>
              <p:cNvPr id="42" name="TextBox 4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43" name="Group 43"/>
          <p:cNvGrpSpPr/>
          <p:nvPr/>
        </p:nvGrpSpPr>
        <p:grpSpPr>
          <a:xfrm rot="0">
            <a:off x="8629996" y="9052020"/>
            <a:ext cx="514004" cy="514004"/>
            <a:chOff x="0" y="0"/>
            <a:chExt cx="685339" cy="685339"/>
          </a:xfrm>
        </p:grpSpPr>
        <p:grpSp>
          <p:nvGrpSpPr>
            <p:cNvPr id="44" name="Group 44"/>
            <p:cNvGrpSpPr/>
            <p:nvPr/>
          </p:nvGrpSpPr>
          <p:grpSpPr>
            <a:xfrm rot="-5400000">
              <a:off x="0" y="0"/>
              <a:ext cx="685339" cy="685339"/>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6" name="TextBox 4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47" name="Group 47"/>
            <p:cNvGrpSpPr/>
            <p:nvPr/>
          </p:nvGrpSpPr>
          <p:grpSpPr>
            <a:xfrm rot="-5400000">
              <a:off x="76271" y="76271"/>
              <a:ext cx="532797" cy="532797"/>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49" name="TextBox 4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50" name="Group 50"/>
            <p:cNvGrpSpPr/>
            <p:nvPr/>
          </p:nvGrpSpPr>
          <p:grpSpPr>
            <a:xfrm rot="-5400000">
              <a:off x="139298" y="139298"/>
              <a:ext cx="406743" cy="406743"/>
              <a:chOff x="0" y="0"/>
              <a:chExt cx="108388" cy="108388"/>
            </a:xfrm>
          </p:grpSpPr>
          <p:sp>
            <p:nvSpPr>
              <p:cNvPr id="51" name="Freeform 5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EE07C"/>
              </a:solidFill>
            </p:spPr>
          </p:sp>
          <p:sp>
            <p:nvSpPr>
              <p:cNvPr id="52" name="TextBox 5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53" name="Group 53"/>
          <p:cNvGrpSpPr/>
          <p:nvPr/>
        </p:nvGrpSpPr>
        <p:grpSpPr>
          <a:xfrm rot="0">
            <a:off x="8629996" y="4138705"/>
            <a:ext cx="514004" cy="514004"/>
            <a:chOff x="0" y="0"/>
            <a:chExt cx="685339" cy="685339"/>
          </a:xfrm>
        </p:grpSpPr>
        <p:grpSp>
          <p:nvGrpSpPr>
            <p:cNvPr id="54" name="Group 54"/>
            <p:cNvGrpSpPr/>
            <p:nvPr/>
          </p:nvGrpSpPr>
          <p:grpSpPr>
            <a:xfrm rot="-5400000">
              <a:off x="0" y="0"/>
              <a:ext cx="685339" cy="685339"/>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6" name="TextBox 5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57" name="Group 57"/>
            <p:cNvGrpSpPr/>
            <p:nvPr/>
          </p:nvGrpSpPr>
          <p:grpSpPr>
            <a:xfrm rot="-5400000">
              <a:off x="76271" y="76271"/>
              <a:ext cx="532797" cy="532797"/>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59" name="TextBox 5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60" name="Group 60"/>
            <p:cNvGrpSpPr/>
            <p:nvPr/>
          </p:nvGrpSpPr>
          <p:grpSpPr>
            <a:xfrm rot="-5400000">
              <a:off x="139298" y="139298"/>
              <a:ext cx="406743" cy="406743"/>
              <a:chOff x="0" y="0"/>
              <a:chExt cx="108388" cy="108388"/>
            </a:xfrm>
          </p:grpSpPr>
          <p:sp>
            <p:nvSpPr>
              <p:cNvPr id="61" name="Freeform 6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898D4"/>
              </a:solidFill>
            </p:spPr>
          </p:sp>
          <p:sp>
            <p:nvSpPr>
              <p:cNvPr id="62" name="TextBox 6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63" name="Group 63"/>
          <p:cNvGrpSpPr/>
          <p:nvPr/>
        </p:nvGrpSpPr>
        <p:grpSpPr>
          <a:xfrm rot="0">
            <a:off x="7774230" y="2851614"/>
            <a:ext cx="514004" cy="514004"/>
            <a:chOff x="0" y="0"/>
            <a:chExt cx="685339" cy="685339"/>
          </a:xfrm>
        </p:grpSpPr>
        <p:grpSp>
          <p:nvGrpSpPr>
            <p:cNvPr id="64" name="Group 64"/>
            <p:cNvGrpSpPr/>
            <p:nvPr/>
          </p:nvGrpSpPr>
          <p:grpSpPr>
            <a:xfrm rot="-5400000">
              <a:off x="0" y="0"/>
              <a:ext cx="685339" cy="685339"/>
              <a:chOff x="0" y="0"/>
              <a:chExt cx="812800" cy="812800"/>
            </a:xfrm>
          </p:grpSpPr>
          <p:sp>
            <p:nvSpPr>
              <p:cNvPr id="65" name="Freeform 6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6" name="TextBox 6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67" name="Group 67"/>
            <p:cNvGrpSpPr/>
            <p:nvPr/>
          </p:nvGrpSpPr>
          <p:grpSpPr>
            <a:xfrm rot="-5400000">
              <a:off x="76271" y="76271"/>
              <a:ext cx="532797" cy="532797"/>
              <a:chOff x="0" y="0"/>
              <a:chExt cx="812800" cy="812800"/>
            </a:xfrm>
          </p:grpSpPr>
          <p:sp>
            <p:nvSpPr>
              <p:cNvPr id="68" name="Freeform 6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69" name="TextBox 6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70" name="Group 70"/>
            <p:cNvGrpSpPr/>
            <p:nvPr/>
          </p:nvGrpSpPr>
          <p:grpSpPr>
            <a:xfrm rot="-5400000">
              <a:off x="139298" y="139298"/>
              <a:ext cx="406743" cy="406743"/>
              <a:chOff x="0" y="0"/>
              <a:chExt cx="108388" cy="108388"/>
            </a:xfrm>
          </p:grpSpPr>
          <p:sp>
            <p:nvSpPr>
              <p:cNvPr id="71" name="Freeform 7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FB7A1"/>
              </a:solidFill>
            </p:spPr>
          </p:sp>
          <p:sp>
            <p:nvSpPr>
              <p:cNvPr id="72" name="TextBox 7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73" name="Group 73"/>
          <p:cNvGrpSpPr/>
          <p:nvPr/>
        </p:nvGrpSpPr>
        <p:grpSpPr>
          <a:xfrm rot="0">
            <a:off x="7774230" y="7766241"/>
            <a:ext cx="514004" cy="514004"/>
            <a:chOff x="0" y="0"/>
            <a:chExt cx="685339" cy="685339"/>
          </a:xfrm>
        </p:grpSpPr>
        <p:grpSp>
          <p:nvGrpSpPr>
            <p:cNvPr id="74" name="Group 74"/>
            <p:cNvGrpSpPr/>
            <p:nvPr/>
          </p:nvGrpSpPr>
          <p:grpSpPr>
            <a:xfrm rot="-5400000">
              <a:off x="0" y="0"/>
              <a:ext cx="685339" cy="685339"/>
              <a:chOff x="0" y="0"/>
              <a:chExt cx="812800" cy="812800"/>
            </a:xfrm>
          </p:grpSpPr>
          <p:sp>
            <p:nvSpPr>
              <p:cNvPr id="75" name="Freeform 7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6" name="TextBox 76"/>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77" name="Group 77"/>
            <p:cNvGrpSpPr/>
            <p:nvPr/>
          </p:nvGrpSpPr>
          <p:grpSpPr>
            <a:xfrm rot="-5400000">
              <a:off x="76271" y="76271"/>
              <a:ext cx="532797" cy="532797"/>
              <a:chOff x="0" y="0"/>
              <a:chExt cx="812800" cy="812800"/>
            </a:xfrm>
          </p:grpSpPr>
          <p:sp>
            <p:nvSpPr>
              <p:cNvPr id="78" name="Freeform 7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79" name="TextBox 79"/>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80" name="Group 80"/>
            <p:cNvGrpSpPr/>
            <p:nvPr/>
          </p:nvGrpSpPr>
          <p:grpSpPr>
            <a:xfrm rot="-5400000">
              <a:off x="139298" y="139298"/>
              <a:ext cx="406743" cy="406743"/>
              <a:chOff x="0" y="0"/>
              <a:chExt cx="108388" cy="108388"/>
            </a:xfrm>
          </p:grpSpPr>
          <p:sp>
            <p:nvSpPr>
              <p:cNvPr id="81" name="Freeform 81"/>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56CDB8"/>
              </a:solidFill>
            </p:spPr>
          </p:sp>
          <p:sp>
            <p:nvSpPr>
              <p:cNvPr id="82" name="TextBox 82"/>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sp>
        <p:nvSpPr>
          <p:cNvPr id="83" name="TextBox 83"/>
          <p:cNvSpPr txBox="1"/>
          <p:nvPr/>
        </p:nvSpPr>
        <p:spPr>
          <a:xfrm>
            <a:off x="2977664" y="751316"/>
            <a:ext cx="5310570" cy="497618"/>
          </a:xfrm>
          <a:prstGeom prst="rect">
            <a:avLst/>
          </a:prstGeom>
        </p:spPr>
        <p:txBody>
          <a:bodyPr lIns="0" tIns="0" rIns="0" bIns="0" rtlCol="0" anchor="t">
            <a:spAutoFit/>
          </a:bodyPr>
          <a:lstStyle/>
          <a:p>
            <a:pPr algn="l">
              <a:lnSpc>
                <a:spcPts val="4070"/>
              </a:lnSpc>
              <a:spcBef>
                <a:spcPct val="0"/>
              </a:spcBef>
            </a:pPr>
            <a:r>
              <a:rPr lang="en-US" sz="2910" b="1">
                <a:solidFill>
                  <a:srgbClr val="141414"/>
                </a:solidFill>
                <a:latin typeface="Montserrat Classic Bold" panose="00000800000000000000"/>
                <a:ea typeface="Montserrat Classic Bold" panose="00000800000000000000"/>
                <a:cs typeface="Montserrat Classic Bold" panose="00000800000000000000"/>
                <a:sym typeface="Montserrat Classic Bold" panose="00000800000000000000"/>
              </a:rPr>
              <a:t>Les avantages</a:t>
            </a:r>
            <a:endParaRPr lang="en-US" sz="2910" b="1">
              <a:solidFill>
                <a:srgbClr val="141414"/>
              </a:solidFill>
              <a:latin typeface="Montserrat Classic Bold" panose="00000800000000000000"/>
              <a:ea typeface="Montserrat Classic Bold" panose="00000800000000000000"/>
              <a:cs typeface="Montserrat Classic Bold" panose="00000800000000000000"/>
              <a:sym typeface="Montserrat Classic Bold" panose="00000800000000000000"/>
            </a:endParaRPr>
          </a:p>
        </p:txBody>
      </p:sp>
      <p:sp>
        <p:nvSpPr>
          <p:cNvPr id="84" name="TextBox 84"/>
          <p:cNvSpPr txBox="1"/>
          <p:nvPr/>
        </p:nvSpPr>
        <p:spPr>
          <a:xfrm>
            <a:off x="10500326" y="1589693"/>
            <a:ext cx="4711604" cy="497742"/>
          </a:xfrm>
          <a:prstGeom prst="rect">
            <a:avLst/>
          </a:prstGeom>
        </p:spPr>
        <p:txBody>
          <a:bodyPr lIns="0" tIns="0" rIns="0" bIns="0" rtlCol="0" anchor="t">
            <a:spAutoFit/>
          </a:bodyPr>
          <a:lstStyle/>
          <a:p>
            <a:pPr algn="l">
              <a:lnSpc>
                <a:spcPts val="4065"/>
              </a:lnSpc>
              <a:spcBef>
                <a:spcPct val="0"/>
              </a:spcBef>
            </a:pPr>
            <a:r>
              <a:rPr lang="en-US" sz="2905" b="1">
                <a:solidFill>
                  <a:srgbClr val="141414"/>
                </a:solidFill>
                <a:latin typeface="Montserrat Classic Bold" panose="00000800000000000000"/>
                <a:ea typeface="Montserrat Classic Bold" panose="00000800000000000000"/>
                <a:cs typeface="Montserrat Classic Bold" panose="00000800000000000000"/>
                <a:sym typeface="Montserrat Classic Bold" panose="00000800000000000000"/>
              </a:rPr>
              <a:t>Les défis et les limites</a:t>
            </a:r>
            <a:endParaRPr lang="en-US" sz="2905" b="1">
              <a:solidFill>
                <a:srgbClr val="141414"/>
              </a:solidFill>
              <a:latin typeface="Montserrat Classic Bold" panose="00000800000000000000"/>
              <a:ea typeface="Montserrat Classic Bold" panose="00000800000000000000"/>
              <a:cs typeface="Montserrat Classic Bold" panose="00000800000000000000"/>
              <a:sym typeface="Montserrat Classic Bold" panose="00000800000000000000"/>
            </a:endParaRPr>
          </a:p>
        </p:txBody>
      </p:sp>
      <p:sp>
        <p:nvSpPr>
          <p:cNvPr id="85" name="AutoShape 85"/>
          <p:cNvSpPr/>
          <p:nvPr/>
        </p:nvSpPr>
        <p:spPr>
          <a:xfrm>
            <a:off x="9144000" y="4395707"/>
            <a:ext cx="728382" cy="0"/>
          </a:xfrm>
          <a:prstGeom prst="line">
            <a:avLst/>
          </a:prstGeom>
          <a:ln w="28575" cap="rnd">
            <a:solidFill>
              <a:srgbClr val="404040"/>
            </a:solidFill>
            <a:prstDash val="sysDot"/>
            <a:headEnd type="none" w="sm" len="sm"/>
            <a:tailEnd type="none" w="sm" len="sm"/>
          </a:ln>
        </p:spPr>
      </p:sp>
      <p:sp>
        <p:nvSpPr>
          <p:cNvPr id="86" name="AutoShape 86"/>
          <p:cNvSpPr/>
          <p:nvPr/>
        </p:nvSpPr>
        <p:spPr>
          <a:xfrm>
            <a:off x="9144000" y="6832758"/>
            <a:ext cx="728382" cy="0"/>
          </a:xfrm>
          <a:prstGeom prst="line">
            <a:avLst/>
          </a:prstGeom>
          <a:ln w="28575" cap="rnd">
            <a:solidFill>
              <a:srgbClr val="404040"/>
            </a:solidFill>
            <a:prstDash val="sysDot"/>
            <a:headEnd type="none" w="sm" len="sm"/>
            <a:tailEnd type="none" w="sm" len="sm"/>
          </a:ln>
        </p:spPr>
      </p:sp>
      <p:sp>
        <p:nvSpPr>
          <p:cNvPr id="87" name="AutoShape 87"/>
          <p:cNvSpPr/>
          <p:nvPr/>
        </p:nvSpPr>
        <p:spPr>
          <a:xfrm>
            <a:off x="9144000" y="9309022"/>
            <a:ext cx="728382" cy="0"/>
          </a:xfrm>
          <a:prstGeom prst="line">
            <a:avLst/>
          </a:prstGeom>
          <a:ln w="28575" cap="rnd">
            <a:solidFill>
              <a:srgbClr val="404040"/>
            </a:solidFill>
            <a:prstDash val="sysDot"/>
            <a:headEnd type="none" w="sm" len="sm"/>
            <a:tailEnd type="none" w="sm" len="sm"/>
          </a:ln>
        </p:spPr>
      </p:sp>
      <p:grpSp>
        <p:nvGrpSpPr>
          <p:cNvPr id="88" name="Group 88"/>
          <p:cNvGrpSpPr/>
          <p:nvPr/>
        </p:nvGrpSpPr>
        <p:grpSpPr>
          <a:xfrm rot="0">
            <a:off x="9672170" y="4081915"/>
            <a:ext cx="627584" cy="627584"/>
            <a:chOff x="0" y="0"/>
            <a:chExt cx="836778" cy="836778"/>
          </a:xfrm>
        </p:grpSpPr>
        <p:grpSp>
          <p:nvGrpSpPr>
            <p:cNvPr id="89" name="Group 89"/>
            <p:cNvGrpSpPr/>
            <p:nvPr/>
          </p:nvGrpSpPr>
          <p:grpSpPr>
            <a:xfrm rot="-5400000">
              <a:off x="0" y="0"/>
              <a:ext cx="836778" cy="836778"/>
              <a:chOff x="0" y="0"/>
              <a:chExt cx="812800" cy="812800"/>
            </a:xfrm>
          </p:grpSpPr>
          <p:sp>
            <p:nvSpPr>
              <p:cNvPr id="90" name="Freeform 9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91" name="TextBox 91"/>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92" name="Group 92"/>
            <p:cNvGrpSpPr/>
            <p:nvPr/>
          </p:nvGrpSpPr>
          <p:grpSpPr>
            <a:xfrm rot="-5400000">
              <a:off x="93124" y="93124"/>
              <a:ext cx="650530" cy="650530"/>
              <a:chOff x="0" y="0"/>
              <a:chExt cx="812800" cy="812800"/>
            </a:xfrm>
          </p:grpSpPr>
          <p:sp>
            <p:nvSpPr>
              <p:cNvPr id="93" name="Freeform 9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94" name="TextBox 9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95" name="Group 95"/>
            <p:cNvGrpSpPr/>
            <p:nvPr/>
          </p:nvGrpSpPr>
          <p:grpSpPr>
            <a:xfrm rot="-5400000">
              <a:off x="170078" y="170078"/>
              <a:ext cx="496622" cy="496622"/>
              <a:chOff x="0" y="0"/>
              <a:chExt cx="108388" cy="108388"/>
            </a:xfrm>
          </p:grpSpPr>
          <p:sp>
            <p:nvSpPr>
              <p:cNvPr id="96" name="Freeform 96"/>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898D4"/>
              </a:solidFill>
            </p:spPr>
          </p:sp>
          <p:sp>
            <p:nvSpPr>
              <p:cNvPr id="97" name="TextBox 97"/>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98" name="Group 98"/>
          <p:cNvGrpSpPr/>
          <p:nvPr/>
        </p:nvGrpSpPr>
        <p:grpSpPr>
          <a:xfrm rot="0">
            <a:off x="9672170" y="6575756"/>
            <a:ext cx="514004" cy="514004"/>
            <a:chOff x="0" y="0"/>
            <a:chExt cx="685339" cy="685339"/>
          </a:xfrm>
        </p:grpSpPr>
        <p:grpSp>
          <p:nvGrpSpPr>
            <p:cNvPr id="99" name="Group 99"/>
            <p:cNvGrpSpPr/>
            <p:nvPr/>
          </p:nvGrpSpPr>
          <p:grpSpPr>
            <a:xfrm rot="-5400000">
              <a:off x="0" y="0"/>
              <a:ext cx="685339" cy="685339"/>
              <a:chOff x="0" y="0"/>
              <a:chExt cx="812800" cy="812800"/>
            </a:xfrm>
          </p:grpSpPr>
          <p:sp>
            <p:nvSpPr>
              <p:cNvPr id="100" name="Freeform 10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1" name="TextBox 101"/>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02" name="Group 102"/>
            <p:cNvGrpSpPr/>
            <p:nvPr/>
          </p:nvGrpSpPr>
          <p:grpSpPr>
            <a:xfrm rot="-5400000">
              <a:off x="76271" y="76271"/>
              <a:ext cx="532797" cy="532797"/>
              <a:chOff x="0" y="0"/>
              <a:chExt cx="812800" cy="812800"/>
            </a:xfrm>
          </p:grpSpPr>
          <p:sp>
            <p:nvSpPr>
              <p:cNvPr id="103" name="Freeform 10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04" name="TextBox 10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05" name="Group 105"/>
            <p:cNvGrpSpPr/>
            <p:nvPr/>
          </p:nvGrpSpPr>
          <p:grpSpPr>
            <a:xfrm rot="-5400000">
              <a:off x="139298" y="139298"/>
              <a:ext cx="406743" cy="406743"/>
              <a:chOff x="0" y="0"/>
              <a:chExt cx="108388" cy="108388"/>
            </a:xfrm>
          </p:grpSpPr>
          <p:sp>
            <p:nvSpPr>
              <p:cNvPr id="106" name="Freeform 106"/>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5B9FB"/>
              </a:solidFill>
            </p:spPr>
          </p:sp>
          <p:sp>
            <p:nvSpPr>
              <p:cNvPr id="107" name="TextBox 107"/>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108" name="Group 108"/>
          <p:cNvGrpSpPr/>
          <p:nvPr/>
        </p:nvGrpSpPr>
        <p:grpSpPr>
          <a:xfrm rot="0">
            <a:off x="9929172" y="9001298"/>
            <a:ext cx="514004" cy="514004"/>
            <a:chOff x="0" y="0"/>
            <a:chExt cx="685339" cy="685339"/>
          </a:xfrm>
        </p:grpSpPr>
        <p:grpSp>
          <p:nvGrpSpPr>
            <p:cNvPr id="109" name="Group 109"/>
            <p:cNvGrpSpPr/>
            <p:nvPr/>
          </p:nvGrpSpPr>
          <p:grpSpPr>
            <a:xfrm rot="-5400000">
              <a:off x="0" y="0"/>
              <a:ext cx="685339" cy="685339"/>
              <a:chOff x="0" y="0"/>
              <a:chExt cx="812800" cy="812800"/>
            </a:xfrm>
          </p:grpSpPr>
          <p:sp>
            <p:nvSpPr>
              <p:cNvPr id="110" name="Freeform 1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11" name="TextBox 111"/>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12" name="Group 112"/>
            <p:cNvGrpSpPr/>
            <p:nvPr/>
          </p:nvGrpSpPr>
          <p:grpSpPr>
            <a:xfrm rot="-5400000">
              <a:off x="76271" y="76271"/>
              <a:ext cx="532797" cy="532797"/>
              <a:chOff x="0" y="0"/>
              <a:chExt cx="812800" cy="812800"/>
            </a:xfrm>
          </p:grpSpPr>
          <p:sp>
            <p:nvSpPr>
              <p:cNvPr id="113" name="Freeform 1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14" name="TextBox 11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15" name="Group 115"/>
            <p:cNvGrpSpPr/>
            <p:nvPr/>
          </p:nvGrpSpPr>
          <p:grpSpPr>
            <a:xfrm rot="-5400000">
              <a:off x="139298" y="139298"/>
              <a:ext cx="406743" cy="406743"/>
              <a:chOff x="0" y="0"/>
              <a:chExt cx="108388" cy="108388"/>
            </a:xfrm>
          </p:grpSpPr>
          <p:sp>
            <p:nvSpPr>
              <p:cNvPr id="116" name="Freeform 116"/>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7EE07C"/>
              </a:solidFill>
            </p:spPr>
          </p:sp>
          <p:sp>
            <p:nvSpPr>
              <p:cNvPr id="117" name="TextBox 117"/>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sp>
        <p:nvSpPr>
          <p:cNvPr id="118" name="AutoShape 118"/>
          <p:cNvSpPr/>
          <p:nvPr/>
        </p:nvSpPr>
        <p:spPr>
          <a:xfrm flipV="1">
            <a:off x="6922023" y="3108617"/>
            <a:ext cx="1109210" cy="14287"/>
          </a:xfrm>
          <a:prstGeom prst="line">
            <a:avLst/>
          </a:prstGeom>
          <a:ln w="28575" cap="rnd">
            <a:solidFill>
              <a:srgbClr val="404040"/>
            </a:solidFill>
            <a:prstDash val="sysDot"/>
            <a:headEnd type="none" w="sm" len="sm"/>
            <a:tailEnd type="none" w="sm" len="sm"/>
          </a:ln>
        </p:spPr>
      </p:sp>
      <p:sp>
        <p:nvSpPr>
          <p:cNvPr id="119" name="AutoShape 119"/>
          <p:cNvSpPr/>
          <p:nvPr/>
        </p:nvSpPr>
        <p:spPr>
          <a:xfrm>
            <a:off x="6922023" y="5559955"/>
            <a:ext cx="1109210" cy="2258"/>
          </a:xfrm>
          <a:prstGeom prst="line">
            <a:avLst/>
          </a:prstGeom>
          <a:ln w="28575" cap="rnd">
            <a:solidFill>
              <a:srgbClr val="404040"/>
            </a:solidFill>
            <a:prstDash val="sysDot"/>
            <a:headEnd type="none" w="sm" len="sm"/>
            <a:tailEnd type="none" w="sm" len="sm"/>
          </a:ln>
        </p:spPr>
      </p:sp>
      <p:sp>
        <p:nvSpPr>
          <p:cNvPr id="120" name="AutoShape 120"/>
          <p:cNvSpPr/>
          <p:nvPr/>
        </p:nvSpPr>
        <p:spPr>
          <a:xfrm flipV="1">
            <a:off x="6922023" y="8023243"/>
            <a:ext cx="1109210" cy="12976"/>
          </a:xfrm>
          <a:prstGeom prst="line">
            <a:avLst/>
          </a:prstGeom>
          <a:ln w="28575" cap="rnd">
            <a:solidFill>
              <a:srgbClr val="404040"/>
            </a:solidFill>
            <a:prstDash val="sysDot"/>
            <a:headEnd type="none" w="sm" len="sm"/>
            <a:tailEnd type="none" w="sm" len="sm"/>
          </a:ln>
        </p:spPr>
      </p:sp>
      <p:grpSp>
        <p:nvGrpSpPr>
          <p:cNvPr id="121" name="Group 121"/>
          <p:cNvGrpSpPr/>
          <p:nvPr/>
        </p:nvGrpSpPr>
        <p:grpSpPr>
          <a:xfrm rot="0">
            <a:off x="6665021" y="2865902"/>
            <a:ext cx="514004" cy="514004"/>
            <a:chOff x="0" y="0"/>
            <a:chExt cx="685339" cy="685339"/>
          </a:xfrm>
        </p:grpSpPr>
        <p:grpSp>
          <p:nvGrpSpPr>
            <p:cNvPr id="122" name="Group 122"/>
            <p:cNvGrpSpPr/>
            <p:nvPr/>
          </p:nvGrpSpPr>
          <p:grpSpPr>
            <a:xfrm rot="-5400000">
              <a:off x="0" y="0"/>
              <a:ext cx="685339" cy="685339"/>
              <a:chOff x="0" y="0"/>
              <a:chExt cx="812800" cy="812800"/>
            </a:xfrm>
          </p:grpSpPr>
          <p:sp>
            <p:nvSpPr>
              <p:cNvPr id="123" name="Freeform 1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4" name="TextBox 12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25" name="Group 125"/>
            <p:cNvGrpSpPr/>
            <p:nvPr/>
          </p:nvGrpSpPr>
          <p:grpSpPr>
            <a:xfrm rot="-5400000">
              <a:off x="76271" y="76271"/>
              <a:ext cx="532797" cy="532797"/>
              <a:chOff x="0" y="0"/>
              <a:chExt cx="812800" cy="812800"/>
            </a:xfrm>
          </p:grpSpPr>
          <p:sp>
            <p:nvSpPr>
              <p:cNvPr id="126" name="Freeform 1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27" name="TextBox 127"/>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28" name="Group 128"/>
            <p:cNvGrpSpPr/>
            <p:nvPr/>
          </p:nvGrpSpPr>
          <p:grpSpPr>
            <a:xfrm rot="-5400000">
              <a:off x="139298" y="139298"/>
              <a:ext cx="406743" cy="406743"/>
              <a:chOff x="0" y="0"/>
              <a:chExt cx="108388" cy="108388"/>
            </a:xfrm>
          </p:grpSpPr>
          <p:sp>
            <p:nvSpPr>
              <p:cNvPr id="129" name="Freeform 129"/>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FFB7A1"/>
              </a:solidFill>
            </p:spPr>
          </p:sp>
          <p:sp>
            <p:nvSpPr>
              <p:cNvPr id="130" name="TextBox 130"/>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131" name="Group 131"/>
          <p:cNvGrpSpPr/>
          <p:nvPr/>
        </p:nvGrpSpPr>
        <p:grpSpPr>
          <a:xfrm rot="0">
            <a:off x="6665021" y="5305211"/>
            <a:ext cx="514004" cy="514004"/>
            <a:chOff x="0" y="0"/>
            <a:chExt cx="685339" cy="685339"/>
          </a:xfrm>
        </p:grpSpPr>
        <p:grpSp>
          <p:nvGrpSpPr>
            <p:cNvPr id="132" name="Group 132"/>
            <p:cNvGrpSpPr/>
            <p:nvPr/>
          </p:nvGrpSpPr>
          <p:grpSpPr>
            <a:xfrm rot="-5400000">
              <a:off x="0" y="0"/>
              <a:ext cx="685339" cy="685339"/>
              <a:chOff x="0" y="0"/>
              <a:chExt cx="812800" cy="812800"/>
            </a:xfrm>
          </p:grpSpPr>
          <p:sp>
            <p:nvSpPr>
              <p:cNvPr id="133" name="Freeform 1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4" name="TextBox 13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35" name="Group 135"/>
            <p:cNvGrpSpPr/>
            <p:nvPr/>
          </p:nvGrpSpPr>
          <p:grpSpPr>
            <a:xfrm rot="-5400000">
              <a:off x="76271" y="76271"/>
              <a:ext cx="532797" cy="532797"/>
              <a:chOff x="0" y="0"/>
              <a:chExt cx="812800" cy="812800"/>
            </a:xfrm>
          </p:grpSpPr>
          <p:sp>
            <p:nvSpPr>
              <p:cNvPr id="136" name="Freeform 1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37" name="TextBox 137"/>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38" name="Group 138"/>
            <p:cNvGrpSpPr/>
            <p:nvPr/>
          </p:nvGrpSpPr>
          <p:grpSpPr>
            <a:xfrm rot="-5400000">
              <a:off x="139298" y="139298"/>
              <a:ext cx="406743" cy="406743"/>
              <a:chOff x="0" y="0"/>
              <a:chExt cx="108388" cy="108388"/>
            </a:xfrm>
          </p:grpSpPr>
          <p:sp>
            <p:nvSpPr>
              <p:cNvPr id="139" name="Freeform 139"/>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BC9FF1"/>
              </a:solidFill>
            </p:spPr>
          </p:sp>
          <p:sp>
            <p:nvSpPr>
              <p:cNvPr id="140" name="TextBox 140"/>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grpSp>
        <p:nvGrpSpPr>
          <p:cNvPr id="141" name="Group 141"/>
          <p:cNvGrpSpPr/>
          <p:nvPr/>
        </p:nvGrpSpPr>
        <p:grpSpPr>
          <a:xfrm rot="0">
            <a:off x="6441841" y="7743265"/>
            <a:ext cx="514004" cy="514004"/>
            <a:chOff x="0" y="0"/>
            <a:chExt cx="685339" cy="685339"/>
          </a:xfrm>
        </p:grpSpPr>
        <p:grpSp>
          <p:nvGrpSpPr>
            <p:cNvPr id="142" name="Group 142"/>
            <p:cNvGrpSpPr/>
            <p:nvPr/>
          </p:nvGrpSpPr>
          <p:grpSpPr>
            <a:xfrm rot="-5400000">
              <a:off x="0" y="0"/>
              <a:ext cx="685339" cy="685339"/>
              <a:chOff x="0" y="0"/>
              <a:chExt cx="812800" cy="812800"/>
            </a:xfrm>
          </p:grpSpPr>
          <p:sp>
            <p:nvSpPr>
              <p:cNvPr id="143" name="Freeform 1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44" name="TextBox 144"/>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45" name="Group 145"/>
            <p:cNvGrpSpPr/>
            <p:nvPr/>
          </p:nvGrpSpPr>
          <p:grpSpPr>
            <a:xfrm rot="-5400000">
              <a:off x="76271" y="76271"/>
              <a:ext cx="532797" cy="532797"/>
              <a:chOff x="0" y="0"/>
              <a:chExt cx="812800" cy="812800"/>
            </a:xfrm>
          </p:grpSpPr>
          <p:sp>
            <p:nvSpPr>
              <p:cNvPr id="146" name="Freeform 1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9050" cap="rnd">
                <a:solidFill>
                  <a:srgbClr val="969EA4"/>
                </a:solidFill>
                <a:prstDash val="sysDot"/>
                <a:round/>
              </a:ln>
            </p:spPr>
          </p:sp>
          <p:sp>
            <p:nvSpPr>
              <p:cNvPr id="147" name="TextBox 147"/>
              <p:cNvSpPr txBox="1"/>
              <p:nvPr/>
            </p:nvSpPr>
            <p:spPr>
              <a:xfrm>
                <a:off x="76200" y="57150"/>
                <a:ext cx="660400" cy="679450"/>
              </a:xfrm>
              <a:prstGeom prst="rect">
                <a:avLst/>
              </a:prstGeom>
            </p:spPr>
            <p:txBody>
              <a:bodyPr lIns="30192" tIns="30192" rIns="30192" bIns="30192" rtlCol="0" anchor="ctr"/>
              <a:lstStyle/>
              <a:p>
                <a:pPr algn="ctr">
                  <a:lnSpc>
                    <a:spcPts val="820"/>
                  </a:lnSpc>
                </a:pPr>
              </a:p>
            </p:txBody>
          </p:sp>
        </p:grpSp>
        <p:grpSp>
          <p:nvGrpSpPr>
            <p:cNvPr id="148" name="Group 148"/>
            <p:cNvGrpSpPr/>
            <p:nvPr/>
          </p:nvGrpSpPr>
          <p:grpSpPr>
            <a:xfrm rot="-5400000">
              <a:off x="139298" y="139298"/>
              <a:ext cx="406743" cy="406743"/>
              <a:chOff x="0" y="0"/>
              <a:chExt cx="108388" cy="108388"/>
            </a:xfrm>
          </p:grpSpPr>
          <p:sp>
            <p:nvSpPr>
              <p:cNvPr id="149" name="Freeform 149"/>
              <p:cNvSpPr/>
              <p:nvPr/>
            </p:nvSpPr>
            <p:spPr>
              <a:xfrm>
                <a:off x="0" y="0"/>
                <a:ext cx="108388" cy="108388"/>
              </a:xfrm>
              <a:custGeom>
                <a:avLst/>
                <a:gdLst/>
                <a:ahLst/>
                <a:cxnLst/>
                <a:rect l="l" t="t" r="r" b="b"/>
                <a:pathLst>
                  <a:path w="108388" h="108388">
                    <a:moveTo>
                      <a:pt x="54194" y="0"/>
                    </a:moveTo>
                    <a:cubicBezTo>
                      <a:pt x="24263" y="0"/>
                      <a:pt x="0" y="24263"/>
                      <a:pt x="0" y="54194"/>
                    </a:cubicBezTo>
                    <a:cubicBezTo>
                      <a:pt x="0" y="84124"/>
                      <a:pt x="24263" y="108388"/>
                      <a:pt x="54194" y="108388"/>
                    </a:cubicBezTo>
                    <a:cubicBezTo>
                      <a:pt x="84124" y="108388"/>
                      <a:pt x="108388" y="84124"/>
                      <a:pt x="108388" y="54194"/>
                    </a:cubicBezTo>
                    <a:cubicBezTo>
                      <a:pt x="108388" y="24263"/>
                      <a:pt x="84124" y="0"/>
                      <a:pt x="54194" y="0"/>
                    </a:cubicBezTo>
                    <a:close/>
                  </a:path>
                </a:pathLst>
              </a:custGeom>
              <a:solidFill>
                <a:srgbClr val="56CDB8"/>
              </a:solidFill>
            </p:spPr>
          </p:sp>
          <p:sp>
            <p:nvSpPr>
              <p:cNvPr id="150" name="TextBox 150"/>
              <p:cNvSpPr txBox="1"/>
              <p:nvPr/>
            </p:nvSpPr>
            <p:spPr>
              <a:xfrm>
                <a:off x="10161" y="-8889"/>
                <a:ext cx="88065" cy="107115"/>
              </a:xfrm>
              <a:prstGeom prst="rect">
                <a:avLst/>
              </a:prstGeom>
            </p:spPr>
            <p:txBody>
              <a:bodyPr lIns="30192" tIns="30192" rIns="30192" bIns="30192" rtlCol="0" anchor="ctr"/>
              <a:lstStyle/>
              <a:p>
                <a:pPr algn="ctr">
                  <a:lnSpc>
                    <a:spcPts val="820"/>
                  </a:lnSpc>
                </a:pPr>
              </a:p>
            </p:txBody>
          </p:sp>
        </p:grpSp>
      </p:grpSp>
      <p:sp>
        <p:nvSpPr>
          <p:cNvPr id="151" name="TextBox 151"/>
          <p:cNvSpPr txBox="1"/>
          <p:nvPr/>
        </p:nvSpPr>
        <p:spPr>
          <a:xfrm>
            <a:off x="1028700" y="2881424"/>
            <a:ext cx="5636321" cy="4067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Performances et efficacité améliorées.</a:t>
            </a:r>
            <a:endParaRPr lang="en-US" sz="2360" b="1" spc="59">
              <a:solidFill>
                <a:srgbClr val="545454"/>
              </a:solidFill>
              <a:latin typeface="Nunito Bold"/>
              <a:ea typeface="Nunito Bold"/>
              <a:cs typeface="Nunito Bold"/>
              <a:sym typeface="Nunito Bold"/>
            </a:endParaRPr>
          </a:p>
        </p:txBody>
      </p:sp>
      <p:sp>
        <p:nvSpPr>
          <p:cNvPr id="152" name="TextBox 152"/>
          <p:cNvSpPr txBox="1"/>
          <p:nvPr/>
        </p:nvSpPr>
        <p:spPr>
          <a:xfrm>
            <a:off x="1028700" y="5185920"/>
            <a:ext cx="5893323" cy="8258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Augmentation de la valeur et de l'innovation.</a:t>
            </a:r>
            <a:endParaRPr lang="en-US" sz="2360" b="1" spc="59">
              <a:solidFill>
                <a:srgbClr val="545454"/>
              </a:solidFill>
              <a:latin typeface="Nunito Bold"/>
              <a:ea typeface="Nunito Bold"/>
              <a:cs typeface="Nunito Bold"/>
              <a:sym typeface="Nunito Bold"/>
            </a:endParaRPr>
          </a:p>
        </p:txBody>
      </p:sp>
      <p:sp>
        <p:nvSpPr>
          <p:cNvPr id="153" name="TextBox 153"/>
          <p:cNvSpPr txBox="1"/>
          <p:nvPr/>
        </p:nvSpPr>
        <p:spPr>
          <a:xfrm>
            <a:off x="1028700" y="7820527"/>
            <a:ext cx="5413141" cy="4067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Qualité et fiabilité améliorées.</a:t>
            </a:r>
            <a:endParaRPr lang="en-US" sz="2360" b="1" spc="59">
              <a:solidFill>
                <a:srgbClr val="545454"/>
              </a:solidFill>
              <a:latin typeface="Nunito Bold"/>
              <a:ea typeface="Nunito Bold"/>
              <a:cs typeface="Nunito Bold"/>
              <a:sym typeface="Nunito Bold"/>
            </a:endParaRPr>
          </a:p>
        </p:txBody>
      </p:sp>
      <p:sp>
        <p:nvSpPr>
          <p:cNvPr id="154" name="TextBox 154"/>
          <p:cNvSpPr txBox="1"/>
          <p:nvPr/>
        </p:nvSpPr>
        <p:spPr>
          <a:xfrm>
            <a:off x="10186174" y="4176613"/>
            <a:ext cx="5435944" cy="4067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Qualité et véracité des données.</a:t>
            </a:r>
            <a:endParaRPr lang="en-US" sz="2360" b="1" spc="59">
              <a:solidFill>
                <a:srgbClr val="545454"/>
              </a:solidFill>
              <a:latin typeface="Nunito Bold"/>
              <a:ea typeface="Nunito Bold"/>
              <a:cs typeface="Nunito Bold"/>
              <a:sym typeface="Nunito Bold"/>
            </a:endParaRPr>
          </a:p>
        </p:txBody>
      </p:sp>
      <p:sp>
        <p:nvSpPr>
          <p:cNvPr id="155" name="TextBox 155"/>
          <p:cNvSpPr txBox="1"/>
          <p:nvPr/>
        </p:nvSpPr>
        <p:spPr>
          <a:xfrm>
            <a:off x="10186174" y="6600407"/>
            <a:ext cx="6474386" cy="4067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Sécurité et confidentialité des données</a:t>
            </a:r>
            <a:endParaRPr lang="en-US" sz="2360" b="1" spc="59">
              <a:solidFill>
                <a:srgbClr val="545454"/>
              </a:solidFill>
              <a:latin typeface="Nunito Bold"/>
              <a:ea typeface="Nunito Bold"/>
              <a:cs typeface="Nunito Bold"/>
              <a:sym typeface="Nunito Bold"/>
            </a:endParaRPr>
          </a:p>
        </p:txBody>
      </p:sp>
      <p:sp>
        <p:nvSpPr>
          <p:cNvPr id="156" name="TextBox 156"/>
          <p:cNvSpPr txBox="1"/>
          <p:nvPr/>
        </p:nvSpPr>
        <p:spPr>
          <a:xfrm>
            <a:off x="10500326" y="9093142"/>
            <a:ext cx="5728006" cy="406760"/>
          </a:xfrm>
          <a:prstGeom prst="rect">
            <a:avLst/>
          </a:prstGeom>
        </p:spPr>
        <p:txBody>
          <a:bodyPr lIns="0" tIns="0" rIns="0" bIns="0" rtlCol="0" anchor="t">
            <a:spAutoFit/>
          </a:bodyPr>
          <a:lstStyle/>
          <a:p>
            <a:pPr algn="ctr">
              <a:lnSpc>
                <a:spcPts val="3305"/>
              </a:lnSpc>
            </a:pPr>
            <a:r>
              <a:rPr lang="en-US" sz="2360" b="1" spc="59">
                <a:solidFill>
                  <a:srgbClr val="545454"/>
                </a:solidFill>
                <a:latin typeface="Nunito Bold"/>
                <a:ea typeface="Nunito Bold"/>
                <a:cs typeface="Nunito Bold"/>
                <a:sym typeface="Nunito Bold"/>
              </a:rPr>
              <a:t>Éthique et gouvernance des données</a:t>
            </a:r>
            <a:endParaRPr lang="en-US" sz="2360" b="1" spc="59">
              <a:solidFill>
                <a:srgbClr val="545454"/>
              </a:solidFill>
              <a:latin typeface="Nunito Bold"/>
              <a:ea typeface="Nunito Bold"/>
              <a:cs typeface="Nunito Bold"/>
              <a:sym typeface="Nunito Bold"/>
            </a:endParaRPr>
          </a:p>
        </p:txBody>
      </p:sp>
      <p:sp>
        <p:nvSpPr>
          <p:cNvPr id="157" name="Freeform 157"/>
          <p:cNvSpPr/>
          <p:nvPr/>
        </p:nvSpPr>
        <p:spPr>
          <a:xfrm rot="-3578320">
            <a:off x="14730311" y="1476138"/>
            <a:ext cx="2628741" cy="2275056"/>
          </a:xfrm>
          <a:custGeom>
            <a:avLst/>
            <a:gdLst/>
            <a:ahLst/>
            <a:cxnLst/>
            <a:rect l="l" t="t" r="r" b="b"/>
            <a:pathLst>
              <a:path w="2628741" h="2275056">
                <a:moveTo>
                  <a:pt x="0" y="0"/>
                </a:moveTo>
                <a:lnTo>
                  <a:pt x="2628741" y="0"/>
                </a:lnTo>
                <a:lnTo>
                  <a:pt x="2628741" y="2275055"/>
                </a:lnTo>
                <a:lnTo>
                  <a:pt x="0" y="22750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8" name="Freeform 158"/>
          <p:cNvSpPr/>
          <p:nvPr/>
        </p:nvSpPr>
        <p:spPr>
          <a:xfrm rot="-3578320">
            <a:off x="16867821" y="258784"/>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9" name="Freeform 159"/>
          <p:cNvSpPr/>
          <p:nvPr/>
        </p:nvSpPr>
        <p:spPr>
          <a:xfrm rot="3663319">
            <a:off x="14987432" y="-737182"/>
            <a:ext cx="2412087" cy="2087552"/>
          </a:xfrm>
          <a:custGeom>
            <a:avLst/>
            <a:gdLst/>
            <a:ahLst/>
            <a:cxnLst/>
            <a:rect l="l" t="t" r="r" b="b"/>
            <a:pathLst>
              <a:path w="2412087" h="2087552">
                <a:moveTo>
                  <a:pt x="0" y="0"/>
                </a:moveTo>
                <a:lnTo>
                  <a:pt x="2412088" y="0"/>
                </a:lnTo>
                <a:lnTo>
                  <a:pt x="2412088" y="2087552"/>
                </a:lnTo>
                <a:lnTo>
                  <a:pt x="0" y="20875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0" name="Freeform 160"/>
          <p:cNvSpPr/>
          <p:nvPr/>
        </p:nvSpPr>
        <p:spPr>
          <a:xfrm rot="3663319">
            <a:off x="-10925" y="8986735"/>
            <a:ext cx="2412087" cy="2087552"/>
          </a:xfrm>
          <a:custGeom>
            <a:avLst/>
            <a:gdLst/>
            <a:ahLst/>
            <a:cxnLst/>
            <a:rect l="l" t="t" r="r" b="b"/>
            <a:pathLst>
              <a:path w="2412087" h="2087552">
                <a:moveTo>
                  <a:pt x="0" y="0"/>
                </a:moveTo>
                <a:lnTo>
                  <a:pt x="2412087" y="0"/>
                </a:lnTo>
                <a:lnTo>
                  <a:pt x="2412087" y="2087552"/>
                </a:lnTo>
                <a:lnTo>
                  <a:pt x="0" y="20875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1" name="Freeform 161"/>
          <p:cNvSpPr/>
          <p:nvPr/>
        </p:nvSpPr>
        <p:spPr>
          <a:xfrm rot="-3578320">
            <a:off x="-2087066" y="7584836"/>
            <a:ext cx="2656890" cy="2299417"/>
          </a:xfrm>
          <a:custGeom>
            <a:avLst/>
            <a:gdLst/>
            <a:ahLst/>
            <a:cxnLst/>
            <a:rect l="l" t="t" r="r" b="b"/>
            <a:pathLst>
              <a:path w="2656890" h="2299417">
                <a:moveTo>
                  <a:pt x="0" y="0"/>
                </a:moveTo>
                <a:lnTo>
                  <a:pt x="2656890" y="0"/>
                </a:lnTo>
                <a:lnTo>
                  <a:pt x="2656890" y="2299417"/>
                </a:lnTo>
                <a:lnTo>
                  <a:pt x="0" y="22994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2" name="Freeform 162"/>
          <p:cNvSpPr/>
          <p:nvPr/>
        </p:nvSpPr>
        <p:spPr>
          <a:xfrm rot="-3578320">
            <a:off x="-1306553" y="-830934"/>
            <a:ext cx="2628741" cy="2275056"/>
          </a:xfrm>
          <a:custGeom>
            <a:avLst/>
            <a:gdLst/>
            <a:ahLst/>
            <a:cxnLst/>
            <a:rect l="l" t="t" r="r" b="b"/>
            <a:pathLst>
              <a:path w="2628741" h="2275056">
                <a:moveTo>
                  <a:pt x="0" y="0"/>
                </a:moveTo>
                <a:lnTo>
                  <a:pt x="2628740" y="0"/>
                </a:lnTo>
                <a:lnTo>
                  <a:pt x="2628740" y="2275056"/>
                </a:lnTo>
                <a:lnTo>
                  <a:pt x="0" y="22750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3" name="TextBox 163"/>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18</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867731" y="5143500"/>
            <a:ext cx="4438309" cy="384337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5840" r="-25839"/>
              </a:stretch>
            </a:blipFill>
            <a:ln cap="sq">
              <a:noFill/>
              <a:prstDash val="solid"/>
              <a:miter/>
            </a:ln>
          </p:spPr>
        </p:sp>
      </p:grpSp>
      <p:grpSp>
        <p:nvGrpSpPr>
          <p:cNvPr id="4" name="Group 4"/>
          <p:cNvGrpSpPr/>
          <p:nvPr/>
        </p:nvGrpSpPr>
        <p:grpSpPr>
          <a:xfrm rot="0">
            <a:off x="12143950" y="-584377"/>
            <a:ext cx="4438309" cy="384337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27067" r="-27067"/>
              </a:stretch>
            </a:blipFill>
            <a:ln cap="sq">
              <a:noFill/>
              <a:prstDash val="solid"/>
              <a:miter/>
            </a:ln>
          </p:spPr>
        </p:sp>
      </p:grpSp>
      <p:grpSp>
        <p:nvGrpSpPr>
          <p:cNvPr id="6" name="Group 6"/>
          <p:cNvGrpSpPr/>
          <p:nvPr/>
        </p:nvGrpSpPr>
        <p:grpSpPr>
          <a:xfrm rot="0">
            <a:off x="1595074" y="7065188"/>
            <a:ext cx="4438309" cy="3843376"/>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27220" r="-27220"/>
              </a:stretch>
            </a:blipFill>
            <a:ln cap="sq">
              <a:noFill/>
              <a:prstDash val="solid"/>
              <a:miter/>
            </a:ln>
          </p:spPr>
        </p:sp>
      </p:grpSp>
      <p:grpSp>
        <p:nvGrpSpPr>
          <p:cNvPr id="8" name="Group 8"/>
          <p:cNvGrpSpPr/>
          <p:nvPr/>
        </p:nvGrpSpPr>
        <p:grpSpPr>
          <a:xfrm rot="0">
            <a:off x="15614154" y="1418311"/>
            <a:ext cx="4438309" cy="3843376"/>
            <a:chOff x="0" y="0"/>
            <a:chExt cx="4282440" cy="3708400"/>
          </a:xfrm>
        </p:grpSpPr>
        <p:sp>
          <p:nvSpPr>
            <p:cNvPr id="9" name="Freeform 9"/>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t="-7739" b="-7739"/>
              </a:stretch>
            </a:blipFill>
            <a:ln cap="sq">
              <a:noFill/>
              <a:prstDash val="solid"/>
              <a:miter/>
            </a:ln>
          </p:spPr>
        </p:sp>
      </p:grpSp>
      <p:sp>
        <p:nvSpPr>
          <p:cNvPr id="10" name="Freeform 10"/>
          <p:cNvSpPr/>
          <p:nvPr/>
        </p:nvSpPr>
        <p:spPr>
          <a:xfrm rot="7221679">
            <a:off x="13621157" y="3889213"/>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7221679">
            <a:off x="-693513" y="9032713"/>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3578320">
            <a:off x="16053495" y="-1256885"/>
            <a:ext cx="2904567" cy="2513771"/>
          </a:xfrm>
          <a:custGeom>
            <a:avLst/>
            <a:gdLst/>
            <a:ahLst/>
            <a:cxnLst/>
            <a:rect l="l" t="t" r="r" b="b"/>
            <a:pathLst>
              <a:path w="2904567" h="2513771">
                <a:moveTo>
                  <a:pt x="0" y="0"/>
                </a:moveTo>
                <a:lnTo>
                  <a:pt x="2904567" y="0"/>
                </a:lnTo>
                <a:lnTo>
                  <a:pt x="2904567" y="2513770"/>
                </a:lnTo>
                <a:lnTo>
                  <a:pt x="0" y="25137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rot="-3578320">
            <a:off x="16053495" y="4912506"/>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TextBox 14"/>
          <p:cNvSpPr txBox="1"/>
          <p:nvPr/>
        </p:nvSpPr>
        <p:spPr>
          <a:xfrm>
            <a:off x="1028700" y="994567"/>
            <a:ext cx="12066767" cy="1076088"/>
          </a:xfrm>
          <a:prstGeom prst="rect">
            <a:avLst/>
          </a:prstGeom>
        </p:spPr>
        <p:txBody>
          <a:bodyPr lIns="0" tIns="0" rIns="0" bIns="0" rtlCol="0" anchor="t">
            <a:spAutoFit/>
          </a:bodyPr>
          <a:lstStyle/>
          <a:p>
            <a:pPr marL="0" lvl="1" indent="0" algn="ctr">
              <a:lnSpc>
                <a:spcPts val="7880"/>
              </a:lnSpc>
            </a:pPr>
            <a:r>
              <a:rPr lang="en-US" sz="8565" b="1" spc="239">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CONCLUSION</a:t>
            </a:r>
            <a:endParaRPr lang="en-US" sz="8565" b="1" spc="239">
              <a:solidFill>
                <a:srgbClr val="4F6A92"/>
              </a:solidFill>
              <a:latin typeface="Barlow SemiCondensed Bold" panose="00000806000000000000"/>
              <a:ea typeface="Barlow SemiCondensed Bold" panose="00000806000000000000"/>
              <a:cs typeface="Barlow SemiCondensed Bold" panose="00000806000000000000"/>
              <a:sym typeface="Barlow SemiCondensed Bold" panose="00000806000000000000"/>
            </a:endParaRPr>
          </a:p>
        </p:txBody>
      </p:sp>
      <p:sp>
        <p:nvSpPr>
          <p:cNvPr id="15" name="TextBox 15"/>
          <p:cNvSpPr txBox="1"/>
          <p:nvPr/>
        </p:nvSpPr>
        <p:spPr>
          <a:xfrm>
            <a:off x="755769" y="2571059"/>
            <a:ext cx="12471533" cy="2927198"/>
          </a:xfrm>
          <a:prstGeom prst="rect">
            <a:avLst/>
          </a:prstGeom>
        </p:spPr>
        <p:txBody>
          <a:bodyPr lIns="0" tIns="0" rIns="0" bIns="0" rtlCol="0" anchor="t">
            <a:spAutoFit/>
          </a:bodyPr>
          <a:lstStyle/>
          <a:p>
            <a:pPr marL="0" lvl="1" indent="0" algn="ctr">
              <a:lnSpc>
                <a:spcPts val="3900"/>
              </a:lnSpc>
              <a:spcBef>
                <a:spcPct val="0"/>
              </a:spcBef>
            </a:pPr>
            <a:r>
              <a:rPr lang="en-US" sz="3645" spc="102">
                <a:solidFill>
                  <a:srgbClr val="000000"/>
                </a:solidFill>
                <a:latin typeface="Barlow Condensed" panose="00000506000000000000"/>
                <a:ea typeface="Barlow Condensed" panose="00000506000000000000"/>
                <a:cs typeface="Barlow Condensed" panose="00000506000000000000"/>
                <a:sym typeface="Barlow Condensed" panose="00000506000000000000"/>
              </a:rPr>
              <a:t>Le Big Data et le cloud computing ne sont pas seulement des technologies, mais des outils puissants pour améliorer l'analyse des données et créer de la valeur. Cependant, leur utilisation nécessite une gestion responsable pour surmonter les défis et les risques. Leur objectif final est de produire des solutions utiles et impactantes pour divers domaines.</a:t>
            </a:r>
            <a:endParaRPr lang="en-US" sz="3645" spc="102">
              <a:solidFill>
                <a:srgbClr val="000000"/>
              </a:solidFill>
              <a:latin typeface="Barlow Condensed" panose="00000506000000000000"/>
              <a:ea typeface="Barlow Condensed" panose="00000506000000000000"/>
              <a:cs typeface="Barlow Condensed" panose="00000506000000000000"/>
              <a:sym typeface="Barlow Condensed" panose="00000506000000000000"/>
            </a:endParaRPr>
          </a:p>
        </p:txBody>
      </p:sp>
      <p:sp>
        <p:nvSpPr>
          <p:cNvPr id="16" name="TextBox 16"/>
          <p:cNvSpPr txBox="1"/>
          <p:nvPr/>
        </p:nvSpPr>
        <p:spPr>
          <a:xfrm>
            <a:off x="16885248" y="9582975"/>
            <a:ext cx="948060" cy="529891"/>
          </a:xfrm>
          <a:prstGeom prst="rect">
            <a:avLst/>
          </a:prstGeom>
        </p:spPr>
        <p:txBody>
          <a:bodyPr lIns="0" tIns="0" rIns="0" bIns="0" rtlCol="0" anchor="t">
            <a:spAutoFit/>
          </a:bodyPr>
          <a:lstStyle/>
          <a:p>
            <a:pPr algn="ctr">
              <a:lnSpc>
                <a:spcPts val="4395"/>
              </a:lnSpc>
              <a:spcBef>
                <a:spcPct val="0"/>
              </a:spcBef>
            </a:pPr>
            <a:r>
              <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rPr>
              <a:t>19</a:t>
            </a:r>
            <a:endParaRPr lang="en-US" sz="314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1061283" y="2200354"/>
            <a:ext cx="11215913" cy="9712475"/>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1"/>
              <a:stretch>
                <a:fillRect l="-27220" r="-27220"/>
              </a:stretch>
            </a:blipFill>
            <a:ln cap="sq">
              <a:noFill/>
              <a:prstDash val="solid"/>
              <a:miter/>
            </a:ln>
          </p:spPr>
        </p:sp>
      </p:grpSp>
      <p:grpSp>
        <p:nvGrpSpPr>
          <p:cNvPr id="4" name="Group 4"/>
          <p:cNvGrpSpPr/>
          <p:nvPr/>
        </p:nvGrpSpPr>
        <p:grpSpPr>
          <a:xfrm rot="0">
            <a:off x="-227397" y="4455118"/>
            <a:ext cx="11923607" cy="2454856"/>
            <a:chOff x="0" y="0"/>
            <a:chExt cx="3140374" cy="646547"/>
          </a:xfrm>
        </p:grpSpPr>
        <p:sp>
          <p:nvSpPr>
            <p:cNvPr id="5" name="Freeform 5"/>
            <p:cNvSpPr/>
            <p:nvPr/>
          </p:nvSpPr>
          <p:spPr>
            <a:xfrm>
              <a:off x="0" y="0"/>
              <a:ext cx="3140374" cy="646547"/>
            </a:xfrm>
            <a:custGeom>
              <a:avLst/>
              <a:gdLst/>
              <a:ahLst/>
              <a:cxnLst/>
              <a:rect l="l" t="t" r="r" b="b"/>
              <a:pathLst>
                <a:path w="3140374" h="646547">
                  <a:moveTo>
                    <a:pt x="2937174" y="0"/>
                  </a:moveTo>
                  <a:lnTo>
                    <a:pt x="0" y="0"/>
                  </a:lnTo>
                  <a:lnTo>
                    <a:pt x="0" y="646547"/>
                  </a:lnTo>
                  <a:lnTo>
                    <a:pt x="2937174" y="646547"/>
                  </a:lnTo>
                  <a:lnTo>
                    <a:pt x="3140374" y="323273"/>
                  </a:lnTo>
                  <a:lnTo>
                    <a:pt x="2937174" y="0"/>
                  </a:lnTo>
                  <a:close/>
                </a:path>
              </a:pathLst>
            </a:custGeom>
            <a:solidFill>
              <a:srgbClr val="AECCE7"/>
            </a:solidFill>
          </p:spPr>
        </p:sp>
        <p:sp>
          <p:nvSpPr>
            <p:cNvPr id="6" name="TextBox 6"/>
            <p:cNvSpPr txBox="1"/>
            <p:nvPr/>
          </p:nvSpPr>
          <p:spPr>
            <a:xfrm>
              <a:off x="0" y="-38100"/>
              <a:ext cx="3026074" cy="684647"/>
            </a:xfrm>
            <a:prstGeom prst="rect">
              <a:avLst/>
            </a:prstGeom>
          </p:spPr>
          <p:txBody>
            <a:bodyPr lIns="50800" tIns="50800" rIns="50800" bIns="50800" rtlCol="0" anchor="ctr"/>
            <a:lstStyle/>
            <a:p>
              <a:pPr algn="ctr">
                <a:lnSpc>
                  <a:spcPts val="2660"/>
                </a:lnSpc>
              </a:pPr>
            </a:p>
          </p:txBody>
        </p:sp>
      </p:grpSp>
      <p:sp>
        <p:nvSpPr>
          <p:cNvPr id="7" name="Freeform 7"/>
          <p:cNvSpPr/>
          <p:nvPr/>
        </p:nvSpPr>
        <p:spPr>
          <a:xfrm rot="7221679">
            <a:off x="11043184" y="489931"/>
            <a:ext cx="2898563" cy="2508574"/>
          </a:xfrm>
          <a:custGeom>
            <a:avLst/>
            <a:gdLst/>
            <a:ahLst/>
            <a:cxnLst/>
            <a:rect l="l" t="t" r="r" b="b"/>
            <a:pathLst>
              <a:path w="2898563" h="2508574">
                <a:moveTo>
                  <a:pt x="0" y="0"/>
                </a:moveTo>
                <a:lnTo>
                  <a:pt x="2898562" y="0"/>
                </a:lnTo>
                <a:lnTo>
                  <a:pt x="2898562" y="2508575"/>
                </a:lnTo>
                <a:lnTo>
                  <a:pt x="0" y="25085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7221679">
            <a:off x="15762394" y="489931"/>
            <a:ext cx="2898563" cy="2508574"/>
          </a:xfrm>
          <a:custGeom>
            <a:avLst/>
            <a:gdLst/>
            <a:ahLst/>
            <a:cxnLst/>
            <a:rect l="l" t="t" r="r" b="b"/>
            <a:pathLst>
              <a:path w="2898563" h="2508574">
                <a:moveTo>
                  <a:pt x="0" y="0"/>
                </a:moveTo>
                <a:lnTo>
                  <a:pt x="2898562" y="0"/>
                </a:lnTo>
                <a:lnTo>
                  <a:pt x="2898562" y="2508575"/>
                </a:lnTo>
                <a:lnTo>
                  <a:pt x="0" y="25085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7221679">
            <a:off x="14269575" y="8976744"/>
            <a:ext cx="2898563" cy="2508574"/>
          </a:xfrm>
          <a:custGeom>
            <a:avLst/>
            <a:gdLst/>
            <a:ahLst/>
            <a:cxnLst/>
            <a:rect l="l" t="t" r="r" b="b"/>
            <a:pathLst>
              <a:path w="2898563" h="2508574">
                <a:moveTo>
                  <a:pt x="0" y="0"/>
                </a:moveTo>
                <a:lnTo>
                  <a:pt x="2898563" y="0"/>
                </a:lnTo>
                <a:lnTo>
                  <a:pt x="2898563" y="2508574"/>
                </a:lnTo>
                <a:lnTo>
                  <a:pt x="0" y="25085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3578320">
            <a:off x="11043941" y="3176720"/>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3578320">
            <a:off x="13398387" y="1883618"/>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rot="-3578320">
            <a:off x="13398387" y="-781662"/>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rot="-3578320">
            <a:off x="16531260" y="7541493"/>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rot="-3578320">
            <a:off x="9941200" y="7541493"/>
            <a:ext cx="2904567" cy="2513771"/>
          </a:xfrm>
          <a:custGeom>
            <a:avLst/>
            <a:gdLst/>
            <a:ahLst/>
            <a:cxnLst/>
            <a:rect l="l" t="t" r="r" b="b"/>
            <a:pathLst>
              <a:path w="2904567" h="2513771">
                <a:moveTo>
                  <a:pt x="0" y="0"/>
                </a:moveTo>
                <a:lnTo>
                  <a:pt x="2904567" y="0"/>
                </a:lnTo>
                <a:lnTo>
                  <a:pt x="2904567" y="2513771"/>
                </a:lnTo>
                <a:lnTo>
                  <a:pt x="0" y="251377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576691" y="4953513"/>
            <a:ext cx="10581946" cy="1829541"/>
          </a:xfrm>
          <a:prstGeom prst="rect">
            <a:avLst/>
          </a:prstGeom>
        </p:spPr>
        <p:txBody>
          <a:bodyPr lIns="0" tIns="0" rIns="0" bIns="0" rtlCol="0" anchor="t">
            <a:spAutoFit/>
          </a:bodyPr>
          <a:lstStyle/>
          <a:p>
            <a:pPr marL="0" lvl="1" indent="0" algn="ctr">
              <a:lnSpc>
                <a:spcPts val="13325"/>
              </a:lnSpc>
            </a:pPr>
            <a:r>
              <a:rPr lang="en-US" sz="14485" b="1" spc="405">
                <a:solidFill>
                  <a:srgbClr val="FFFFFF"/>
                </a:solidFill>
                <a:latin typeface="Barlow SemiCondensed Semi-Bold" panose="00000706000000000000"/>
                <a:ea typeface="Barlow SemiCondensed Semi-Bold" panose="00000706000000000000"/>
                <a:cs typeface="Barlow SemiCondensed Semi-Bold" panose="00000706000000000000"/>
                <a:sym typeface="Barlow SemiCondensed Semi-Bold" panose="00000706000000000000"/>
              </a:rPr>
              <a:t>MERCI !</a:t>
            </a:r>
            <a:endParaRPr lang="en-US" sz="14485" b="1" spc="405">
              <a:solidFill>
                <a:srgbClr val="FFFFFF"/>
              </a:solidFill>
              <a:latin typeface="Barlow SemiCondensed Semi-Bold" panose="00000706000000000000"/>
              <a:ea typeface="Barlow SemiCondensed Semi-Bold" panose="00000706000000000000"/>
              <a:cs typeface="Barlow SemiCondensed Semi-Bold" panose="00000706000000000000"/>
              <a:sym typeface="Barlow SemiCondensed Semi-Bold" panose="0000070600000000000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6145</Words>
  <Application>WPS Presentation</Application>
  <PresentationFormat>On-screen Show (4:3)</PresentationFormat>
  <Paragraphs>269</Paragraphs>
  <Slides>23</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23</vt:i4>
      </vt:variant>
    </vt:vector>
  </HeadingPairs>
  <TitlesOfParts>
    <vt:vector size="45" baseType="lpstr">
      <vt:lpstr>Arial</vt:lpstr>
      <vt:lpstr>SimSun</vt:lpstr>
      <vt:lpstr>Wingdings</vt:lpstr>
      <vt:lpstr>Barlow SemiCondensed Bold</vt:lpstr>
      <vt:lpstr>Open Sans Bold</vt:lpstr>
      <vt:lpstr>Canva Sans Bold</vt:lpstr>
      <vt:lpstr>Oswald Bold</vt:lpstr>
      <vt:lpstr>DM Sans</vt:lpstr>
      <vt:lpstr>Open Sauce</vt:lpstr>
      <vt:lpstr>Barlow Condensed</vt:lpstr>
      <vt:lpstr>Barlow Condensed Bold</vt:lpstr>
      <vt:lpstr>Nunito Bold</vt:lpstr>
      <vt:lpstr>Public Sans Bold</vt:lpstr>
      <vt:lpstr>Public Sans</vt:lpstr>
      <vt:lpstr>Calibri</vt:lpstr>
      <vt:lpstr>Microsoft YaHei</vt:lpstr>
      <vt:lpstr>Arial Unicode MS</vt:lpstr>
      <vt:lpstr>Glacial Indifference</vt:lpstr>
      <vt:lpstr>29LT Bukra Semi Condensed Semi-Bold</vt:lpstr>
      <vt:lpstr>Montserrat Classic Bold</vt:lpstr>
      <vt:lpstr>Barlow SemiCondensed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Geometric Simple Photo Business Company Presentation</dc:title>
  <dc:creator/>
  <cp:lastModifiedBy>rania</cp:lastModifiedBy>
  <cp:revision>2</cp:revision>
  <dcterms:created xsi:type="dcterms:W3CDTF">2006-08-16T00:00:00Z</dcterms:created>
  <dcterms:modified xsi:type="dcterms:W3CDTF">2025-11-18T16:04:17Z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35A33DC87F3B4C7A99932BF1E1557FEA_12</vt:lpwstr>
  </property>
  <property fmtid="{D5CDD505-2E9C-101B-9397-08002B2CF9AE}" pid="3" name="KSOProductBuildVer">
    <vt:lpwstr>3084-12.2.0.23158</vt:lpwstr>
  </property>
</Properties>
</file>